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70" r:id="rId10"/>
    <p:sldId id="271" r:id="rId11"/>
    <p:sldId id="267" r:id="rId12"/>
    <p:sldId id="264" r:id="rId13"/>
    <p:sldId id="268" r:id="rId14"/>
    <p:sldId id="269" r:id="rId15"/>
    <p:sldId id="272" r:id="rId16"/>
    <p:sldId id="287"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9144000"/>
  <p:embeddedFontLst>
    <p:embeddedFont>
      <p:font typeface="Bodoni MT" pitchFamily="18" charset="0"/>
      <p:regular r:id="rId33"/>
      <p:bold r:id="rId34"/>
      <p:italic r:id="rId35"/>
      <p:boldItalic r:id="rId36"/>
    </p:embeddedFont>
    <p:embeddedFont>
      <p:font typeface="Marcellus" charset="0"/>
      <p:regular r:id="rId37"/>
    </p:embeddedFont>
    <p:embeddedFont>
      <p:font typeface="Calibri" pitchFamily="34" charset="0"/>
      <p:regular r:id="rId38"/>
      <p:bold r:id="rId39"/>
      <p:italic r:id="rId40"/>
      <p:boldItalic r:id="rId41"/>
    </p:embeddedFont>
    <p:embeddedFont>
      <p:font typeface="Arial Rounded MT Bold" pitchFamily="34" charset="0"/>
      <p:regular r:id="rId42"/>
    </p:embeddedFont>
    <p:embeddedFont>
      <p:font typeface="Fira Sans"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guide id="3" orient="horz" pos="2161">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8" roundtripDataSignature="AMtx7miUfj2Zcl/98YbbylcoY+O6WfCW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D71"/>
    <a:srgbClr val="F2F2F2"/>
    <a:srgbClr val="D5F828"/>
    <a:srgbClr val="4472C4"/>
    <a:srgbClr val="E14743"/>
    <a:srgbClr val="FF6969"/>
    <a:srgbClr val="49A50B"/>
    <a:srgbClr val="1C879C"/>
    <a:srgbClr val="5E60C2"/>
    <a:srgbClr val="C4C4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1E1C0AF1-BE56-44B4-ADF2-E3A76020D510}">
  <a:tblStyle styleId="{1E1C0AF1-BE56-44B4-ADF2-E3A76020D510}" styleName="Table_0">
    <a:wholeTbl>
      <a:tcTxStyle b="off" i="off">
        <a:font>
          <a:latin typeface="Fira Sans"/>
          <a:ea typeface="Fira Sans"/>
          <a:cs typeface="Fira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Fira Sans"/>
          <a:ea typeface="Fira Sans"/>
          <a:cs typeface="Fira Sans"/>
        </a:font>
        <a:schemeClr val="lt1"/>
      </a:tcTxStyle>
      <a:tcStyle>
        <a:tcBdr/>
        <a:fill>
          <a:solidFill>
            <a:schemeClr val="accent1"/>
          </a:solidFill>
        </a:fill>
      </a:tcStyle>
    </a:lastCol>
    <a:firstCol>
      <a:tcTxStyle b="on" i="off">
        <a:font>
          <a:latin typeface="Fira Sans"/>
          <a:ea typeface="Fira Sans"/>
          <a:cs typeface="Fira Sans"/>
        </a:font>
        <a:schemeClr val="lt1"/>
      </a:tcTxStyle>
      <a:tcStyle>
        <a:tcBdr/>
        <a:fill>
          <a:solidFill>
            <a:schemeClr val="accent1"/>
          </a:solidFill>
        </a:fill>
      </a:tcStyle>
    </a:firstCol>
    <a:lastRow>
      <a:tcTxStyle b="on" i="off">
        <a:font>
          <a:latin typeface="Fira Sans"/>
          <a:ea typeface="Fira Sans"/>
          <a:cs typeface="Fira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Fira Sans"/>
          <a:ea typeface="Fira Sans"/>
          <a:cs typeface="Fira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10AB5134-79C5-4A78-93EA-4AE2E9C41042}" styleName="Table_1">
    <a:wholeTbl>
      <a:tcTxStyle b="off" i="off">
        <a:font>
          <a:latin typeface="Arial"/>
          <a:ea typeface="Arial"/>
          <a:cs typeface="Arial"/>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63D33542-5A3D-43B4-9FE6-77F4D52E408F}" styleName="Table_2">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 styleId="{95F3E337-99B2-4A2E-B937-D0C024B0EAE6}" styleName="Table_3">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3" d="100"/>
          <a:sy n="73" d="100"/>
        </p:scale>
        <p:origin x="-624" y="-90"/>
      </p:cViewPr>
      <p:guideLst>
        <p:guide orient="horz" pos="2160"/>
        <p:guide orient="horz" pos="21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170"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168" Type="http://customschemas.google.com/relationships/presentationmetadata" Target="metadata"/><Relationship Id="rId172" Type="http://schemas.openxmlformats.org/officeDocument/2006/relationships/tableStyles" Target="tableStyles.xml"/><Relationship Id="rId8" Type="http://schemas.openxmlformats.org/officeDocument/2006/relationships/slide" Target="slides/slide7.xml"/><Relationship Id="rId17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6378205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 name="Google Shape;7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8298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51"/>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 name="Google Shape;15;p51"/>
          <p:cNvSpPr/>
          <p:nvPr/>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 name="Google Shape;16;p51"/>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17" name="Google Shape;17;p5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5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4D4D4C"/>
              </a:buClr>
              <a:buSzPts val="2400"/>
              <a:buNone/>
              <a:defRPr sz="2400"/>
            </a:lvl1pPr>
            <a:lvl2pPr lvl="1" algn="ctr">
              <a:lnSpc>
                <a:spcPct val="90000"/>
              </a:lnSpc>
              <a:spcBef>
                <a:spcPts val="500"/>
              </a:spcBef>
              <a:spcAft>
                <a:spcPts val="0"/>
              </a:spcAft>
              <a:buClr>
                <a:srgbClr val="4D4D4C"/>
              </a:buClr>
              <a:buSzPts val="2000"/>
              <a:buNone/>
              <a:defRPr sz="2000"/>
            </a:lvl2pPr>
            <a:lvl3pPr lvl="2" algn="ctr">
              <a:lnSpc>
                <a:spcPct val="90000"/>
              </a:lnSpc>
              <a:spcBef>
                <a:spcPts val="500"/>
              </a:spcBef>
              <a:spcAft>
                <a:spcPts val="0"/>
              </a:spcAft>
              <a:buClr>
                <a:srgbClr val="4D4D4C"/>
              </a:buClr>
              <a:buSzPts val="1800"/>
              <a:buNone/>
              <a:defRPr sz="1800"/>
            </a:lvl3pPr>
            <a:lvl4pPr lvl="3" algn="ctr">
              <a:lnSpc>
                <a:spcPct val="90000"/>
              </a:lnSpc>
              <a:spcBef>
                <a:spcPts val="500"/>
              </a:spcBef>
              <a:spcAft>
                <a:spcPts val="0"/>
              </a:spcAft>
              <a:buClr>
                <a:srgbClr val="4D4D4C"/>
              </a:buClr>
              <a:buSzPts val="1600"/>
              <a:buNone/>
              <a:defRPr sz="1600"/>
            </a:lvl4pPr>
            <a:lvl5pPr lvl="4" algn="ctr">
              <a:lnSpc>
                <a:spcPct val="90000"/>
              </a:lnSpc>
              <a:spcBef>
                <a:spcPts val="500"/>
              </a:spcBef>
              <a:spcAft>
                <a:spcPts val="0"/>
              </a:spcAft>
              <a:buClr>
                <a:srgbClr val="4D4D4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51"/>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1"/>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1"/>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0"/>
        <p:cNvGrpSpPr/>
        <p:nvPr/>
      </p:nvGrpSpPr>
      <p:grpSpPr>
        <a:xfrm>
          <a:off x="0" y="0"/>
          <a:ext cx="0" cy="0"/>
          <a:chOff x="0" y="0"/>
          <a:chExt cx="0" cy="0"/>
        </a:xfrm>
      </p:grpSpPr>
      <p:sp>
        <p:nvSpPr>
          <p:cNvPr id="61" name="Google Shape;61;p56"/>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56"/>
          <p:cNvSpPr/>
          <p:nvPr/>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 name="Google Shape;63;p56"/>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64" name="Google Shape;64;p56"/>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6"/>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56"/>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0"/>
        <p:cNvGrpSpPr/>
        <p:nvPr/>
      </p:nvGrpSpPr>
      <p:grpSpPr>
        <a:xfrm>
          <a:off x="0" y="0"/>
          <a:ext cx="0" cy="0"/>
          <a:chOff x="0" y="0"/>
          <a:chExt cx="0" cy="0"/>
        </a:xfrm>
      </p:grpSpPr>
      <p:sp>
        <p:nvSpPr>
          <p:cNvPr id="51" name="Google Shape;51;p55"/>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 name="Google Shape;52;p55"/>
          <p:cNvSpPr/>
          <p:nvPr/>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 name="Google Shape;53;p55"/>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54" name="Google Shape;54;p55"/>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3200"/>
              <a:buFont typeface="Marcellu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4D4D4C"/>
              </a:buClr>
              <a:buSzPts val="3200"/>
              <a:buChar char="•"/>
              <a:defRPr sz="3200"/>
            </a:lvl1pPr>
            <a:lvl2pPr marL="914400" lvl="1" indent="-406400" algn="l">
              <a:lnSpc>
                <a:spcPct val="90000"/>
              </a:lnSpc>
              <a:spcBef>
                <a:spcPts val="500"/>
              </a:spcBef>
              <a:spcAft>
                <a:spcPts val="0"/>
              </a:spcAft>
              <a:buClr>
                <a:srgbClr val="4D4D4C"/>
              </a:buClr>
              <a:buSzPts val="2800"/>
              <a:buChar char="•"/>
              <a:defRPr sz="2800"/>
            </a:lvl2pPr>
            <a:lvl3pPr marL="1371600" lvl="2" indent="-381000" algn="l">
              <a:lnSpc>
                <a:spcPct val="90000"/>
              </a:lnSpc>
              <a:spcBef>
                <a:spcPts val="500"/>
              </a:spcBef>
              <a:spcAft>
                <a:spcPts val="0"/>
              </a:spcAft>
              <a:buClr>
                <a:srgbClr val="4D4D4C"/>
              </a:buClr>
              <a:buSzPts val="2400"/>
              <a:buChar char="•"/>
              <a:defRPr sz="2400"/>
            </a:lvl3pPr>
            <a:lvl4pPr marL="1828800" lvl="3" indent="-355600" algn="l">
              <a:lnSpc>
                <a:spcPct val="90000"/>
              </a:lnSpc>
              <a:spcBef>
                <a:spcPts val="500"/>
              </a:spcBef>
              <a:spcAft>
                <a:spcPts val="0"/>
              </a:spcAft>
              <a:buClr>
                <a:srgbClr val="4D4D4C"/>
              </a:buClr>
              <a:buSzPts val="2000"/>
              <a:buChar char="•"/>
              <a:defRPr sz="2000"/>
            </a:lvl4pPr>
            <a:lvl5pPr marL="2286000" lvl="4" indent="-355600" algn="l">
              <a:lnSpc>
                <a:spcPct val="90000"/>
              </a:lnSpc>
              <a:spcBef>
                <a:spcPts val="500"/>
              </a:spcBef>
              <a:spcAft>
                <a:spcPts val="0"/>
              </a:spcAft>
              <a:buClr>
                <a:srgbClr val="4D4D4C"/>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4D4D4C"/>
              </a:buClr>
              <a:buSzPts val="1600"/>
              <a:buNone/>
              <a:defRPr sz="1600"/>
            </a:lvl1pPr>
            <a:lvl2pPr marL="914400" lvl="1" indent="-228600" algn="l">
              <a:lnSpc>
                <a:spcPct val="90000"/>
              </a:lnSpc>
              <a:spcBef>
                <a:spcPts val="500"/>
              </a:spcBef>
              <a:spcAft>
                <a:spcPts val="0"/>
              </a:spcAft>
              <a:buClr>
                <a:srgbClr val="4D4D4C"/>
              </a:buClr>
              <a:buSzPts val="1400"/>
              <a:buNone/>
              <a:defRPr sz="1400"/>
            </a:lvl2pPr>
            <a:lvl3pPr marL="1371600" lvl="2" indent="-228600" algn="l">
              <a:lnSpc>
                <a:spcPct val="90000"/>
              </a:lnSpc>
              <a:spcBef>
                <a:spcPts val="500"/>
              </a:spcBef>
              <a:spcAft>
                <a:spcPts val="0"/>
              </a:spcAft>
              <a:buClr>
                <a:srgbClr val="4D4D4C"/>
              </a:buClr>
              <a:buSzPts val="1200"/>
              <a:buNone/>
              <a:defRPr sz="1200"/>
            </a:lvl3pPr>
            <a:lvl4pPr marL="1828800" lvl="3" indent="-228600" algn="l">
              <a:lnSpc>
                <a:spcPct val="90000"/>
              </a:lnSpc>
              <a:spcBef>
                <a:spcPts val="500"/>
              </a:spcBef>
              <a:spcAft>
                <a:spcPts val="0"/>
              </a:spcAft>
              <a:buClr>
                <a:srgbClr val="4D4D4C"/>
              </a:buClr>
              <a:buSzPts val="1000"/>
              <a:buNone/>
              <a:defRPr sz="1000"/>
            </a:lvl4pPr>
            <a:lvl5pPr marL="2286000" lvl="4" indent="-228600" algn="l">
              <a:lnSpc>
                <a:spcPct val="90000"/>
              </a:lnSpc>
              <a:spcBef>
                <a:spcPts val="500"/>
              </a:spcBef>
              <a:spcAft>
                <a:spcPts val="0"/>
              </a:spcAft>
              <a:buClr>
                <a:srgbClr val="4D4D4C"/>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55"/>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5"/>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5"/>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07467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0"/>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A42530"/>
              </a:buClr>
              <a:buSzPts val="3600"/>
              <a:buFont typeface="Marcellus"/>
              <a:buNone/>
              <a:defRPr sz="3600" b="0" i="0" u="none" strike="noStrike" cap="none">
                <a:solidFill>
                  <a:srgbClr val="A42530"/>
                </a:solidFill>
                <a:latin typeface="Marcellus"/>
                <a:ea typeface="Marcellus"/>
                <a:cs typeface="Marcellus"/>
                <a:sym typeface="Marcellu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5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4D4D4C"/>
              </a:buClr>
              <a:buSzPts val="2800"/>
              <a:buFont typeface="Arial"/>
              <a:buChar char="•"/>
              <a:defRPr sz="2800" b="0" i="0" u="none" strike="noStrike" cap="none">
                <a:solidFill>
                  <a:srgbClr val="4D4D4C"/>
                </a:solidFill>
                <a:latin typeface="Fira Sans"/>
                <a:ea typeface="Fira Sans"/>
                <a:cs typeface="Fira Sans"/>
                <a:sym typeface="Fira Sans"/>
              </a:defRPr>
            </a:lvl1pPr>
            <a:lvl2pPr marL="914400" marR="0" lvl="1" indent="-381000" algn="l" rtl="0">
              <a:lnSpc>
                <a:spcPct val="90000"/>
              </a:lnSpc>
              <a:spcBef>
                <a:spcPts val="500"/>
              </a:spcBef>
              <a:spcAft>
                <a:spcPts val="0"/>
              </a:spcAft>
              <a:buClr>
                <a:srgbClr val="4D4D4C"/>
              </a:buClr>
              <a:buSzPts val="2400"/>
              <a:buFont typeface="Arial"/>
              <a:buChar char="•"/>
              <a:defRPr sz="2400" b="0" i="0" u="none" strike="noStrike" cap="none">
                <a:solidFill>
                  <a:srgbClr val="4D4D4C"/>
                </a:solidFill>
                <a:latin typeface="Fira Sans"/>
                <a:ea typeface="Fira Sans"/>
                <a:cs typeface="Fira Sans"/>
                <a:sym typeface="Fira Sans"/>
              </a:defRPr>
            </a:lvl2pPr>
            <a:lvl3pPr marL="1371600" marR="0" lvl="2" indent="-355600" algn="l" rtl="0">
              <a:lnSpc>
                <a:spcPct val="90000"/>
              </a:lnSpc>
              <a:spcBef>
                <a:spcPts val="500"/>
              </a:spcBef>
              <a:spcAft>
                <a:spcPts val="0"/>
              </a:spcAft>
              <a:buClr>
                <a:srgbClr val="4D4D4C"/>
              </a:buClr>
              <a:buSzPts val="2000"/>
              <a:buFont typeface="Arial"/>
              <a:buChar char="•"/>
              <a:defRPr sz="2000" b="0" i="0" u="none" strike="noStrike" cap="none">
                <a:solidFill>
                  <a:srgbClr val="4D4D4C"/>
                </a:solidFill>
                <a:latin typeface="Fira Sans"/>
                <a:ea typeface="Fira Sans"/>
                <a:cs typeface="Fira Sans"/>
                <a:sym typeface="Fira Sans"/>
              </a:defRPr>
            </a:lvl3pPr>
            <a:lvl4pPr marL="1828800" marR="0" lvl="3" indent="-342900" algn="l" rtl="0">
              <a:lnSpc>
                <a:spcPct val="90000"/>
              </a:lnSpc>
              <a:spcBef>
                <a:spcPts val="500"/>
              </a:spcBef>
              <a:spcAft>
                <a:spcPts val="0"/>
              </a:spcAft>
              <a:buClr>
                <a:srgbClr val="4D4D4C"/>
              </a:buClr>
              <a:buSzPts val="1800"/>
              <a:buFont typeface="Arial"/>
              <a:buChar char="•"/>
              <a:defRPr sz="1800" b="0" i="0" u="none" strike="noStrike" cap="none">
                <a:solidFill>
                  <a:srgbClr val="4D4D4C"/>
                </a:solidFill>
                <a:latin typeface="Fira Sans"/>
                <a:ea typeface="Fira Sans"/>
                <a:cs typeface="Fira Sans"/>
                <a:sym typeface="Fira Sans"/>
              </a:defRPr>
            </a:lvl4pPr>
            <a:lvl5pPr marL="2286000" marR="0" lvl="4" indent="-342900" algn="l" rtl="0">
              <a:lnSpc>
                <a:spcPct val="90000"/>
              </a:lnSpc>
              <a:spcBef>
                <a:spcPts val="500"/>
              </a:spcBef>
              <a:spcAft>
                <a:spcPts val="0"/>
              </a:spcAft>
              <a:buClr>
                <a:srgbClr val="4D4D4C"/>
              </a:buClr>
              <a:buSzPts val="1800"/>
              <a:buFont typeface="Arial"/>
              <a:buChar char="•"/>
              <a:defRPr sz="1800" b="0" i="0" u="none" strike="noStrike" cap="none">
                <a:solidFill>
                  <a:srgbClr val="4D4D4C"/>
                </a:solidFill>
                <a:latin typeface="Fira Sans"/>
                <a:ea typeface="Fira Sans"/>
                <a:cs typeface="Fira Sans"/>
                <a:sym typeface="Fira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50"/>
          <p:cNvSpPr txBox="1">
            <a:spLocks noGrp="1"/>
          </p:cNvSpPr>
          <p:nvPr>
            <p:ph type="dt" idx="10"/>
          </p:nvPr>
        </p:nvSpPr>
        <p:spPr>
          <a:xfrm>
            <a:off x="838200" y="6356350"/>
            <a:ext cx="2743200" cy="49649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Fira Sans"/>
                <a:ea typeface="Fira Sans"/>
                <a:cs typeface="Fira Sans"/>
                <a:sym typeface="Fir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50"/>
          <p:cNvSpPr txBox="1">
            <a:spLocks noGrp="1"/>
          </p:cNvSpPr>
          <p:nvPr>
            <p:ph type="ftr" idx="11"/>
          </p:nvPr>
        </p:nvSpPr>
        <p:spPr>
          <a:xfrm>
            <a:off x="4038600" y="6356350"/>
            <a:ext cx="4114800" cy="514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Fira Sans"/>
                <a:ea typeface="Fira Sans"/>
                <a:cs typeface="Fira Sans"/>
                <a:sym typeface="Fir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50"/>
          <p:cNvSpPr txBox="1">
            <a:spLocks noGrp="1"/>
          </p:cNvSpPr>
          <p:nvPr>
            <p:ph type="sldNum" idx="12"/>
          </p:nvPr>
        </p:nvSpPr>
        <p:spPr>
          <a:xfrm>
            <a:off x="10169610" y="6356350"/>
            <a:ext cx="2016210" cy="496491"/>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pPr marL="0" lvl="0" indent="0" algn="ctr" rtl="0">
              <a:spcBef>
                <a:spcPts val="0"/>
              </a:spcBef>
              <a:spcAft>
                <a:spcPts val="0"/>
              </a:spcAft>
              <a:buNone/>
            </a:pPr>
            <a:fld id="{00000000-1234-1234-1234-123412341234}" type="slidenum">
              <a:rPr lang="en-US"/>
              <a:t>‹#›</a:t>
            </a:fld>
            <a:endParaRPr/>
          </a:p>
        </p:txBody>
      </p:sp>
      <p:pic>
        <p:nvPicPr>
          <p:cNvPr id="11" name="Google Shape;11;p50" descr="A black and red text&#10;&#10;Description automatically generated"/>
          <p:cNvPicPr preferRelativeResize="0"/>
          <p:nvPr/>
        </p:nvPicPr>
        <p:blipFill rotWithShape="1">
          <a:blip r:embed="rId5">
            <a:alphaModFix/>
          </a:blip>
          <a:srcRect/>
          <a:stretch/>
        </p:blipFill>
        <p:spPr>
          <a:xfrm>
            <a:off x="71212" y="70072"/>
            <a:ext cx="2454684" cy="720000"/>
          </a:xfrm>
          <a:prstGeom prst="rect">
            <a:avLst/>
          </a:prstGeom>
          <a:noFill/>
          <a:ln>
            <a:noFill/>
          </a:ln>
        </p:spPr>
      </p:pic>
      <p:pic>
        <p:nvPicPr>
          <p:cNvPr id="12" name="Google Shape;12;p50" descr="Graphical user interface, text, application&#10;&#10;Description automatically generated"/>
          <p:cNvPicPr preferRelativeResize="0"/>
          <p:nvPr/>
        </p:nvPicPr>
        <p:blipFill rotWithShape="1">
          <a:blip r:embed="rId6">
            <a:alphaModFix/>
          </a:blip>
          <a:srcRect/>
          <a:stretch/>
        </p:blipFill>
        <p:spPr>
          <a:xfrm>
            <a:off x="11176478" y="26528"/>
            <a:ext cx="972000" cy="72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machine-learning/gaussian-processes-in-machine-learning/" TargetMode="External"/><Relationship Id="rId2" Type="http://schemas.openxmlformats.org/officeDocument/2006/relationships/hyperlink" Target="https://www.geeksforgeeks.org/machine-learning/markov-chain/" TargetMode="Externa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5" name="Google Shape;75;p1"/>
          <p:cNvSpPr txBox="1"/>
          <p:nvPr/>
        </p:nvSpPr>
        <p:spPr>
          <a:xfrm>
            <a:off x="412897" y="6492875"/>
            <a:ext cx="2743200" cy="365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lt1"/>
              </a:solidFill>
              <a:latin typeface="Fira Sans"/>
              <a:ea typeface="Fira Sans"/>
              <a:cs typeface="Fira Sans"/>
              <a:sym typeface="Fira Sans"/>
            </a:endParaRPr>
          </a:p>
        </p:txBody>
      </p:sp>
      <p:sp>
        <p:nvSpPr>
          <p:cNvPr id="77" name="Google Shape;77;p1"/>
          <p:cNvSpPr txBox="1"/>
          <p:nvPr/>
        </p:nvSpPr>
        <p:spPr>
          <a:xfrm>
            <a:off x="8759455" y="6447612"/>
            <a:ext cx="2743200" cy="365125"/>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Fira Sans"/>
                <a:ea typeface="Fira Sans"/>
                <a:cs typeface="Fira Sans"/>
                <a:sym typeface="Fira Sans"/>
              </a:rPr>
              <a:t>1</a:t>
            </a:fld>
            <a:endParaRPr sz="1200" b="0" i="0" u="none" strike="noStrike" cap="none">
              <a:solidFill>
                <a:schemeClr val="lt1"/>
              </a:solidFill>
              <a:latin typeface="Fira Sans"/>
              <a:ea typeface="Fira Sans"/>
              <a:cs typeface="Fira Sans"/>
              <a:sym typeface="Fira Sans"/>
            </a:endParaRPr>
          </a:p>
        </p:txBody>
      </p:sp>
      <p:sp>
        <p:nvSpPr>
          <p:cNvPr id="3" name="Rectangle 2"/>
          <p:cNvSpPr/>
          <p:nvPr/>
        </p:nvSpPr>
        <p:spPr>
          <a:xfrm>
            <a:off x="4514169" y="2459353"/>
            <a:ext cx="2031325" cy="523220"/>
          </a:xfrm>
          <a:prstGeom prst="rect">
            <a:avLst/>
          </a:prstGeom>
        </p:spPr>
        <p:txBody>
          <a:bodyPr wrap="none">
            <a:spAutoFit/>
          </a:bodyPr>
          <a:lstStyle/>
          <a:p>
            <a:pPr algn="ctr"/>
            <a:r>
              <a:rPr lang="en-IN" sz="2800" b="1" dirty="0" smtClean="0">
                <a:latin typeface="Times New Roman" panose="02020603050405020304" pitchFamily="18" charset="0"/>
              </a:rPr>
              <a:t>Chapter 3 </a:t>
            </a:r>
            <a:r>
              <a:rPr lang="en-IN" dirty="0">
                <a:latin typeface="Times New Roman" panose="02020603050405020304" pitchFamily="18" charset="0"/>
              </a:rPr>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6274"/>
            <a:ext cx="3459480" cy="824414"/>
          </a:xfrm>
          <a:solidFill>
            <a:schemeClr val="accent1">
              <a:lumMod val="40000"/>
              <a:lumOff val="60000"/>
            </a:schemeClr>
          </a:solidFill>
        </p:spPr>
        <p:txBody>
          <a:bodyPr/>
          <a:lstStyle/>
          <a:p>
            <a:r>
              <a:rPr lang="en-US" b="1" dirty="0" err="1" smtClean="0">
                <a:latin typeface="Arial Rounded MT Bold" pitchFamily="34" charset="0"/>
              </a:rPr>
              <a:t>Autoencoder</a:t>
            </a:r>
            <a:endParaRPr lang="en-IN" b="1" dirty="0">
              <a:latin typeface="Arial Rounded MT Bold"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7371" y="849086"/>
            <a:ext cx="4460240" cy="5146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892628" y="2252990"/>
            <a:ext cx="5691052" cy="1285416"/>
          </a:xfrm>
          <a:prstGeom prst="rect">
            <a:avLst/>
          </a:prstGeom>
        </p:spPr>
        <p:txBody>
          <a:bodyPr wrap="square">
            <a:spAutoFit/>
          </a:bodyPr>
          <a:lstStyle/>
          <a:p>
            <a:pPr marL="285750" indent="-285750" algn="just">
              <a:lnSpc>
                <a:spcPct val="150000"/>
              </a:lnSpc>
              <a:buFont typeface="Arial" pitchFamily="34" charset="0"/>
              <a:buChar char="•"/>
            </a:pPr>
            <a:r>
              <a:rPr lang="en-US" sz="1800" dirty="0">
                <a:latin typeface="Arial Rounded MT Bold" pitchFamily="34" charset="0"/>
              </a:rPr>
              <a:t>An encoder network that compresses high-dimensional input data into a lower dimensional representation vector</a:t>
            </a:r>
            <a:endParaRPr lang="en-IN" sz="1800" dirty="0">
              <a:latin typeface="Arial Rounded MT Bold" pitchFamily="34" charset="0"/>
            </a:endParaRPr>
          </a:p>
        </p:txBody>
      </p:sp>
      <p:sp>
        <p:nvSpPr>
          <p:cNvPr id="6" name="Rectangle 5"/>
          <p:cNvSpPr/>
          <p:nvPr/>
        </p:nvSpPr>
        <p:spPr>
          <a:xfrm>
            <a:off x="892628" y="4107916"/>
            <a:ext cx="5834743" cy="1338828"/>
          </a:xfrm>
          <a:prstGeom prst="rect">
            <a:avLst/>
          </a:prstGeom>
        </p:spPr>
        <p:txBody>
          <a:bodyPr wrap="square">
            <a:spAutoFit/>
          </a:bodyPr>
          <a:lstStyle/>
          <a:p>
            <a:pPr marL="285750" indent="-285750" algn="just">
              <a:lnSpc>
                <a:spcPct val="150000"/>
              </a:lnSpc>
              <a:buFont typeface="Arial" pitchFamily="34" charset="0"/>
              <a:buChar char="•"/>
            </a:pPr>
            <a:r>
              <a:rPr lang="en-US" sz="1800" dirty="0">
                <a:latin typeface="Arial Rounded MT Bold" pitchFamily="34" charset="0"/>
              </a:rPr>
              <a:t>A decoder network that decompresses a given representation vector back to the original domain</a:t>
            </a:r>
            <a:endParaRPr lang="en-IN" sz="1800" dirty="0">
              <a:latin typeface="Arial Rounded MT Bold" pitchFamily="34" charset="0"/>
            </a:endParaRPr>
          </a:p>
        </p:txBody>
      </p:sp>
      <p:cxnSp>
        <p:nvCxnSpPr>
          <p:cNvPr id="8" name="Straight Arrow Connector 7"/>
          <p:cNvCxnSpPr/>
          <p:nvPr/>
        </p:nvCxnSpPr>
        <p:spPr>
          <a:xfrm>
            <a:off x="10260148" y="3538406"/>
            <a:ext cx="927463" cy="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96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2229" y="992912"/>
            <a:ext cx="9640388" cy="4780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24554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u="sng" dirty="0">
                <a:latin typeface="Arial Rounded MT Bold" pitchFamily="34" charset="0"/>
              </a:rPr>
              <a:t>Training Objective (Loss </a:t>
            </a:r>
            <a:r>
              <a:rPr lang="en-IN" sz="2400" b="1" u="sng" dirty="0" smtClean="0">
                <a:latin typeface="Arial Rounded MT Bold" pitchFamily="34" charset="0"/>
              </a:rPr>
              <a:t>Function)</a:t>
            </a:r>
            <a:endParaRPr lang="en-IN" sz="2400" b="1" u="sng" dirty="0">
              <a:latin typeface="Arial Rounded MT Bold"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293" y="2066924"/>
            <a:ext cx="10332827" cy="4255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45000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
        <p:nvSpPr>
          <p:cNvPr id="3" name="Title 1"/>
          <p:cNvSpPr>
            <a:spLocks noGrp="1"/>
          </p:cNvSpPr>
          <p:nvPr>
            <p:ph type="title"/>
          </p:nvPr>
        </p:nvSpPr>
        <p:spPr>
          <a:xfrm>
            <a:off x="838200" y="866274"/>
            <a:ext cx="10515600" cy="824414"/>
          </a:xfrm>
        </p:spPr>
        <p:txBody>
          <a:bodyPr>
            <a:normAutofit/>
          </a:bodyPr>
          <a:lstStyle/>
          <a:p>
            <a:r>
              <a:rPr lang="en-US" sz="2400" b="1" u="sng" dirty="0" smtClean="0">
                <a:latin typeface="Arial Rounded MT Bold" pitchFamily="34" charset="0"/>
              </a:rPr>
              <a:t>Encoder</a:t>
            </a:r>
            <a:endParaRPr lang="en-IN" sz="2400" b="1" u="sng" dirty="0">
              <a:latin typeface="Arial Rounded MT Bold"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582" y="1613942"/>
            <a:ext cx="5305277" cy="4447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19045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25" y="591953"/>
            <a:ext cx="10515600" cy="824414"/>
          </a:xfrm>
        </p:spPr>
        <p:txBody>
          <a:bodyPr>
            <a:normAutofit/>
          </a:bodyPr>
          <a:lstStyle/>
          <a:p>
            <a:r>
              <a:rPr lang="en-US" sz="2400" b="1" u="sng" dirty="0">
                <a:latin typeface="Arial Rounded MT Bold" pitchFamily="34" charset="0"/>
              </a:rPr>
              <a:t>Decoder</a:t>
            </a:r>
            <a:endParaRPr lang="en-IN" sz="2400" b="1" u="sng" dirty="0">
              <a:latin typeface="Arial Rounded MT Bold"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1169124"/>
            <a:ext cx="5831386" cy="4722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334025" y="5620016"/>
            <a:ext cx="6500924" cy="738664"/>
          </a:xfrm>
          <a:prstGeom prst="rect">
            <a:avLst/>
          </a:prstGeom>
        </p:spPr>
        <p:txBody>
          <a:bodyPr wrap="square">
            <a:spAutoFit/>
          </a:bodyPr>
          <a:lstStyle/>
          <a:p>
            <a:r>
              <a:rPr lang="en-US" dirty="0">
                <a:solidFill>
                  <a:srgbClr val="A42530"/>
                </a:solidFill>
                <a:latin typeface="Arial Rounded MT Bold" pitchFamily="34" charset="0"/>
                <a:ea typeface="Marcellus"/>
                <a:cs typeface="Marcellus"/>
                <a:sym typeface="Marcellus"/>
              </a:rPr>
              <a:t>Note that the decoder doesn’t have to be a mirror image of the encoder. It can be any thing you want, as long as the output from the last layer of the decoder is the same size as the input to the encoder</a:t>
            </a:r>
            <a:endParaRPr lang="en-IN" dirty="0">
              <a:solidFill>
                <a:srgbClr val="A42530"/>
              </a:solidFill>
              <a:latin typeface="Arial Rounded MT Bold" pitchFamily="34" charset="0"/>
              <a:ea typeface="Marcellus"/>
              <a:cs typeface="Marcellus"/>
              <a:sym typeface="Marcellus"/>
            </a:endParaRPr>
          </a:p>
        </p:txBody>
      </p:sp>
    </p:spTree>
    <p:extLst>
      <p:ext uri="{BB962C8B-B14F-4D97-AF65-F5344CB8AC3E}">
        <p14:creationId xmlns:p14="http://schemas.microsoft.com/office/powerpoint/2010/main" val="22470960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183364496"/>
              </p:ext>
            </p:extLst>
          </p:nvPr>
        </p:nvGraphicFramePr>
        <p:xfrm>
          <a:off x="838200" y="1913414"/>
          <a:ext cx="10515600" cy="3870960"/>
        </p:xfrm>
        <a:graphic>
          <a:graphicData uri="http://schemas.openxmlformats.org/drawingml/2006/table">
            <a:tbl>
              <a:tblPr>
                <a:tableStyleId>{5940675A-B579-460E-94D1-54222C63F5DA}</a:tableStyleId>
              </a:tblPr>
              <a:tblGrid>
                <a:gridCol w="3505200"/>
                <a:gridCol w="3505200"/>
                <a:gridCol w="3505200"/>
              </a:tblGrid>
              <a:tr h="0">
                <a:tc>
                  <a:txBody>
                    <a:bodyPr/>
                    <a:lstStyle/>
                    <a:p>
                      <a:r>
                        <a:rPr lang="en-IN" b="1" dirty="0"/>
                        <a:t>Aspect</a:t>
                      </a:r>
                    </a:p>
                  </a:txBody>
                  <a:tcPr anchor="ctr">
                    <a:solidFill>
                      <a:schemeClr val="accent1">
                        <a:lumMod val="20000"/>
                        <a:lumOff val="80000"/>
                      </a:schemeClr>
                    </a:solidFill>
                  </a:tcPr>
                </a:tc>
                <a:tc>
                  <a:txBody>
                    <a:bodyPr/>
                    <a:lstStyle/>
                    <a:p>
                      <a:r>
                        <a:rPr lang="en-IN" b="1" dirty="0"/>
                        <a:t>Regular </a:t>
                      </a:r>
                      <a:r>
                        <a:rPr lang="en-IN" b="1" dirty="0" err="1"/>
                        <a:t>Autoencoder</a:t>
                      </a:r>
                      <a:r>
                        <a:rPr lang="en-IN" b="1" dirty="0"/>
                        <a:t> (AE)</a:t>
                      </a:r>
                    </a:p>
                  </a:txBody>
                  <a:tcPr anchor="ctr">
                    <a:solidFill>
                      <a:schemeClr val="accent1">
                        <a:lumMod val="20000"/>
                        <a:lumOff val="80000"/>
                      </a:schemeClr>
                    </a:solidFill>
                  </a:tcPr>
                </a:tc>
                <a:tc>
                  <a:txBody>
                    <a:bodyPr/>
                    <a:lstStyle/>
                    <a:p>
                      <a:r>
                        <a:rPr lang="en-IN" b="1" dirty="0" err="1"/>
                        <a:t>Variational</a:t>
                      </a:r>
                      <a:r>
                        <a:rPr lang="en-IN" b="1" dirty="0"/>
                        <a:t> </a:t>
                      </a:r>
                      <a:r>
                        <a:rPr lang="en-IN" b="1" dirty="0" err="1"/>
                        <a:t>Autoencoder</a:t>
                      </a:r>
                      <a:r>
                        <a:rPr lang="en-IN" b="1" dirty="0"/>
                        <a:t> (VAE)</a:t>
                      </a:r>
                    </a:p>
                  </a:txBody>
                  <a:tcPr anchor="ctr">
                    <a:solidFill>
                      <a:schemeClr val="accent1">
                        <a:lumMod val="20000"/>
                        <a:lumOff val="80000"/>
                      </a:schemeClr>
                    </a:solidFill>
                  </a:tcPr>
                </a:tc>
              </a:tr>
              <a:tr h="0">
                <a:tc>
                  <a:txBody>
                    <a:bodyPr/>
                    <a:lstStyle/>
                    <a:p>
                      <a:r>
                        <a:rPr lang="en-IN" dirty="0"/>
                        <a:t>Main Idea</a:t>
                      </a:r>
                    </a:p>
                  </a:txBody>
                  <a:tcPr anchor="ctr">
                    <a:solidFill>
                      <a:schemeClr val="bg1"/>
                    </a:solidFill>
                  </a:tcPr>
                </a:tc>
                <a:tc>
                  <a:txBody>
                    <a:bodyPr/>
                    <a:lstStyle/>
                    <a:p>
                      <a:r>
                        <a:rPr lang="en-US"/>
                        <a:t>Learns compressed representation of data</a:t>
                      </a:r>
                    </a:p>
                  </a:txBody>
                  <a:tcPr anchor="ctr">
                    <a:solidFill>
                      <a:schemeClr val="bg1"/>
                    </a:solidFill>
                  </a:tcPr>
                </a:tc>
                <a:tc>
                  <a:txBody>
                    <a:bodyPr/>
                    <a:lstStyle/>
                    <a:p>
                      <a:r>
                        <a:rPr lang="en-US" dirty="0"/>
                        <a:t>Learns probability distribution of data</a:t>
                      </a:r>
                    </a:p>
                  </a:txBody>
                  <a:tcPr anchor="ctr">
                    <a:solidFill>
                      <a:schemeClr val="bg1"/>
                    </a:solidFill>
                  </a:tcPr>
                </a:tc>
              </a:tr>
              <a:tr h="0">
                <a:tc>
                  <a:txBody>
                    <a:bodyPr/>
                    <a:lstStyle/>
                    <a:p>
                      <a:r>
                        <a:rPr lang="en-IN"/>
                        <a:t>Type</a:t>
                      </a:r>
                    </a:p>
                  </a:txBody>
                  <a:tcPr anchor="ctr">
                    <a:solidFill>
                      <a:schemeClr val="bg1"/>
                    </a:solidFill>
                  </a:tcPr>
                </a:tc>
                <a:tc>
                  <a:txBody>
                    <a:bodyPr/>
                    <a:lstStyle/>
                    <a:p>
                      <a:r>
                        <a:rPr lang="en-IN" dirty="0"/>
                        <a:t>Deterministic Model</a:t>
                      </a:r>
                    </a:p>
                  </a:txBody>
                  <a:tcPr anchor="ctr">
                    <a:solidFill>
                      <a:schemeClr val="bg1"/>
                    </a:solidFill>
                  </a:tcPr>
                </a:tc>
                <a:tc>
                  <a:txBody>
                    <a:bodyPr/>
                    <a:lstStyle/>
                    <a:p>
                      <a:r>
                        <a:rPr lang="en-IN"/>
                        <a:t>Probabilistic Generative Model</a:t>
                      </a:r>
                    </a:p>
                  </a:txBody>
                  <a:tcPr anchor="ctr">
                    <a:solidFill>
                      <a:schemeClr val="bg1"/>
                    </a:solidFill>
                  </a:tcPr>
                </a:tc>
              </a:tr>
              <a:tr h="0">
                <a:tc>
                  <a:txBody>
                    <a:bodyPr/>
                    <a:lstStyle/>
                    <a:p>
                      <a:r>
                        <a:rPr lang="en-IN"/>
                        <a:t>Latent Space</a:t>
                      </a:r>
                    </a:p>
                  </a:txBody>
                  <a:tcPr anchor="ctr">
                    <a:solidFill>
                      <a:schemeClr val="bg1"/>
                    </a:solidFill>
                  </a:tcPr>
                </a:tc>
                <a:tc>
                  <a:txBody>
                    <a:bodyPr/>
                    <a:lstStyle/>
                    <a:p>
                      <a:r>
                        <a:rPr lang="en-IN" dirty="0"/>
                        <a:t>Fixed vector representation</a:t>
                      </a:r>
                    </a:p>
                  </a:txBody>
                  <a:tcPr anchor="ctr">
                    <a:solidFill>
                      <a:schemeClr val="bg1"/>
                    </a:solidFill>
                  </a:tcPr>
                </a:tc>
                <a:tc>
                  <a:txBody>
                    <a:bodyPr/>
                    <a:lstStyle/>
                    <a:p>
                      <a:r>
                        <a:rPr lang="en-IN"/>
                        <a:t>Distribution (Mean + Variance)</a:t>
                      </a:r>
                    </a:p>
                  </a:txBody>
                  <a:tcPr anchor="ctr">
                    <a:solidFill>
                      <a:schemeClr val="bg1"/>
                    </a:solidFill>
                  </a:tcPr>
                </a:tc>
              </a:tr>
              <a:tr h="0">
                <a:tc>
                  <a:txBody>
                    <a:bodyPr/>
                    <a:lstStyle/>
                    <a:p>
                      <a:r>
                        <a:rPr lang="en-IN"/>
                        <a:t>Encoder Output</a:t>
                      </a:r>
                    </a:p>
                  </a:txBody>
                  <a:tcPr anchor="ctr">
                    <a:solidFill>
                      <a:schemeClr val="bg1"/>
                    </a:solidFill>
                  </a:tcPr>
                </a:tc>
                <a:tc>
                  <a:txBody>
                    <a:bodyPr/>
                    <a:lstStyle/>
                    <a:p>
                      <a:r>
                        <a:rPr lang="en-IN"/>
                        <a:t>Single latent vector (z)</a:t>
                      </a:r>
                    </a:p>
                  </a:txBody>
                  <a:tcPr anchor="ctr">
                    <a:solidFill>
                      <a:schemeClr val="bg1"/>
                    </a:solidFill>
                  </a:tcPr>
                </a:tc>
                <a:tc>
                  <a:txBody>
                    <a:bodyPr/>
                    <a:lstStyle/>
                    <a:p>
                      <a:r>
                        <a:rPr lang="en-US" dirty="0"/>
                        <a:t>Mean </a:t>
                      </a:r>
                      <a:r>
                        <a:rPr lang="en-US" dirty="0" smtClean="0"/>
                        <a:t>and </a:t>
                      </a:r>
                      <a:r>
                        <a:rPr lang="en-US" dirty="0"/>
                        <a:t>Variance </a:t>
                      </a:r>
                    </a:p>
                  </a:txBody>
                  <a:tcPr anchor="ctr">
                    <a:solidFill>
                      <a:schemeClr val="bg1"/>
                    </a:solidFill>
                  </a:tcPr>
                </a:tc>
              </a:tr>
              <a:tr h="0">
                <a:tc>
                  <a:txBody>
                    <a:bodyPr/>
                    <a:lstStyle/>
                    <a:p>
                      <a:r>
                        <a:rPr lang="en-IN"/>
                        <a:t>Decoder Input</a:t>
                      </a:r>
                    </a:p>
                  </a:txBody>
                  <a:tcPr anchor="ctr">
                    <a:solidFill>
                      <a:schemeClr val="bg1"/>
                    </a:solidFill>
                  </a:tcPr>
                </a:tc>
                <a:tc>
                  <a:txBody>
                    <a:bodyPr/>
                    <a:lstStyle/>
                    <a:p>
                      <a:r>
                        <a:rPr lang="en-IN" dirty="0"/>
                        <a:t>Direct encoded vector</a:t>
                      </a:r>
                    </a:p>
                  </a:txBody>
                  <a:tcPr anchor="ctr">
                    <a:solidFill>
                      <a:schemeClr val="bg1"/>
                    </a:solidFill>
                  </a:tcPr>
                </a:tc>
                <a:tc>
                  <a:txBody>
                    <a:bodyPr/>
                    <a:lstStyle/>
                    <a:p>
                      <a:r>
                        <a:rPr lang="en-US"/>
                        <a:t>Random sample from learned distribution</a:t>
                      </a:r>
                    </a:p>
                  </a:txBody>
                  <a:tcPr anchor="ctr">
                    <a:solidFill>
                      <a:schemeClr val="bg1"/>
                    </a:solidFill>
                  </a:tcPr>
                </a:tc>
              </a:tr>
              <a:tr h="0">
                <a:tc>
                  <a:txBody>
                    <a:bodyPr/>
                    <a:lstStyle/>
                    <a:p>
                      <a:r>
                        <a:rPr lang="en-IN"/>
                        <a:t>Sampling</a:t>
                      </a:r>
                    </a:p>
                  </a:txBody>
                  <a:tcPr anchor="ctr">
                    <a:solidFill>
                      <a:schemeClr val="bg1"/>
                    </a:solidFill>
                  </a:tcPr>
                </a:tc>
                <a:tc>
                  <a:txBody>
                    <a:bodyPr/>
                    <a:lstStyle/>
                    <a:p>
                      <a:r>
                        <a:rPr lang="en-IN" dirty="0"/>
                        <a:t>No sampling</a:t>
                      </a:r>
                    </a:p>
                  </a:txBody>
                  <a:tcPr anchor="ctr">
                    <a:solidFill>
                      <a:schemeClr val="bg1"/>
                    </a:solidFill>
                  </a:tcPr>
                </a:tc>
                <a:tc>
                  <a:txBody>
                    <a:bodyPr/>
                    <a:lstStyle/>
                    <a:p>
                      <a:r>
                        <a:rPr lang="en-IN" dirty="0"/>
                        <a:t>Sampling using </a:t>
                      </a:r>
                      <a:r>
                        <a:rPr lang="en-IN" dirty="0" err="1"/>
                        <a:t>reparameterization</a:t>
                      </a:r>
                      <a:r>
                        <a:rPr lang="en-IN" dirty="0"/>
                        <a:t> trick</a:t>
                      </a:r>
                    </a:p>
                  </a:txBody>
                  <a:tcPr anchor="ctr">
                    <a:solidFill>
                      <a:schemeClr val="bg1"/>
                    </a:solidFill>
                  </a:tcPr>
                </a:tc>
              </a:tr>
              <a:tr h="0">
                <a:tc>
                  <a:txBody>
                    <a:bodyPr/>
                    <a:lstStyle/>
                    <a:p>
                      <a:r>
                        <a:rPr lang="en-IN" dirty="0"/>
                        <a:t>Loss Function</a:t>
                      </a:r>
                    </a:p>
                  </a:txBody>
                  <a:tcPr anchor="ctr">
                    <a:solidFill>
                      <a:schemeClr val="bg1"/>
                    </a:solidFill>
                  </a:tcPr>
                </a:tc>
                <a:tc>
                  <a:txBody>
                    <a:bodyPr/>
                    <a:lstStyle/>
                    <a:p>
                      <a:r>
                        <a:rPr lang="en-IN"/>
                        <a:t>Reconstruction Loss only</a:t>
                      </a:r>
                    </a:p>
                  </a:txBody>
                  <a:tcPr anchor="ctr">
                    <a:solidFill>
                      <a:schemeClr val="bg1"/>
                    </a:solidFill>
                  </a:tcPr>
                </a:tc>
                <a:tc>
                  <a:txBody>
                    <a:bodyPr/>
                    <a:lstStyle/>
                    <a:p>
                      <a:r>
                        <a:rPr lang="en-IN"/>
                        <a:t>Reconstruction Loss + KL Divergence</a:t>
                      </a:r>
                    </a:p>
                  </a:txBody>
                  <a:tcPr anchor="ctr">
                    <a:solidFill>
                      <a:schemeClr val="bg1"/>
                    </a:solidFill>
                  </a:tcPr>
                </a:tc>
              </a:tr>
              <a:tr h="0">
                <a:tc>
                  <a:txBody>
                    <a:bodyPr/>
                    <a:lstStyle/>
                    <a:p>
                      <a:r>
                        <a:rPr lang="en-IN"/>
                        <a:t>Latent Space Structure</a:t>
                      </a:r>
                    </a:p>
                  </a:txBody>
                  <a:tcPr anchor="ctr">
                    <a:solidFill>
                      <a:schemeClr val="bg1"/>
                    </a:solidFill>
                  </a:tcPr>
                </a:tc>
                <a:tc>
                  <a:txBody>
                    <a:bodyPr/>
                    <a:lstStyle/>
                    <a:p>
                      <a:r>
                        <a:rPr lang="en-IN"/>
                        <a:t>Unstructured</a:t>
                      </a:r>
                    </a:p>
                  </a:txBody>
                  <a:tcPr anchor="ctr">
                    <a:solidFill>
                      <a:schemeClr val="bg1"/>
                    </a:solidFill>
                  </a:tcPr>
                </a:tc>
                <a:tc>
                  <a:txBody>
                    <a:bodyPr/>
                    <a:lstStyle/>
                    <a:p>
                      <a:r>
                        <a:rPr lang="en-IN" dirty="0"/>
                        <a:t>Continuous smooth latent space</a:t>
                      </a:r>
                    </a:p>
                  </a:txBody>
                  <a:tcPr anchor="ctr">
                    <a:solidFill>
                      <a:schemeClr val="bg1"/>
                    </a:solidFill>
                  </a:tcPr>
                </a:tc>
              </a:tr>
              <a:tr h="0">
                <a:tc>
                  <a:txBody>
                    <a:bodyPr/>
                    <a:lstStyle/>
                    <a:p>
                      <a:r>
                        <a:rPr lang="en-IN"/>
                        <a:t>Generative Ability</a:t>
                      </a:r>
                    </a:p>
                  </a:txBody>
                  <a:tcPr anchor="ctr">
                    <a:solidFill>
                      <a:schemeClr val="bg1"/>
                    </a:solidFill>
                  </a:tcPr>
                </a:tc>
                <a:tc>
                  <a:txBody>
                    <a:bodyPr/>
                    <a:lstStyle/>
                    <a:p>
                      <a:r>
                        <a:rPr lang="en-IN"/>
                        <a:t>Poor</a:t>
                      </a:r>
                    </a:p>
                  </a:txBody>
                  <a:tcPr anchor="ctr">
                    <a:solidFill>
                      <a:schemeClr val="bg1"/>
                    </a:solidFill>
                  </a:tcPr>
                </a:tc>
                <a:tc>
                  <a:txBody>
                    <a:bodyPr/>
                    <a:lstStyle/>
                    <a:p>
                      <a:r>
                        <a:rPr lang="en-IN" dirty="0"/>
                        <a:t>Excellent</a:t>
                      </a:r>
                    </a:p>
                  </a:txBody>
                  <a:tcPr anchor="ctr">
                    <a:solidFill>
                      <a:schemeClr val="bg1"/>
                    </a:solidFill>
                  </a:tcPr>
                </a:tc>
              </a:tr>
              <a:tr h="0">
                <a:tc>
                  <a:txBody>
                    <a:bodyPr/>
                    <a:lstStyle/>
                    <a:p>
                      <a:r>
                        <a:rPr lang="en-IN"/>
                        <a:t>Data Generation</a:t>
                      </a:r>
                    </a:p>
                  </a:txBody>
                  <a:tcPr anchor="ctr">
                    <a:solidFill>
                      <a:schemeClr val="bg1"/>
                    </a:solidFill>
                  </a:tcPr>
                </a:tc>
                <a:tc>
                  <a:txBody>
                    <a:bodyPr/>
                    <a:lstStyle/>
                    <a:p>
                      <a:r>
                        <a:rPr lang="en-US" dirty="0"/>
                        <a:t>Cannot generate new realistic samples</a:t>
                      </a:r>
                    </a:p>
                  </a:txBody>
                  <a:tcPr anchor="ctr">
                    <a:solidFill>
                      <a:schemeClr val="bg1"/>
                    </a:solidFill>
                  </a:tcPr>
                </a:tc>
                <a:tc>
                  <a:txBody>
                    <a:bodyPr/>
                    <a:lstStyle/>
                    <a:p>
                      <a:r>
                        <a:rPr lang="en-IN" dirty="0"/>
                        <a:t>Can generate new samples</a:t>
                      </a:r>
                    </a:p>
                  </a:txBody>
                  <a:tcPr anchor="ctr">
                    <a:solidFill>
                      <a:schemeClr val="bg1"/>
                    </a:solidFill>
                  </a:tcPr>
                </a:tc>
              </a:tr>
              <a:tr h="0">
                <a:tc>
                  <a:txBody>
                    <a:bodyPr/>
                    <a:lstStyle/>
                    <a:p>
                      <a:r>
                        <a:rPr lang="en-IN"/>
                        <a:t>Applications</a:t>
                      </a:r>
                    </a:p>
                  </a:txBody>
                  <a:tcPr anchor="ctr">
                    <a:solidFill>
                      <a:schemeClr val="bg1"/>
                    </a:solidFill>
                  </a:tcPr>
                </a:tc>
                <a:tc>
                  <a:txBody>
                    <a:bodyPr/>
                    <a:lstStyle/>
                    <a:p>
                      <a:r>
                        <a:rPr lang="en-IN" dirty="0"/>
                        <a:t>Compression, Feature Extraction</a:t>
                      </a:r>
                    </a:p>
                  </a:txBody>
                  <a:tcPr anchor="ctr">
                    <a:solidFill>
                      <a:schemeClr val="bg1"/>
                    </a:solidFill>
                  </a:tcPr>
                </a:tc>
                <a:tc>
                  <a:txBody>
                    <a:bodyPr/>
                    <a:lstStyle/>
                    <a:p>
                      <a:r>
                        <a:rPr lang="en-IN" dirty="0"/>
                        <a:t>Image Generation, Data Augmentation</a:t>
                      </a:r>
                    </a:p>
                  </a:txBody>
                  <a:tcPr anchor="ctr">
                    <a:solidFill>
                      <a:schemeClr val="bg1"/>
                    </a:solidFill>
                  </a:tcPr>
                </a:tc>
              </a:tr>
            </a:tbl>
          </a:graphicData>
        </a:graphic>
      </p:graphicFrame>
      <p:sp>
        <p:nvSpPr>
          <p:cNvPr id="6" name="Rectangle 5"/>
          <p:cNvSpPr/>
          <p:nvPr/>
        </p:nvSpPr>
        <p:spPr>
          <a:xfrm>
            <a:off x="820405" y="1224243"/>
            <a:ext cx="4594528" cy="307777"/>
          </a:xfrm>
          <a:prstGeom prst="rect">
            <a:avLst/>
          </a:prstGeom>
        </p:spPr>
        <p:txBody>
          <a:bodyPr wrap="none">
            <a:spAutoFit/>
          </a:bodyPr>
          <a:lstStyle/>
          <a:p>
            <a:r>
              <a:rPr lang="pt-BR" dirty="0"/>
              <a:t>Regular Autoencoder vs Variational Autoencoder (VAE)</a:t>
            </a:r>
            <a:endParaRPr lang="en-IN" dirty="0"/>
          </a:p>
        </p:txBody>
      </p:sp>
    </p:spTree>
    <p:extLst>
      <p:ext uri="{BB962C8B-B14F-4D97-AF65-F5344CB8AC3E}">
        <p14:creationId xmlns:p14="http://schemas.microsoft.com/office/powerpoint/2010/main" val="25850406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6274"/>
            <a:ext cx="5915297" cy="824414"/>
          </a:xfrm>
          <a:solidFill>
            <a:schemeClr val="accent1">
              <a:lumMod val="40000"/>
              <a:lumOff val="60000"/>
            </a:schemeClr>
          </a:solidFill>
          <a:ln>
            <a:noFill/>
          </a:ln>
        </p:spPr>
        <p:txBody>
          <a:bodyPr spcFirstLastPara="1" wrap="square" lIns="91425" tIns="45700" rIns="91425" bIns="45700" anchor="ctr" anchorCtr="0">
            <a:normAutofit/>
          </a:bodyPr>
          <a:lstStyle/>
          <a:p>
            <a:r>
              <a:rPr lang="en-IN" b="1" dirty="0" err="1">
                <a:latin typeface="Arial Rounded MT Bold" pitchFamily="34" charset="0"/>
              </a:rPr>
              <a:t>Variational</a:t>
            </a:r>
            <a:r>
              <a:rPr lang="en-IN" b="1" dirty="0">
                <a:latin typeface="Arial Rounded MT Bold" pitchFamily="34" charset="0"/>
              </a:rPr>
              <a:t> </a:t>
            </a:r>
            <a:r>
              <a:rPr lang="en-IN" b="1" dirty="0" err="1">
                <a:latin typeface="Arial Rounded MT Bold" pitchFamily="34" charset="0"/>
              </a:rPr>
              <a:t>Autoencoder</a:t>
            </a:r>
            <a:endParaRPr lang="en-IN" b="1" dirty="0">
              <a:latin typeface="Arial Rounded MT Bold"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sp>
        <p:nvSpPr>
          <p:cNvPr id="5" name="Rectangle 4"/>
          <p:cNvSpPr/>
          <p:nvPr/>
        </p:nvSpPr>
        <p:spPr>
          <a:xfrm>
            <a:off x="879565" y="2050163"/>
            <a:ext cx="11046823" cy="956352"/>
          </a:xfrm>
          <a:prstGeom prst="rect">
            <a:avLst/>
          </a:prstGeom>
        </p:spPr>
        <p:txBody>
          <a:bodyPr wrap="square">
            <a:spAutoFit/>
          </a:bodyPr>
          <a:lstStyle/>
          <a:p>
            <a:pPr marL="285750" indent="-285750">
              <a:lnSpc>
                <a:spcPct val="150000"/>
              </a:lnSpc>
              <a:buFont typeface="Arial" pitchFamily="34" charset="0"/>
              <a:buChar char="•"/>
            </a:pPr>
            <a:r>
              <a:rPr lang="en-US" sz="2000" dirty="0" smtClean="0">
                <a:solidFill>
                  <a:schemeClr val="tx1"/>
                </a:solidFill>
                <a:latin typeface="Arial Rounded MT Bold" pitchFamily="34" charset="0"/>
                <a:ea typeface="Marcellus"/>
                <a:cs typeface="Marcellus"/>
              </a:rPr>
              <a:t>What </a:t>
            </a:r>
            <a:r>
              <a:rPr lang="en-US" sz="2000" dirty="0">
                <a:solidFill>
                  <a:schemeClr val="tx1"/>
                </a:solidFill>
                <a:latin typeface="Arial Rounded MT Bold" pitchFamily="34" charset="0"/>
                <a:ea typeface="Marcellus"/>
                <a:cs typeface="Marcellus"/>
              </a:rPr>
              <a:t>we need to do to our </a:t>
            </a:r>
            <a:r>
              <a:rPr lang="en-US" sz="2000" dirty="0" err="1">
                <a:solidFill>
                  <a:schemeClr val="tx1"/>
                </a:solidFill>
                <a:latin typeface="Arial Rounded MT Bold" pitchFamily="34" charset="0"/>
                <a:ea typeface="Marcellus"/>
                <a:cs typeface="Marcellus"/>
              </a:rPr>
              <a:t>autoencoder</a:t>
            </a:r>
            <a:r>
              <a:rPr lang="en-US" sz="2000" dirty="0">
                <a:solidFill>
                  <a:schemeClr val="tx1"/>
                </a:solidFill>
                <a:latin typeface="Arial Rounded MT Bold" pitchFamily="34" charset="0"/>
                <a:ea typeface="Marcellus"/>
                <a:cs typeface="Marcellus"/>
              </a:rPr>
              <a:t> to convert it into a </a:t>
            </a:r>
            <a:r>
              <a:rPr lang="en-US" sz="2000" dirty="0" err="1">
                <a:solidFill>
                  <a:schemeClr val="tx1"/>
                </a:solidFill>
                <a:latin typeface="Arial Rounded MT Bold" pitchFamily="34" charset="0"/>
                <a:ea typeface="Marcellus"/>
                <a:cs typeface="Marcellus"/>
              </a:rPr>
              <a:t>variational</a:t>
            </a:r>
            <a:r>
              <a:rPr lang="en-US" sz="2000" dirty="0">
                <a:solidFill>
                  <a:schemeClr val="tx1"/>
                </a:solidFill>
                <a:latin typeface="Arial Rounded MT Bold" pitchFamily="34" charset="0"/>
                <a:ea typeface="Marcellus"/>
                <a:cs typeface="Marcellus"/>
              </a:rPr>
              <a:t> </a:t>
            </a:r>
            <a:r>
              <a:rPr lang="en-US" sz="2000" dirty="0" err="1" smtClean="0">
                <a:solidFill>
                  <a:schemeClr val="tx1"/>
                </a:solidFill>
                <a:latin typeface="Arial Rounded MT Bold" pitchFamily="34" charset="0"/>
                <a:ea typeface="Marcellus"/>
                <a:cs typeface="Marcellus"/>
              </a:rPr>
              <a:t>autoencoder</a:t>
            </a:r>
            <a:r>
              <a:rPr lang="en-US" sz="2000" dirty="0" smtClean="0">
                <a:solidFill>
                  <a:schemeClr val="tx1"/>
                </a:solidFill>
                <a:latin typeface="Arial Rounded MT Bold" pitchFamily="34" charset="0"/>
                <a:ea typeface="Marcellus"/>
                <a:cs typeface="Marcellus"/>
              </a:rPr>
              <a:t> ?</a:t>
            </a:r>
          </a:p>
          <a:p>
            <a:pPr marL="285750" indent="-285750">
              <a:lnSpc>
                <a:spcPct val="150000"/>
              </a:lnSpc>
              <a:buFont typeface="Arial" pitchFamily="34" charset="0"/>
              <a:buChar char="•"/>
            </a:pPr>
            <a:r>
              <a:rPr lang="en-US" sz="2000" dirty="0" smtClean="0">
                <a:solidFill>
                  <a:schemeClr val="tx1"/>
                </a:solidFill>
                <a:latin typeface="Arial Rounded MT Bold" pitchFamily="34" charset="0"/>
                <a:ea typeface="Marcellus"/>
                <a:cs typeface="Marcellus"/>
              </a:rPr>
              <a:t>Thus </a:t>
            </a:r>
            <a:r>
              <a:rPr lang="en-US" sz="2000" dirty="0">
                <a:solidFill>
                  <a:schemeClr val="tx1"/>
                </a:solidFill>
                <a:latin typeface="Arial Rounded MT Bold" pitchFamily="34" charset="0"/>
                <a:ea typeface="Marcellus"/>
                <a:cs typeface="Marcellus"/>
              </a:rPr>
              <a:t>make it a truly generative model.</a:t>
            </a:r>
            <a:endParaRPr lang="en-IN" sz="2000" dirty="0">
              <a:solidFill>
                <a:schemeClr val="tx1"/>
              </a:solidFill>
              <a:latin typeface="Arial Rounded MT Bold" pitchFamily="34" charset="0"/>
              <a:ea typeface="Marcellus"/>
              <a:cs typeface="Marcellus"/>
            </a:endParaRPr>
          </a:p>
        </p:txBody>
      </p:sp>
      <p:sp>
        <p:nvSpPr>
          <p:cNvPr id="6" name="Rectangle 5"/>
          <p:cNvSpPr/>
          <p:nvPr/>
        </p:nvSpPr>
        <p:spPr>
          <a:xfrm>
            <a:off x="879565" y="3451461"/>
            <a:ext cx="7601761" cy="400110"/>
          </a:xfrm>
          <a:prstGeom prst="rect">
            <a:avLst/>
          </a:prstGeom>
        </p:spPr>
        <p:txBody>
          <a:bodyPr wrap="none">
            <a:spAutoFit/>
          </a:bodyPr>
          <a:lstStyle/>
          <a:p>
            <a:pPr marL="285750" indent="-285750">
              <a:buFont typeface="Arial" pitchFamily="34" charset="0"/>
              <a:buChar char="•"/>
            </a:pPr>
            <a:r>
              <a:rPr lang="en-US" sz="2000" u="sng" dirty="0">
                <a:solidFill>
                  <a:schemeClr val="tx1"/>
                </a:solidFill>
                <a:latin typeface="Arial Rounded MT Bold" pitchFamily="34" charset="0"/>
                <a:ea typeface="Marcellus"/>
                <a:cs typeface="Marcellus"/>
              </a:rPr>
              <a:t>There are actually only two parts that we need to change:</a:t>
            </a:r>
            <a:endParaRPr lang="en-IN" sz="2000" u="sng" dirty="0">
              <a:solidFill>
                <a:schemeClr val="tx1"/>
              </a:solidFill>
              <a:latin typeface="Arial Rounded MT Bold" pitchFamily="34" charset="0"/>
              <a:ea typeface="Marcellus"/>
              <a:cs typeface="Marcellus"/>
            </a:endParaRPr>
          </a:p>
        </p:txBody>
      </p:sp>
      <p:sp>
        <p:nvSpPr>
          <p:cNvPr id="7" name="Rectangle 6"/>
          <p:cNvSpPr/>
          <p:nvPr/>
        </p:nvSpPr>
        <p:spPr>
          <a:xfrm>
            <a:off x="3226304" y="4137261"/>
            <a:ext cx="2284600" cy="1015663"/>
          </a:xfrm>
          <a:prstGeom prst="rect">
            <a:avLst/>
          </a:prstGeom>
        </p:spPr>
        <p:txBody>
          <a:bodyPr wrap="none">
            <a:spAutoFit/>
          </a:bodyPr>
          <a:lstStyle/>
          <a:p>
            <a:pPr marL="342900" indent="-342900">
              <a:lnSpc>
                <a:spcPct val="150000"/>
              </a:lnSpc>
              <a:buFont typeface="Wingdings" pitchFamily="2" charset="2"/>
              <a:buChar char="q"/>
            </a:pPr>
            <a:r>
              <a:rPr lang="en-US" sz="2000" dirty="0">
                <a:solidFill>
                  <a:schemeClr val="tx1"/>
                </a:solidFill>
                <a:latin typeface="Arial Rounded MT Bold" pitchFamily="34" charset="0"/>
                <a:ea typeface="Marcellus"/>
                <a:cs typeface="Marcellus"/>
              </a:rPr>
              <a:t>Encoder </a:t>
            </a:r>
          </a:p>
          <a:p>
            <a:pPr marL="342900" indent="-342900">
              <a:lnSpc>
                <a:spcPct val="150000"/>
              </a:lnSpc>
              <a:buFont typeface="Wingdings" pitchFamily="2" charset="2"/>
              <a:buChar char="q"/>
            </a:pPr>
            <a:r>
              <a:rPr lang="en-US" sz="2000" dirty="0">
                <a:solidFill>
                  <a:schemeClr val="tx1"/>
                </a:solidFill>
                <a:latin typeface="Arial Rounded MT Bold" pitchFamily="34" charset="0"/>
                <a:ea typeface="Marcellus"/>
                <a:cs typeface="Marcellus"/>
              </a:rPr>
              <a:t>Loss function.</a:t>
            </a:r>
            <a:endParaRPr lang="en-IN" sz="2000" dirty="0">
              <a:solidFill>
                <a:schemeClr val="tx1"/>
              </a:solidFill>
              <a:latin typeface="Arial Rounded MT Bold" pitchFamily="34" charset="0"/>
              <a:ea typeface="Marcellus"/>
              <a:cs typeface="Marcellus"/>
            </a:endParaRPr>
          </a:p>
        </p:txBody>
      </p:sp>
    </p:spTree>
    <p:extLst>
      <p:ext uri="{BB962C8B-B14F-4D97-AF65-F5344CB8AC3E}">
        <p14:creationId xmlns:p14="http://schemas.microsoft.com/office/powerpoint/2010/main" val="281247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1000"/>
                                        <p:tgtEl>
                                          <p:spTgt spid="7">
                                            <p:txEl>
                                              <p:pRg st="0" end="0"/>
                                            </p:txEl>
                                          </p:spTgt>
                                        </p:tgtEl>
                                      </p:cBhvr>
                                    </p:animEffect>
                                    <p:anim calcmode="lin" valueType="num">
                                      <p:cBhvr>
                                        <p:cTn id="2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fade">
                                      <p:cBhvr>
                                        <p:cTn id="28" dur="1000"/>
                                        <p:tgtEl>
                                          <p:spTgt spid="7">
                                            <p:txEl>
                                              <p:pRg st="1" end="1"/>
                                            </p:txEl>
                                          </p:spTgt>
                                        </p:tgtEl>
                                      </p:cBhvr>
                                    </p:animEffect>
                                    <p:anim calcmode="lin" valueType="num">
                                      <p:cBhvr>
                                        <p:cTn id="29"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977" y="929095"/>
            <a:ext cx="10128522" cy="4923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14889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487" y="952212"/>
            <a:ext cx="9993947" cy="5095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51202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825" y="960120"/>
            <a:ext cx="10167302" cy="5218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45546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79541" y="1136190"/>
            <a:ext cx="10550459" cy="1323439"/>
          </a:xfrm>
          <a:prstGeom prst="rect">
            <a:avLst/>
          </a:prstGeom>
        </p:spPr>
        <p:txBody>
          <a:bodyPr wrap="square">
            <a:spAutoFit/>
          </a:bodyPr>
          <a:lstStyle/>
          <a:p>
            <a:pPr marL="342900" indent="-342900">
              <a:buFont typeface="Arial" pitchFamily="34" charset="0"/>
              <a:buChar char="•"/>
            </a:pPr>
            <a:r>
              <a:rPr lang="en-US" sz="2000" dirty="0">
                <a:solidFill>
                  <a:schemeClr val="tx1"/>
                </a:solidFill>
                <a:latin typeface="Arial Rounded MT Bold" pitchFamily="34" charset="0"/>
                <a:ea typeface="Marcellus"/>
                <a:cs typeface="Marcellus"/>
              </a:rPr>
              <a:t>In an </a:t>
            </a:r>
            <a:r>
              <a:rPr lang="en-US" sz="2000" dirty="0" err="1">
                <a:solidFill>
                  <a:schemeClr val="tx1"/>
                </a:solidFill>
                <a:latin typeface="Arial Rounded MT Bold" pitchFamily="34" charset="0"/>
                <a:ea typeface="Marcellus"/>
                <a:cs typeface="Marcellus"/>
              </a:rPr>
              <a:t>autoencoder</a:t>
            </a:r>
            <a:r>
              <a:rPr lang="en-US" sz="2000" dirty="0">
                <a:solidFill>
                  <a:schemeClr val="tx1"/>
                </a:solidFill>
                <a:latin typeface="Arial Rounded MT Bold" pitchFamily="34" charset="0"/>
                <a:ea typeface="Marcellus"/>
                <a:cs typeface="Marcellus"/>
              </a:rPr>
              <a:t>, each image is mapped directly to one point in the latent space. In a </a:t>
            </a:r>
            <a:r>
              <a:rPr lang="en-US" sz="2000" dirty="0" err="1">
                <a:solidFill>
                  <a:schemeClr val="tx1"/>
                </a:solidFill>
                <a:latin typeface="Arial Rounded MT Bold" pitchFamily="34" charset="0"/>
                <a:ea typeface="Marcellus"/>
                <a:cs typeface="Marcellus"/>
              </a:rPr>
              <a:t>variational</a:t>
            </a:r>
            <a:r>
              <a:rPr lang="en-US" sz="2000" dirty="0">
                <a:solidFill>
                  <a:schemeClr val="tx1"/>
                </a:solidFill>
                <a:latin typeface="Arial Rounded MT Bold" pitchFamily="34" charset="0"/>
                <a:ea typeface="Marcellus"/>
                <a:cs typeface="Marcellus"/>
              </a:rPr>
              <a:t> </a:t>
            </a:r>
            <a:r>
              <a:rPr lang="en-US" sz="2000" dirty="0" err="1">
                <a:solidFill>
                  <a:schemeClr val="tx1"/>
                </a:solidFill>
                <a:latin typeface="Arial Rounded MT Bold" pitchFamily="34" charset="0"/>
                <a:ea typeface="Marcellus"/>
                <a:cs typeface="Marcellus"/>
              </a:rPr>
              <a:t>autoencoder</a:t>
            </a:r>
            <a:r>
              <a:rPr lang="en-US" sz="2000" dirty="0">
                <a:solidFill>
                  <a:schemeClr val="tx1"/>
                </a:solidFill>
                <a:latin typeface="Arial Rounded MT Bold" pitchFamily="34" charset="0"/>
                <a:ea typeface="Marcellus"/>
                <a:cs typeface="Marcellus"/>
              </a:rPr>
              <a:t>, each image is instead mapped to a </a:t>
            </a:r>
            <a:r>
              <a:rPr lang="en-US" sz="2000" dirty="0" smtClean="0">
                <a:solidFill>
                  <a:schemeClr val="tx1"/>
                </a:solidFill>
                <a:latin typeface="Arial Rounded MT Bold" pitchFamily="34" charset="0"/>
                <a:ea typeface="Marcellus"/>
                <a:cs typeface="Marcellus"/>
              </a:rPr>
              <a:t>multivariate </a:t>
            </a:r>
            <a:r>
              <a:rPr lang="en-US" sz="2000" dirty="0">
                <a:solidFill>
                  <a:schemeClr val="tx1"/>
                </a:solidFill>
                <a:latin typeface="Arial Rounded MT Bold" pitchFamily="34" charset="0"/>
                <a:ea typeface="Marcellus"/>
                <a:cs typeface="Marcellus"/>
              </a:rPr>
              <a:t>normal distribution around a point in the latent space, as shown in Figure</a:t>
            </a:r>
            <a:endParaRPr lang="en-IN" sz="2000" dirty="0">
              <a:solidFill>
                <a:schemeClr val="tx1"/>
              </a:solidFill>
              <a:latin typeface="Arial Rounded MT Bold" pitchFamily="34" charset="0"/>
              <a:ea typeface="Marcellus"/>
              <a:cs typeface="Marcellus"/>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5333" y="2926761"/>
            <a:ext cx="5229225"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95473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422" y="1103540"/>
            <a:ext cx="10193392" cy="4539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99727" y="5812431"/>
            <a:ext cx="6543779" cy="338554"/>
          </a:xfrm>
          <a:prstGeom prst="rect">
            <a:avLst/>
          </a:prstGeom>
        </p:spPr>
        <p:txBody>
          <a:bodyPr wrap="none">
            <a:spAutoFit/>
          </a:bodyPr>
          <a:lstStyle/>
          <a:p>
            <a:r>
              <a:rPr lang="en-US" sz="1600" b="1" dirty="0"/>
              <a:t>epsilon is a point sampled from the standard normal distribution.</a:t>
            </a:r>
            <a:endParaRPr lang="en-IN" sz="1600" b="1" dirty="0"/>
          </a:p>
        </p:txBody>
      </p:sp>
    </p:spTree>
    <p:extLst>
      <p:ext uri="{BB962C8B-B14F-4D97-AF65-F5344CB8AC3E}">
        <p14:creationId xmlns:p14="http://schemas.microsoft.com/office/powerpoint/2010/main" val="11126051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31818" y="1381185"/>
            <a:ext cx="10223862" cy="2308324"/>
          </a:xfrm>
          <a:prstGeom prst="rect">
            <a:avLst/>
          </a:prstGeom>
        </p:spPr>
        <p:txBody>
          <a:bodyPr wrap="square">
            <a:spAutoFit/>
          </a:bodyPr>
          <a:lstStyle/>
          <a:p>
            <a:pPr marL="285750" indent="-285750" algn="just">
              <a:lnSpc>
                <a:spcPct val="200000"/>
              </a:lnSpc>
              <a:buFont typeface="Wingdings" pitchFamily="2" charset="2"/>
              <a:buChar char="§"/>
            </a:pPr>
            <a:r>
              <a:rPr lang="en-US" sz="1800" dirty="0" err="1">
                <a:latin typeface="Arial Rounded MT Bold" pitchFamily="34" charset="0"/>
              </a:rPr>
              <a:t>Variational</a:t>
            </a:r>
            <a:r>
              <a:rPr lang="en-US" sz="1800" dirty="0">
                <a:latin typeface="Arial Rounded MT Bold" pitchFamily="34" charset="0"/>
              </a:rPr>
              <a:t> </a:t>
            </a:r>
            <a:r>
              <a:rPr lang="en-US" sz="1800" dirty="0" err="1">
                <a:latin typeface="Arial Rounded MT Bold" pitchFamily="34" charset="0"/>
              </a:rPr>
              <a:t>autoencoders</a:t>
            </a:r>
            <a:r>
              <a:rPr lang="en-US" sz="1800" dirty="0">
                <a:latin typeface="Arial Rounded MT Bold" pitchFamily="34" charset="0"/>
              </a:rPr>
              <a:t> assume that there is no correlation between any of the dimensions in the latent space and therefore that the covariance matrix is diagonal. </a:t>
            </a:r>
          </a:p>
          <a:p>
            <a:pPr marL="285750" indent="-285750" algn="just">
              <a:lnSpc>
                <a:spcPct val="200000"/>
              </a:lnSpc>
              <a:buFont typeface="Wingdings" pitchFamily="2" charset="2"/>
              <a:buChar char="§"/>
            </a:pPr>
            <a:r>
              <a:rPr lang="en-US" sz="1800" dirty="0">
                <a:latin typeface="Arial Rounded MT Bold" pitchFamily="34" charset="0"/>
              </a:rPr>
              <a:t>This means the encoder only needs to map each input to a mean vector and a </a:t>
            </a:r>
            <a:r>
              <a:rPr lang="en-US" sz="1800" dirty="0" err="1">
                <a:latin typeface="Arial Rounded MT Bold" pitchFamily="34" charset="0"/>
              </a:rPr>
              <a:t>var</a:t>
            </a:r>
            <a:r>
              <a:rPr lang="en-US" sz="1800" dirty="0">
                <a:latin typeface="Arial Rounded MT Bold" pitchFamily="34" charset="0"/>
              </a:rPr>
              <a:t> </a:t>
            </a:r>
            <a:r>
              <a:rPr lang="en-US" sz="1800" dirty="0" err="1">
                <a:latin typeface="Arial Rounded MT Bold" pitchFamily="34" charset="0"/>
              </a:rPr>
              <a:t>iance</a:t>
            </a:r>
            <a:r>
              <a:rPr lang="en-US" sz="1800" dirty="0">
                <a:latin typeface="Arial Rounded MT Bold" pitchFamily="34" charset="0"/>
              </a:rPr>
              <a:t> vector and does not need to worry about covariance between dimensions.</a:t>
            </a:r>
            <a:endParaRPr lang="en-IN" sz="1800" dirty="0">
              <a:latin typeface="Arial Rounded MT Bold" pitchFamily="34" charset="0"/>
            </a:endParaRPr>
          </a:p>
        </p:txBody>
      </p:sp>
    </p:spTree>
    <p:extLst>
      <p:ext uri="{BB962C8B-B14F-4D97-AF65-F5344CB8AC3E}">
        <p14:creationId xmlns:p14="http://schemas.microsoft.com/office/powerpoint/2010/main" val="4199146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3836" y="720634"/>
            <a:ext cx="3505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9899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670" y="909364"/>
            <a:ext cx="9380809" cy="5217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371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91027" y="1135227"/>
            <a:ext cx="3294474" cy="461665"/>
          </a:xfrm>
          <a:prstGeom prst="rect">
            <a:avLst/>
          </a:prstGeom>
          <a:solidFill>
            <a:srgbClr val="C00000"/>
          </a:solidFill>
        </p:spPr>
        <p:txBody>
          <a:bodyPr wrap="square">
            <a:spAutoFit/>
          </a:bodyPr>
          <a:lstStyle/>
          <a:p>
            <a:r>
              <a:rPr lang="en-IN" sz="2400" b="1" u="sng" dirty="0">
                <a:solidFill>
                  <a:schemeClr val="bg1"/>
                </a:solidFill>
                <a:effectLst>
                  <a:outerShdw blurRad="38100" dist="38100" dir="2700000" algn="tl">
                    <a:srgbClr val="000000">
                      <a:alpha val="43137"/>
                    </a:srgbClr>
                  </a:outerShdw>
                </a:effectLst>
                <a:latin typeface="Bodoni MT" panose="02070603080606020203" pitchFamily="18" charset="0"/>
              </a:rPr>
              <a:t>Diffusion Models</a:t>
            </a:r>
          </a:p>
        </p:txBody>
      </p:sp>
      <p:sp>
        <p:nvSpPr>
          <p:cNvPr id="7" name="Rectangle 6"/>
          <p:cNvSpPr/>
          <p:nvPr/>
        </p:nvSpPr>
        <p:spPr>
          <a:xfrm>
            <a:off x="891027" y="1878664"/>
            <a:ext cx="10439992" cy="391876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latin typeface="Bodoni MT" panose="02070603080606020203" pitchFamily="18" charset="0"/>
              </a:rPr>
              <a:t>Diffusion models are a type of generative AI that create new data like images, audio or even video by starting with random noise and gradually turning it into something meaningful</a:t>
            </a:r>
            <a:r>
              <a:rPr lang="en-US" sz="2400" dirty="0" smtClean="0">
                <a:latin typeface="Bodoni MT" panose="02070603080606020203" pitchFamily="18" charset="0"/>
              </a:rPr>
              <a:t>.</a:t>
            </a:r>
          </a:p>
          <a:p>
            <a:pPr marL="342900" indent="-342900" algn="just">
              <a:lnSpc>
                <a:spcPct val="150000"/>
              </a:lnSpc>
              <a:buFont typeface="Arial" panose="020B0604020202020204" pitchFamily="34" charset="0"/>
              <a:buChar char="•"/>
            </a:pPr>
            <a:r>
              <a:rPr lang="en-US" sz="2400" dirty="0" smtClean="0">
                <a:latin typeface="Bodoni MT" panose="02070603080606020203" pitchFamily="18" charset="0"/>
              </a:rPr>
              <a:t>They </a:t>
            </a:r>
            <a:r>
              <a:rPr lang="en-US" sz="2400" dirty="0">
                <a:latin typeface="Bodoni MT" panose="02070603080606020203" pitchFamily="18" charset="0"/>
              </a:rPr>
              <a:t>work by simulating a diffusion process where data is slowly corrupted by noise during training and then learning to reverse this process step by step. </a:t>
            </a:r>
            <a:endParaRPr lang="en-US" sz="2400" dirty="0" smtClean="0">
              <a:latin typeface="Bodoni MT" panose="02070603080606020203" pitchFamily="18" charset="0"/>
            </a:endParaRPr>
          </a:p>
          <a:p>
            <a:pPr marL="342900" indent="-342900" algn="just">
              <a:lnSpc>
                <a:spcPct val="150000"/>
              </a:lnSpc>
              <a:buFont typeface="Arial" panose="020B0604020202020204" pitchFamily="34" charset="0"/>
              <a:buChar char="•"/>
            </a:pPr>
            <a:r>
              <a:rPr lang="en-US" sz="2400" dirty="0" smtClean="0">
                <a:latin typeface="Bodoni MT" panose="02070603080606020203" pitchFamily="18" charset="0"/>
              </a:rPr>
              <a:t>By </a:t>
            </a:r>
            <a:r>
              <a:rPr lang="en-US" sz="2400" dirty="0">
                <a:latin typeface="Bodoni MT" panose="02070603080606020203" pitchFamily="18" charset="0"/>
              </a:rPr>
              <a:t>doing so the model learns how to generate high quality samples from scratch.</a:t>
            </a:r>
            <a:endParaRPr lang="en-IN" sz="2400" dirty="0">
              <a:latin typeface="Bodoni MT" panose="02070603080606020203" pitchFamily="18" charset="0"/>
            </a:endParaRPr>
          </a:p>
        </p:txBody>
      </p:sp>
    </p:spTree>
    <p:extLst>
      <p:ext uri="{BB962C8B-B14F-4D97-AF65-F5344CB8AC3E}">
        <p14:creationId xmlns:p14="http://schemas.microsoft.com/office/powerpoint/2010/main" val="4284601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282045" y="963688"/>
            <a:ext cx="9304255" cy="5090718"/>
          </a:xfrm>
          <a:prstGeom prst="rect">
            <a:avLst/>
          </a:prstGeom>
        </p:spPr>
      </p:pic>
    </p:spTree>
    <p:extLst>
      <p:ext uri="{BB962C8B-B14F-4D97-AF65-F5344CB8AC3E}">
        <p14:creationId xmlns:p14="http://schemas.microsoft.com/office/powerpoint/2010/main" val="798204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33254" y="821580"/>
            <a:ext cx="11258745" cy="5632311"/>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US" sz="2400" dirty="0">
                <a:latin typeface="Bodoni MT" panose="02070603080606020203" pitchFamily="18" charset="0"/>
              </a:rPr>
              <a:t>Diffusion models are generative models that learn to reverse a diffusion process to generate data. The diffusion process involves gradually adding noise to data until it becomes pure noise.</a:t>
            </a:r>
          </a:p>
          <a:p>
            <a:pPr marL="342900" indent="-342900" algn="just" fontAlgn="base">
              <a:lnSpc>
                <a:spcPct val="150000"/>
              </a:lnSpc>
              <a:buFont typeface="Arial" panose="020B0604020202020204" pitchFamily="34" charset="0"/>
              <a:buChar char="•"/>
            </a:pPr>
            <a:r>
              <a:rPr lang="en-US" sz="2400" dirty="0">
                <a:latin typeface="Bodoni MT" panose="02070603080606020203" pitchFamily="18" charset="0"/>
              </a:rPr>
              <a:t>Through this process a simple distribution is transformed into a complex data distribution in a series of small incremental steps.</a:t>
            </a:r>
          </a:p>
          <a:p>
            <a:pPr marL="342900" indent="-342900" algn="just" fontAlgn="base">
              <a:lnSpc>
                <a:spcPct val="150000"/>
              </a:lnSpc>
              <a:buFont typeface="Arial" panose="020B0604020202020204" pitchFamily="34" charset="0"/>
              <a:buChar char="•"/>
            </a:pPr>
            <a:r>
              <a:rPr lang="en-US" sz="2400" dirty="0">
                <a:latin typeface="Bodoni MT" panose="02070603080606020203" pitchFamily="18" charset="0"/>
              </a:rPr>
              <a:t>Essentially these models operate as a reverse diffusion phenomenon where noise is introduced to the data in a forward manner and removed in a reverse manner to generate new data samples.</a:t>
            </a:r>
          </a:p>
          <a:p>
            <a:pPr marL="342900" indent="-342900" algn="just" fontAlgn="base">
              <a:lnSpc>
                <a:spcPct val="150000"/>
              </a:lnSpc>
              <a:buFont typeface="Arial" panose="020B0604020202020204" pitchFamily="34" charset="0"/>
              <a:buChar char="•"/>
            </a:pPr>
            <a:r>
              <a:rPr lang="en-US" sz="2400" dirty="0">
                <a:latin typeface="Bodoni MT" panose="02070603080606020203" pitchFamily="18" charset="0"/>
              </a:rPr>
              <a:t>By learning to reverse this process diffusion models start from noise and gradually </a:t>
            </a:r>
            <a:r>
              <a:rPr lang="en-US" sz="2400" dirty="0" err="1">
                <a:latin typeface="Bodoni MT" panose="02070603080606020203" pitchFamily="18" charset="0"/>
              </a:rPr>
              <a:t>denoise</a:t>
            </a:r>
            <a:r>
              <a:rPr lang="en-US" sz="2400" dirty="0">
                <a:latin typeface="Bodoni MT" panose="02070603080606020203" pitchFamily="18" charset="0"/>
              </a:rPr>
              <a:t> it to produce data that closely resembles the training examples.</a:t>
            </a:r>
          </a:p>
        </p:txBody>
      </p:sp>
    </p:spTree>
    <p:extLst>
      <p:ext uri="{BB962C8B-B14F-4D97-AF65-F5344CB8AC3E}">
        <p14:creationId xmlns:p14="http://schemas.microsoft.com/office/powerpoint/2010/main" val="17993780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40793" y="1059813"/>
            <a:ext cx="3720890" cy="461665"/>
          </a:xfrm>
          <a:prstGeom prst="rect">
            <a:avLst/>
          </a:prstGeom>
        </p:spPr>
        <p:txBody>
          <a:bodyPr wrap="none">
            <a:spAutoFit/>
          </a:bodyPr>
          <a:lstStyle/>
          <a:p>
            <a:pPr fontAlgn="base">
              <a:buFont typeface="+mj-lt"/>
              <a:buAutoNum type="arabicPeriod"/>
            </a:pPr>
            <a:r>
              <a:rPr lang="en-IN" sz="2400" b="1" dirty="0">
                <a:solidFill>
                  <a:srgbClr val="FF0000"/>
                </a:solidFill>
                <a:effectLst>
                  <a:outerShdw blurRad="38100" dist="38100" dir="2700000" algn="tl">
                    <a:srgbClr val="000000">
                      <a:alpha val="43137"/>
                    </a:srgbClr>
                  </a:outerShdw>
                </a:effectLst>
                <a:latin typeface="Bodoni MT" panose="02070603080606020203" pitchFamily="18" charset="0"/>
              </a:rPr>
              <a:t>Forward</a:t>
            </a:r>
            <a:r>
              <a:rPr lang="en-IN" dirty="0">
                <a:solidFill>
                  <a:srgbClr val="273239"/>
                </a:solidFill>
                <a:latin typeface="Nunito"/>
              </a:rPr>
              <a:t> </a:t>
            </a:r>
            <a:r>
              <a:rPr lang="en-IN" sz="2400" b="1" dirty="0">
                <a:solidFill>
                  <a:srgbClr val="FF0000"/>
                </a:solidFill>
                <a:effectLst>
                  <a:outerShdw blurRad="38100" dist="38100" dir="2700000" algn="tl">
                    <a:srgbClr val="000000">
                      <a:alpha val="43137"/>
                    </a:srgbClr>
                  </a:outerShdw>
                </a:effectLst>
                <a:latin typeface="Bodoni MT" panose="02070603080606020203" pitchFamily="18" charset="0"/>
              </a:rPr>
              <a:t>Diffusion</a:t>
            </a:r>
            <a:r>
              <a:rPr lang="en-IN" dirty="0">
                <a:solidFill>
                  <a:srgbClr val="273239"/>
                </a:solidFill>
                <a:latin typeface="Nunito"/>
              </a:rPr>
              <a:t> </a:t>
            </a:r>
            <a:r>
              <a:rPr lang="en-IN" sz="2400" b="1" dirty="0">
                <a:solidFill>
                  <a:srgbClr val="FF0000"/>
                </a:solidFill>
                <a:effectLst>
                  <a:outerShdw blurRad="38100" dist="38100" dir="2700000" algn="tl">
                    <a:srgbClr val="000000">
                      <a:alpha val="43137"/>
                    </a:srgbClr>
                  </a:outerShdw>
                </a:effectLst>
                <a:latin typeface="Bodoni MT" panose="02070603080606020203" pitchFamily="18" charset="0"/>
              </a:rPr>
              <a:t>Process</a:t>
            </a:r>
          </a:p>
        </p:txBody>
      </p:sp>
      <p:sp>
        <p:nvSpPr>
          <p:cNvPr id="8" name="Rectangle 7"/>
          <p:cNvSpPr/>
          <p:nvPr/>
        </p:nvSpPr>
        <p:spPr>
          <a:xfrm>
            <a:off x="983529" y="1739916"/>
            <a:ext cx="10630293" cy="1200329"/>
          </a:xfrm>
          <a:prstGeom prst="rect">
            <a:avLst/>
          </a:prstGeom>
        </p:spPr>
        <p:txBody>
          <a:bodyPr wrap="square">
            <a:spAutoFit/>
          </a:bodyPr>
          <a:lstStyle/>
          <a:p>
            <a:pPr marL="342900" indent="-342900">
              <a:buFont typeface="Arial" panose="020B0604020202020204" pitchFamily="34" charset="0"/>
              <a:buChar char="•"/>
            </a:pPr>
            <a:r>
              <a:rPr lang="en-US" sz="2400" dirty="0">
                <a:latin typeface="Bodoni MT" panose="02070603080606020203" pitchFamily="18" charset="0"/>
              </a:rPr>
              <a:t>In this process noise is incrementally added to the data over a series of steps. This is akin to a </a:t>
            </a:r>
            <a:r>
              <a:rPr lang="en-US" sz="2400" dirty="0">
                <a:latin typeface="Bodoni MT" panose="02070603080606020203" pitchFamily="18" charset="0"/>
                <a:hlinkClick r:id="rId2"/>
              </a:rPr>
              <a:t>Markov chain</a:t>
            </a:r>
            <a:r>
              <a:rPr lang="en-US" sz="2400" dirty="0">
                <a:latin typeface="Bodoni MT" panose="02070603080606020203" pitchFamily="18" charset="0"/>
              </a:rPr>
              <a:t> where each step slightly degrades the data by adding </a:t>
            </a:r>
            <a:r>
              <a:rPr lang="en-US" sz="2400" dirty="0">
                <a:latin typeface="Bodoni MT" panose="02070603080606020203" pitchFamily="18" charset="0"/>
                <a:hlinkClick r:id="rId3"/>
              </a:rPr>
              <a:t>Gaussian</a:t>
            </a:r>
            <a:r>
              <a:rPr lang="en-US" sz="2400" dirty="0">
                <a:latin typeface="Bodoni MT" panose="02070603080606020203" pitchFamily="18" charset="0"/>
              </a:rPr>
              <a:t> noise.</a:t>
            </a:r>
            <a:endParaRPr lang="en-IN" sz="2400" dirty="0">
              <a:latin typeface="Bodoni MT" panose="02070603080606020203" pitchFamily="18" charset="0"/>
            </a:endParaRPr>
          </a:p>
        </p:txBody>
      </p:sp>
      <p:sp>
        <p:nvSpPr>
          <p:cNvPr id="9" name="Rectangle 8"/>
          <p:cNvSpPr/>
          <p:nvPr/>
        </p:nvSpPr>
        <p:spPr>
          <a:xfrm>
            <a:off x="4568686" y="398271"/>
            <a:ext cx="6523383" cy="738664"/>
          </a:xfrm>
          <a:prstGeom prst="rect">
            <a:avLst/>
          </a:prstGeom>
        </p:spPr>
        <p:txBody>
          <a:bodyPr wrap="square">
            <a:spAutoFit/>
          </a:bodyPr>
          <a:lstStyle/>
          <a:p>
            <a:r>
              <a:rPr lang="en-US" dirty="0">
                <a:solidFill>
                  <a:srgbClr val="273239"/>
                </a:solidFill>
                <a:latin typeface="Nunito"/>
              </a:rPr>
              <a:t>A Markov chain is a way to describe a system that moves between different situations called "states", where the chain assumes the probability of being in a particular state at the next step depends solely on the current state.</a:t>
            </a:r>
            <a:endParaRPr lang="en-IN" dirty="0"/>
          </a:p>
        </p:txBody>
      </p:sp>
      <p:cxnSp>
        <p:nvCxnSpPr>
          <p:cNvPr id="11" name="Straight Arrow Connector 10"/>
          <p:cNvCxnSpPr/>
          <p:nvPr/>
        </p:nvCxnSpPr>
        <p:spPr>
          <a:xfrm flipV="1">
            <a:off x="5062194" y="1272618"/>
            <a:ext cx="28280" cy="972000"/>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pic>
        <p:nvPicPr>
          <p:cNvPr id="12" name="Picture 11"/>
          <p:cNvPicPr>
            <a:picLocks noChangeAspect="1"/>
          </p:cNvPicPr>
          <p:nvPr/>
        </p:nvPicPr>
        <p:blipFill>
          <a:blip r:embed="rId4"/>
          <a:stretch>
            <a:fillRect/>
          </a:stretch>
        </p:blipFill>
        <p:spPr>
          <a:xfrm>
            <a:off x="2116168" y="3543226"/>
            <a:ext cx="8636868" cy="1807716"/>
          </a:xfrm>
          <a:prstGeom prst="rect">
            <a:avLst/>
          </a:prstGeom>
        </p:spPr>
      </p:pic>
    </p:spTree>
    <p:extLst>
      <p:ext uri="{BB962C8B-B14F-4D97-AF65-F5344CB8AC3E}">
        <p14:creationId xmlns:p14="http://schemas.microsoft.com/office/powerpoint/2010/main" val="325794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64844" y="1148138"/>
            <a:ext cx="3914854" cy="461665"/>
          </a:xfrm>
          <a:prstGeom prst="rect">
            <a:avLst/>
          </a:prstGeom>
        </p:spPr>
        <p:txBody>
          <a:bodyPr wrap="none">
            <a:spAutoFit/>
          </a:bodyPr>
          <a:lstStyle/>
          <a:p>
            <a:r>
              <a:rPr lang="en-IN" sz="2400" b="1" u="sng" dirty="0">
                <a:solidFill>
                  <a:schemeClr val="tx1"/>
                </a:solidFill>
                <a:effectLst>
                  <a:outerShdw blurRad="38100" dist="38100" dir="2700000" algn="tl">
                    <a:srgbClr val="000000">
                      <a:alpha val="43137"/>
                    </a:srgbClr>
                  </a:outerShdw>
                </a:effectLst>
                <a:latin typeface="Bodoni MT" panose="02070603080606020203" pitchFamily="18" charset="0"/>
              </a:rPr>
              <a:t>Mathematical Representation</a:t>
            </a:r>
          </a:p>
        </p:txBody>
      </p:sp>
      <p:pic>
        <p:nvPicPr>
          <p:cNvPr id="7" name="Picture 6"/>
          <p:cNvPicPr>
            <a:picLocks noChangeAspect="1"/>
          </p:cNvPicPr>
          <p:nvPr/>
        </p:nvPicPr>
        <p:blipFill>
          <a:blip r:embed="rId2"/>
          <a:stretch>
            <a:fillRect/>
          </a:stretch>
        </p:blipFill>
        <p:spPr>
          <a:xfrm>
            <a:off x="3562255" y="2133607"/>
            <a:ext cx="5550074" cy="715215"/>
          </a:xfrm>
          <a:prstGeom prst="rect">
            <a:avLst/>
          </a:prstGeom>
          <a:ln w="34925">
            <a:solidFill>
              <a:schemeClr val="dk1">
                <a:shade val="95000"/>
                <a:satMod val="105000"/>
              </a:schemeClr>
            </a:solidFill>
          </a:ln>
        </p:spPr>
      </p:pic>
      <p:pic>
        <p:nvPicPr>
          <p:cNvPr id="8" name="Picture 7"/>
          <p:cNvPicPr>
            <a:picLocks noChangeAspect="1"/>
          </p:cNvPicPr>
          <p:nvPr/>
        </p:nvPicPr>
        <p:blipFill>
          <a:blip r:embed="rId3"/>
          <a:stretch>
            <a:fillRect/>
          </a:stretch>
        </p:blipFill>
        <p:spPr>
          <a:xfrm>
            <a:off x="1077815" y="3372626"/>
            <a:ext cx="4150391" cy="2610730"/>
          </a:xfrm>
          <a:prstGeom prst="rect">
            <a:avLst/>
          </a:prstGeom>
        </p:spPr>
      </p:pic>
      <p:pic>
        <p:nvPicPr>
          <p:cNvPr id="9" name="Picture 8"/>
          <p:cNvPicPr>
            <a:picLocks noChangeAspect="1"/>
          </p:cNvPicPr>
          <p:nvPr/>
        </p:nvPicPr>
        <p:blipFill>
          <a:blip r:embed="rId4"/>
          <a:stretch>
            <a:fillRect/>
          </a:stretch>
        </p:blipFill>
        <p:spPr>
          <a:xfrm>
            <a:off x="6543749" y="3489973"/>
            <a:ext cx="3391537" cy="2185269"/>
          </a:xfrm>
          <a:prstGeom prst="rect">
            <a:avLst/>
          </a:prstGeom>
        </p:spPr>
      </p:pic>
    </p:spTree>
    <p:extLst>
      <p:ext uri="{BB962C8B-B14F-4D97-AF65-F5344CB8AC3E}">
        <p14:creationId xmlns:p14="http://schemas.microsoft.com/office/powerpoint/2010/main" val="21711462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888337" y="970701"/>
            <a:ext cx="7465510" cy="1325238"/>
          </a:xfrm>
          <a:prstGeom prst="rect">
            <a:avLst/>
          </a:prstGeom>
        </p:spPr>
      </p:pic>
      <p:sp>
        <p:nvSpPr>
          <p:cNvPr id="7" name="Rectangle 6"/>
          <p:cNvSpPr/>
          <p:nvPr/>
        </p:nvSpPr>
        <p:spPr>
          <a:xfrm>
            <a:off x="1355901" y="2450164"/>
            <a:ext cx="4280339" cy="461665"/>
          </a:xfrm>
          <a:prstGeom prst="rect">
            <a:avLst/>
          </a:prstGeom>
        </p:spPr>
        <p:txBody>
          <a:bodyPr wrap="none">
            <a:spAutoFit/>
          </a:bodyPr>
          <a:lstStyle/>
          <a:p>
            <a:pPr marL="342900" indent="-342900">
              <a:buFont typeface="Arial" panose="020B0604020202020204" pitchFamily="34" charset="0"/>
              <a:buChar char="•"/>
            </a:pPr>
            <a:r>
              <a:rPr lang="en-IN" sz="2400" dirty="0">
                <a:latin typeface="Bodoni MT" panose="02070603080606020203" pitchFamily="18" charset="0"/>
              </a:rPr>
              <a:t>add Gaussian noise gradually</a:t>
            </a:r>
          </a:p>
        </p:txBody>
      </p:sp>
      <p:pic>
        <p:nvPicPr>
          <p:cNvPr id="8" name="Picture 7"/>
          <p:cNvPicPr>
            <a:picLocks noChangeAspect="1"/>
          </p:cNvPicPr>
          <p:nvPr/>
        </p:nvPicPr>
        <p:blipFill>
          <a:blip r:embed="rId3"/>
          <a:stretch>
            <a:fillRect/>
          </a:stretch>
        </p:blipFill>
        <p:spPr>
          <a:xfrm>
            <a:off x="3655430" y="1658641"/>
            <a:ext cx="5174865" cy="637298"/>
          </a:xfrm>
          <a:prstGeom prst="rect">
            <a:avLst/>
          </a:prstGeom>
        </p:spPr>
      </p:pic>
      <p:sp>
        <p:nvSpPr>
          <p:cNvPr id="9" name="Rectangle 8"/>
          <p:cNvSpPr/>
          <p:nvPr/>
        </p:nvSpPr>
        <p:spPr>
          <a:xfrm>
            <a:off x="5565913" y="1658641"/>
            <a:ext cx="1143000" cy="498150"/>
          </a:xfrm>
          <a:prstGeom prst="rect">
            <a:avLst/>
          </a:prstGeom>
          <a:solidFill>
            <a:schemeClr val="accent1">
              <a:lumMod val="20000"/>
              <a:lumOff val="8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p:cNvPicPr>
            <a:picLocks noChangeAspect="1"/>
          </p:cNvPicPr>
          <p:nvPr/>
        </p:nvPicPr>
        <p:blipFill>
          <a:blip r:embed="rId4"/>
          <a:stretch>
            <a:fillRect/>
          </a:stretch>
        </p:blipFill>
        <p:spPr>
          <a:xfrm>
            <a:off x="7976918" y="2450164"/>
            <a:ext cx="3251338" cy="799932"/>
          </a:xfrm>
          <a:prstGeom prst="rect">
            <a:avLst/>
          </a:prstGeom>
        </p:spPr>
      </p:pic>
      <p:sp>
        <p:nvSpPr>
          <p:cNvPr id="12" name="Rectangle 11"/>
          <p:cNvSpPr/>
          <p:nvPr/>
        </p:nvSpPr>
        <p:spPr>
          <a:xfrm>
            <a:off x="1093304" y="3424199"/>
            <a:ext cx="2900153" cy="400110"/>
          </a:xfrm>
          <a:prstGeom prst="rect">
            <a:avLst/>
          </a:prstGeom>
        </p:spPr>
        <p:txBody>
          <a:bodyPr wrap="none">
            <a:spAutoFit/>
          </a:bodyPr>
          <a:lstStyle/>
          <a:p>
            <a:r>
              <a:rPr lang="en-IN" sz="2000" b="1" u="sng" dirty="0">
                <a:latin typeface="Times New Roman" panose="02020603050405020304" pitchFamily="18" charset="0"/>
                <a:cs typeface="Times New Roman" panose="02020603050405020304" pitchFamily="18" charset="0"/>
              </a:rPr>
              <a:t>Multi-step (Closed form)</a:t>
            </a:r>
          </a:p>
        </p:txBody>
      </p:sp>
      <p:pic>
        <p:nvPicPr>
          <p:cNvPr id="13" name="Picture 12"/>
          <p:cNvPicPr>
            <a:picLocks noChangeAspect="1"/>
          </p:cNvPicPr>
          <p:nvPr/>
        </p:nvPicPr>
        <p:blipFill>
          <a:blip r:embed="rId5"/>
          <a:stretch>
            <a:fillRect/>
          </a:stretch>
        </p:blipFill>
        <p:spPr>
          <a:xfrm>
            <a:off x="1093304" y="3870164"/>
            <a:ext cx="4543017" cy="2240498"/>
          </a:xfrm>
          <a:prstGeom prst="rect">
            <a:avLst/>
          </a:prstGeom>
          <a:ln w="34925">
            <a:solidFill>
              <a:schemeClr val="accent1">
                <a:shade val="50000"/>
              </a:schemeClr>
            </a:solidFill>
          </a:ln>
        </p:spPr>
      </p:pic>
    </p:spTree>
    <p:extLst>
      <p:ext uri="{BB962C8B-B14F-4D97-AF65-F5344CB8AC3E}">
        <p14:creationId xmlns:p14="http://schemas.microsoft.com/office/powerpoint/2010/main" val="406215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000"/>
                                        <p:tgtEl>
                                          <p:spTgt spid="12"/>
                                        </p:tgtEl>
                                      </p:cBhvr>
                                    </p:animEffect>
                                    <p:anim calcmode="lin" valueType="num">
                                      <p:cBhvr>
                                        <p:cTn id="19" dur="1000" fill="hold"/>
                                        <p:tgtEl>
                                          <p:spTgt spid="12"/>
                                        </p:tgtEl>
                                        <p:attrNameLst>
                                          <p:attrName>ppt_x</p:attrName>
                                        </p:attrNameLst>
                                      </p:cBhvr>
                                      <p:tavLst>
                                        <p:tav tm="0">
                                          <p:val>
                                            <p:strVal val="#ppt_x"/>
                                          </p:val>
                                        </p:tav>
                                        <p:tav tm="100000">
                                          <p:val>
                                            <p:strVal val="#ppt_x"/>
                                          </p:val>
                                        </p:tav>
                                      </p:tavLst>
                                    </p:anim>
                                    <p:anim calcmode="lin" valueType="num">
                                      <p:cBhvr>
                                        <p:cTn id="20" dur="1000" fill="hold"/>
                                        <p:tgtEl>
                                          <p:spTgt spid="12"/>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anim calcmode="lin" valueType="num">
                                      <p:cBhvr>
                                        <p:cTn id="24" dur="1000" fill="hold"/>
                                        <p:tgtEl>
                                          <p:spTgt spid="13"/>
                                        </p:tgtEl>
                                        <p:attrNameLst>
                                          <p:attrName>ppt_x</p:attrName>
                                        </p:attrNameLst>
                                      </p:cBhvr>
                                      <p:tavLst>
                                        <p:tav tm="0">
                                          <p:val>
                                            <p:strVal val="#ppt_x"/>
                                          </p:val>
                                        </p:tav>
                                        <p:tav tm="100000">
                                          <p:val>
                                            <p:strVal val="#ppt_x"/>
                                          </p:val>
                                        </p:tav>
                                      </p:tavLst>
                                    </p:anim>
                                    <p:anim calcmode="lin" valueType="num">
                                      <p:cBhvr>
                                        <p:cTn id="2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03829" y="1177955"/>
            <a:ext cx="3751348" cy="461665"/>
          </a:xfrm>
          <a:prstGeom prst="rect">
            <a:avLst/>
          </a:prstGeom>
        </p:spPr>
        <p:txBody>
          <a:bodyPr wrap="none">
            <a:spAutoFit/>
          </a:bodyPr>
          <a:lstStyle/>
          <a:p>
            <a:pPr fontAlgn="base"/>
            <a:r>
              <a:rPr lang="en-IN" sz="2400" b="1" dirty="0" smtClean="0">
                <a:solidFill>
                  <a:srgbClr val="FF0000"/>
                </a:solidFill>
                <a:effectLst>
                  <a:outerShdw blurRad="38100" dist="38100" dir="2700000" algn="tl">
                    <a:srgbClr val="000000">
                      <a:alpha val="43137"/>
                    </a:srgbClr>
                  </a:outerShdw>
                </a:effectLst>
                <a:latin typeface="Bodoni MT" panose="02070603080606020203" pitchFamily="18" charset="0"/>
              </a:rPr>
              <a:t>2. Reverse </a:t>
            </a:r>
            <a:r>
              <a:rPr lang="en-IN" sz="2400" b="1" dirty="0">
                <a:solidFill>
                  <a:srgbClr val="FF0000"/>
                </a:solidFill>
                <a:effectLst>
                  <a:outerShdw blurRad="38100" dist="38100" dir="2700000" algn="tl">
                    <a:srgbClr val="000000">
                      <a:alpha val="43137"/>
                    </a:srgbClr>
                  </a:outerShdw>
                </a:effectLst>
                <a:latin typeface="Bodoni MT" panose="02070603080606020203" pitchFamily="18" charset="0"/>
              </a:rPr>
              <a:t>Diffusion Process</a:t>
            </a:r>
          </a:p>
        </p:txBody>
      </p:sp>
      <p:sp>
        <p:nvSpPr>
          <p:cNvPr id="7" name="Rectangle 6"/>
          <p:cNvSpPr/>
          <p:nvPr/>
        </p:nvSpPr>
        <p:spPr>
          <a:xfrm>
            <a:off x="1209261" y="1924999"/>
            <a:ext cx="9932504" cy="830997"/>
          </a:xfrm>
          <a:prstGeom prst="rect">
            <a:avLst/>
          </a:prstGeom>
        </p:spPr>
        <p:txBody>
          <a:bodyPr wrap="square">
            <a:spAutoFit/>
          </a:bodyPr>
          <a:lstStyle/>
          <a:p>
            <a:pPr marL="342900" indent="-342900">
              <a:buFont typeface="Arial" panose="020B0604020202020204" pitchFamily="34" charset="0"/>
              <a:buChar char="•"/>
            </a:pPr>
            <a:r>
              <a:rPr lang="en-US" sz="2400" dirty="0">
                <a:latin typeface="Bodoni MT" panose="02070603080606020203" pitchFamily="18" charset="0"/>
              </a:rPr>
              <a:t>The reverse process aims to reconstruct the original data by </a:t>
            </a:r>
            <a:r>
              <a:rPr lang="en-US" sz="2400" dirty="0" err="1">
                <a:latin typeface="Bodoni MT" panose="02070603080606020203" pitchFamily="18" charset="0"/>
              </a:rPr>
              <a:t>denoising</a:t>
            </a:r>
            <a:r>
              <a:rPr lang="en-US" sz="2400" dirty="0">
                <a:latin typeface="Bodoni MT" panose="02070603080606020203" pitchFamily="18" charset="0"/>
              </a:rPr>
              <a:t> the noisy data in a series of steps reversing the forward diffusion.</a:t>
            </a:r>
            <a:endParaRPr lang="en-IN" sz="2400" dirty="0">
              <a:latin typeface="Bodoni MT" panose="02070603080606020203" pitchFamily="18" charset="0"/>
            </a:endParaRPr>
          </a:p>
        </p:txBody>
      </p:sp>
      <p:pic>
        <p:nvPicPr>
          <p:cNvPr id="8" name="Picture 7"/>
          <p:cNvPicPr>
            <a:picLocks noChangeAspect="1"/>
          </p:cNvPicPr>
          <p:nvPr/>
        </p:nvPicPr>
        <p:blipFill>
          <a:blip r:embed="rId2"/>
          <a:stretch>
            <a:fillRect/>
          </a:stretch>
        </p:blipFill>
        <p:spPr>
          <a:xfrm>
            <a:off x="1720124" y="3286227"/>
            <a:ext cx="9044294" cy="1822485"/>
          </a:xfrm>
          <a:prstGeom prst="rect">
            <a:avLst/>
          </a:prstGeom>
        </p:spPr>
      </p:pic>
    </p:spTree>
    <p:extLst>
      <p:ext uri="{BB962C8B-B14F-4D97-AF65-F5344CB8AC3E}">
        <p14:creationId xmlns:p14="http://schemas.microsoft.com/office/powerpoint/2010/main" val="7884033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48680" y="1148138"/>
            <a:ext cx="3385863" cy="461665"/>
          </a:xfrm>
          <a:prstGeom prst="rect">
            <a:avLst/>
          </a:prstGeom>
        </p:spPr>
        <p:txBody>
          <a:bodyPr wrap="none">
            <a:spAutoFit/>
          </a:bodyPr>
          <a:lstStyle/>
          <a:p>
            <a:r>
              <a:rPr lang="en-IN" sz="2400" b="1" u="sng" dirty="0">
                <a:solidFill>
                  <a:schemeClr val="tx1"/>
                </a:solidFill>
                <a:effectLst>
                  <a:outerShdw blurRad="38100" dist="38100" dir="2700000" algn="tl">
                    <a:srgbClr val="000000">
                      <a:alpha val="43137"/>
                    </a:srgbClr>
                  </a:outerShdw>
                </a:effectLst>
                <a:latin typeface="Bodoni MT" panose="02070603080606020203" pitchFamily="18" charset="0"/>
              </a:rPr>
              <a:t>Mathematical Expression</a:t>
            </a:r>
          </a:p>
        </p:txBody>
      </p:sp>
      <p:pic>
        <p:nvPicPr>
          <p:cNvPr id="7" name="Picture 6"/>
          <p:cNvPicPr>
            <a:picLocks noChangeAspect="1"/>
          </p:cNvPicPr>
          <p:nvPr/>
        </p:nvPicPr>
        <p:blipFill>
          <a:blip r:embed="rId2"/>
          <a:stretch>
            <a:fillRect/>
          </a:stretch>
        </p:blipFill>
        <p:spPr>
          <a:xfrm>
            <a:off x="2450871" y="1824786"/>
            <a:ext cx="6524354" cy="799144"/>
          </a:xfrm>
          <a:prstGeom prst="rect">
            <a:avLst/>
          </a:prstGeom>
        </p:spPr>
      </p:pic>
      <p:pic>
        <p:nvPicPr>
          <p:cNvPr id="8" name="Picture 7"/>
          <p:cNvPicPr>
            <a:picLocks noChangeAspect="1"/>
          </p:cNvPicPr>
          <p:nvPr/>
        </p:nvPicPr>
        <p:blipFill>
          <a:blip r:embed="rId3"/>
          <a:stretch>
            <a:fillRect/>
          </a:stretch>
        </p:blipFill>
        <p:spPr>
          <a:xfrm>
            <a:off x="1148799" y="2623930"/>
            <a:ext cx="9998070" cy="730398"/>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635719718"/>
              </p:ext>
            </p:extLst>
          </p:nvPr>
        </p:nvGraphicFramePr>
        <p:xfrm>
          <a:off x="2733260" y="3682655"/>
          <a:ext cx="7865165" cy="1371600"/>
        </p:xfrm>
        <a:graphic>
          <a:graphicData uri="http://schemas.openxmlformats.org/drawingml/2006/table">
            <a:tbl>
              <a:tblPr>
                <a:tableStyleId>{63D33542-5A3D-43B4-9FE6-77F4D52E408F}</a:tableStyleId>
              </a:tblPr>
              <a:tblGrid>
                <a:gridCol w="1506622">
                  <a:extLst>
                    <a:ext uri="{9D8B030D-6E8A-4147-A177-3AD203B41FA5}">
                      <a16:colId xmlns="" xmlns:a16="http://schemas.microsoft.com/office/drawing/2014/main" val="3488873304"/>
                    </a:ext>
                  </a:extLst>
                </a:gridCol>
                <a:gridCol w="3736821">
                  <a:extLst>
                    <a:ext uri="{9D8B030D-6E8A-4147-A177-3AD203B41FA5}">
                      <a16:colId xmlns="" xmlns:a16="http://schemas.microsoft.com/office/drawing/2014/main" val="1508273202"/>
                    </a:ext>
                  </a:extLst>
                </a:gridCol>
                <a:gridCol w="2621722">
                  <a:extLst>
                    <a:ext uri="{9D8B030D-6E8A-4147-A177-3AD203B41FA5}">
                      <a16:colId xmlns="" xmlns:a16="http://schemas.microsoft.com/office/drawing/2014/main" val="3211079730"/>
                    </a:ext>
                  </a:extLst>
                </a:gridCol>
              </a:tblGrid>
              <a:tr h="0">
                <a:tc>
                  <a:txBody>
                    <a:bodyPr/>
                    <a:lstStyle/>
                    <a:p>
                      <a:r>
                        <a:rPr lang="en-IN" sz="2400" dirty="0"/>
                        <a:t>Process</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IN" sz="2400" dirty="0"/>
                        <a:t>Equation</a:t>
                      </a:r>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IN" sz="2400"/>
                        <a:t>Meaning</a:t>
                      </a:r>
                      <a:endParaRPr lang="en-IN" sz="2400">
                        <a:latin typeface="Times New Roman" panose="02020603050405020304" pitchFamily="18" charset="0"/>
                        <a:cs typeface="Times New Roman" panose="02020603050405020304" pitchFamily="18" charset="0"/>
                      </a:endParaRPr>
                    </a:p>
                  </a:txBody>
                  <a:tcPr anchor="ctr"/>
                </a:tc>
                <a:extLst>
                  <a:ext uri="{0D108BD9-81ED-4DB2-BD59-A6C34878D82A}">
                    <a16:rowId xmlns="" xmlns:a16="http://schemas.microsoft.com/office/drawing/2014/main" val="2815134722"/>
                  </a:ext>
                </a:extLst>
              </a:tr>
              <a:tr h="0">
                <a:tc>
                  <a:txBody>
                    <a:bodyPr/>
                    <a:lstStyle/>
                    <a:p>
                      <a:r>
                        <a:rPr lang="en-IN" sz="2400" dirty="0"/>
                        <a:t>Forward</a:t>
                      </a:r>
                      <a:endParaRPr lang="en-IN" sz="2400" dirty="0">
                        <a:latin typeface="Times New Roman" panose="02020603050405020304" pitchFamily="18" charset="0"/>
                        <a:cs typeface="Times New Roman" panose="02020603050405020304" pitchFamily="18" charset="0"/>
                      </a:endParaRPr>
                    </a:p>
                  </a:txBody>
                  <a:tcPr anchor="ctr"/>
                </a:tc>
                <a:tc>
                  <a:txBody>
                    <a:bodyPr/>
                    <a:lstStyle/>
                    <a:p>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IN" sz="2400"/>
                        <a:t>Add noise</a:t>
                      </a:r>
                      <a:endParaRPr lang="en-IN" sz="2400">
                        <a:latin typeface="Times New Roman" panose="02020603050405020304" pitchFamily="18" charset="0"/>
                        <a:cs typeface="Times New Roman" panose="02020603050405020304" pitchFamily="18" charset="0"/>
                      </a:endParaRPr>
                    </a:p>
                  </a:txBody>
                  <a:tcPr anchor="ctr"/>
                </a:tc>
                <a:extLst>
                  <a:ext uri="{0D108BD9-81ED-4DB2-BD59-A6C34878D82A}">
                    <a16:rowId xmlns="" xmlns:a16="http://schemas.microsoft.com/office/drawing/2014/main" val="526364106"/>
                  </a:ext>
                </a:extLst>
              </a:tr>
              <a:tr h="0">
                <a:tc>
                  <a:txBody>
                    <a:bodyPr/>
                    <a:lstStyle/>
                    <a:p>
                      <a:r>
                        <a:rPr lang="en-IN" sz="2400" dirty="0"/>
                        <a:t>Reverse</a:t>
                      </a:r>
                      <a:endParaRPr lang="en-IN" sz="2400" dirty="0">
                        <a:latin typeface="Times New Roman" panose="02020603050405020304" pitchFamily="18" charset="0"/>
                        <a:cs typeface="Times New Roman" panose="02020603050405020304" pitchFamily="18" charset="0"/>
                      </a:endParaRPr>
                    </a:p>
                  </a:txBody>
                  <a:tcPr anchor="ctr"/>
                </a:tc>
                <a:tc>
                  <a:txBody>
                    <a:bodyPr/>
                    <a:lstStyle/>
                    <a:p>
                      <a:endParaRPr lang="en-IN" sz="2400" dirty="0">
                        <a:latin typeface="Times New Roman" panose="02020603050405020304" pitchFamily="18" charset="0"/>
                        <a:cs typeface="Times New Roman" panose="02020603050405020304" pitchFamily="18" charset="0"/>
                      </a:endParaRPr>
                    </a:p>
                  </a:txBody>
                  <a:tcPr anchor="ctr"/>
                </a:tc>
                <a:tc>
                  <a:txBody>
                    <a:bodyPr/>
                    <a:lstStyle/>
                    <a:p>
                      <a:r>
                        <a:rPr lang="en-IN" sz="2400" dirty="0"/>
                        <a:t>Remove noise</a:t>
                      </a: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 xmlns:a16="http://schemas.microsoft.com/office/drawing/2014/main" val="2182229658"/>
                  </a:ext>
                </a:extLst>
              </a:tr>
            </a:tbl>
          </a:graphicData>
        </a:graphic>
      </p:graphicFrame>
      <p:pic>
        <p:nvPicPr>
          <p:cNvPr id="10" name="Picture 9"/>
          <p:cNvPicPr>
            <a:picLocks noChangeAspect="1"/>
          </p:cNvPicPr>
          <p:nvPr/>
        </p:nvPicPr>
        <p:blipFill>
          <a:blip r:embed="rId4"/>
          <a:stretch>
            <a:fillRect/>
          </a:stretch>
        </p:blipFill>
        <p:spPr>
          <a:xfrm>
            <a:off x="5303241" y="4212872"/>
            <a:ext cx="844593" cy="311166"/>
          </a:xfrm>
          <a:prstGeom prst="rect">
            <a:avLst/>
          </a:prstGeom>
        </p:spPr>
      </p:pic>
      <p:pic>
        <p:nvPicPr>
          <p:cNvPr id="11" name="Picture 10"/>
          <p:cNvPicPr>
            <a:picLocks noChangeAspect="1"/>
          </p:cNvPicPr>
          <p:nvPr/>
        </p:nvPicPr>
        <p:blipFill>
          <a:blip r:embed="rId5"/>
          <a:stretch>
            <a:fillRect/>
          </a:stretch>
        </p:blipFill>
        <p:spPr>
          <a:xfrm>
            <a:off x="5303241" y="4644252"/>
            <a:ext cx="882695" cy="330217"/>
          </a:xfrm>
          <a:prstGeom prst="rect">
            <a:avLst/>
          </a:prstGeom>
        </p:spPr>
      </p:pic>
    </p:spTree>
    <p:extLst>
      <p:ext uri="{BB962C8B-B14F-4D97-AF65-F5344CB8AC3E}">
        <p14:creationId xmlns:p14="http://schemas.microsoft.com/office/powerpoint/2010/main" val="18194518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689259" y="1792047"/>
            <a:ext cx="6828576" cy="1807005"/>
          </a:xfrm>
          <a:prstGeom prst="rect">
            <a:avLst/>
          </a:prstGeom>
        </p:spPr>
      </p:pic>
      <p:pic>
        <p:nvPicPr>
          <p:cNvPr id="8" name="Picture 7"/>
          <p:cNvPicPr>
            <a:picLocks noChangeAspect="1"/>
          </p:cNvPicPr>
          <p:nvPr/>
        </p:nvPicPr>
        <p:blipFill>
          <a:blip r:embed="rId3"/>
          <a:stretch>
            <a:fillRect/>
          </a:stretch>
        </p:blipFill>
        <p:spPr>
          <a:xfrm>
            <a:off x="2123611" y="3696505"/>
            <a:ext cx="3057992" cy="1352573"/>
          </a:xfrm>
          <a:prstGeom prst="rect">
            <a:avLst/>
          </a:prstGeom>
        </p:spPr>
      </p:pic>
      <p:sp>
        <p:nvSpPr>
          <p:cNvPr id="9" name="Rectangle 8"/>
          <p:cNvSpPr/>
          <p:nvPr/>
        </p:nvSpPr>
        <p:spPr>
          <a:xfrm>
            <a:off x="1689259" y="1108381"/>
            <a:ext cx="5182829" cy="461665"/>
          </a:xfrm>
          <a:prstGeom prst="rect">
            <a:avLst/>
          </a:prstGeom>
        </p:spPr>
        <p:txBody>
          <a:bodyPr wrap="none">
            <a:spAutoFit/>
          </a:bodyPr>
          <a:lstStyle/>
          <a:p>
            <a:pPr marL="342900" indent="-342900">
              <a:buFont typeface="Wingdings" panose="05000000000000000000" pitchFamily="2" charset="2"/>
              <a:buChar char="q"/>
            </a:pPr>
            <a:r>
              <a:rPr lang="en-US" sz="2400" b="1" u="sng" dirty="0">
                <a:latin typeface="Times New Roman" panose="02020603050405020304" pitchFamily="18" charset="0"/>
                <a:cs typeface="Times New Roman" panose="02020603050405020304" pitchFamily="18" charset="0"/>
              </a:rPr>
              <a:t>Why do we need a neural network?</a:t>
            </a:r>
            <a:endParaRPr lang="en-IN" sz="2400" b="1" u="sng"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4"/>
          <a:stretch>
            <a:fillRect/>
          </a:stretch>
        </p:blipFill>
        <p:spPr>
          <a:xfrm>
            <a:off x="6097985" y="3821053"/>
            <a:ext cx="5143171" cy="2273417"/>
          </a:xfrm>
          <a:prstGeom prst="rect">
            <a:avLst/>
          </a:prstGeom>
        </p:spPr>
      </p:pic>
    </p:spTree>
    <p:extLst>
      <p:ext uri="{BB962C8B-B14F-4D97-AF65-F5344CB8AC3E}">
        <p14:creationId xmlns:p14="http://schemas.microsoft.com/office/powerpoint/2010/main" val="25026634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799285" y="987404"/>
            <a:ext cx="4461762" cy="768389"/>
          </a:xfrm>
          <a:prstGeom prst="rect">
            <a:avLst/>
          </a:prstGeom>
          <a:ln w="31750">
            <a:solidFill>
              <a:schemeClr val="accent1">
                <a:alpha val="74000"/>
              </a:schemeClr>
            </a:solidFill>
          </a:ln>
        </p:spPr>
      </p:pic>
      <p:pic>
        <p:nvPicPr>
          <p:cNvPr id="8" name="Picture 7"/>
          <p:cNvPicPr>
            <a:picLocks noChangeAspect="1"/>
          </p:cNvPicPr>
          <p:nvPr/>
        </p:nvPicPr>
        <p:blipFill>
          <a:blip r:embed="rId3"/>
          <a:stretch>
            <a:fillRect/>
          </a:stretch>
        </p:blipFill>
        <p:spPr>
          <a:xfrm>
            <a:off x="3799285" y="2180917"/>
            <a:ext cx="4083260" cy="1263715"/>
          </a:xfrm>
          <a:prstGeom prst="rect">
            <a:avLst/>
          </a:prstGeom>
        </p:spPr>
      </p:pic>
      <p:pic>
        <p:nvPicPr>
          <p:cNvPr id="9" name="Picture 8"/>
          <p:cNvPicPr>
            <a:picLocks noChangeAspect="1"/>
          </p:cNvPicPr>
          <p:nvPr/>
        </p:nvPicPr>
        <p:blipFill>
          <a:blip r:embed="rId4"/>
          <a:stretch>
            <a:fillRect/>
          </a:stretch>
        </p:blipFill>
        <p:spPr>
          <a:xfrm>
            <a:off x="3799285" y="3444632"/>
            <a:ext cx="3035456" cy="273064"/>
          </a:xfrm>
          <a:prstGeom prst="rect">
            <a:avLst/>
          </a:prstGeom>
        </p:spPr>
      </p:pic>
      <p:pic>
        <p:nvPicPr>
          <p:cNvPr id="10" name="Picture 9"/>
          <p:cNvPicPr>
            <a:picLocks noChangeAspect="1"/>
          </p:cNvPicPr>
          <p:nvPr/>
        </p:nvPicPr>
        <p:blipFill>
          <a:blip r:embed="rId5"/>
          <a:stretch>
            <a:fillRect/>
          </a:stretch>
        </p:blipFill>
        <p:spPr>
          <a:xfrm>
            <a:off x="4923293" y="3777792"/>
            <a:ext cx="2959252" cy="438173"/>
          </a:xfrm>
          <a:prstGeom prst="rect">
            <a:avLst/>
          </a:prstGeom>
        </p:spPr>
      </p:pic>
      <p:pic>
        <p:nvPicPr>
          <p:cNvPr id="12" name="Picture 11"/>
          <p:cNvPicPr>
            <a:picLocks noChangeAspect="1"/>
          </p:cNvPicPr>
          <p:nvPr/>
        </p:nvPicPr>
        <p:blipFill>
          <a:blip r:embed="rId6"/>
          <a:stretch>
            <a:fillRect/>
          </a:stretch>
        </p:blipFill>
        <p:spPr>
          <a:xfrm>
            <a:off x="3911073" y="4549125"/>
            <a:ext cx="4349974" cy="838243"/>
          </a:xfrm>
          <a:prstGeom prst="rect">
            <a:avLst/>
          </a:prstGeom>
        </p:spPr>
      </p:pic>
      <p:sp>
        <p:nvSpPr>
          <p:cNvPr id="2" name="Rectangle 1"/>
          <p:cNvSpPr/>
          <p:nvPr/>
        </p:nvSpPr>
        <p:spPr>
          <a:xfrm>
            <a:off x="3799285" y="2180917"/>
            <a:ext cx="4461762" cy="2035048"/>
          </a:xfrm>
          <a:prstGeom prst="rect">
            <a:avLst/>
          </a:prstGeom>
          <a:solidFill>
            <a:schemeClr val="accent1">
              <a:alpha val="0"/>
            </a:schemeClr>
          </a:solidFill>
          <a:ln>
            <a:solidFill>
              <a:schemeClr val="accent1">
                <a:shade val="50000"/>
                <a:alpha val="83000"/>
              </a:schemeClr>
            </a:solidFill>
          </a:ln>
          <a:effectLst>
            <a:reflection stA="0" endPos="65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3799284" y="4401240"/>
            <a:ext cx="4461763" cy="1017524"/>
          </a:xfrm>
          <a:prstGeom prst="rect">
            <a:avLst/>
          </a:prstGeom>
          <a:solidFill>
            <a:schemeClr val="accent1">
              <a:alpha val="0"/>
            </a:schemeClr>
          </a:solidFill>
          <a:ln>
            <a:solidFill>
              <a:schemeClr val="accent1">
                <a:shade val="50000"/>
                <a:alpha val="83000"/>
              </a:schemeClr>
            </a:solidFill>
          </a:ln>
          <a:effectLst>
            <a:reflection stA="0" endPos="65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584899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76717" y="1081445"/>
            <a:ext cx="1715534" cy="400110"/>
          </a:xfrm>
          <a:prstGeom prst="rect">
            <a:avLst/>
          </a:prstGeom>
        </p:spPr>
        <p:txBody>
          <a:bodyPr wrap="none">
            <a:spAutoFit/>
          </a:bodyPr>
          <a:lstStyle/>
          <a:p>
            <a:r>
              <a:rPr lang="en-IN" sz="2000" b="1" u="sng" dirty="0">
                <a:latin typeface="Times New Roman" panose="02020603050405020304" pitchFamily="18" charset="0"/>
                <a:cs typeface="Times New Roman" panose="02020603050405020304" pitchFamily="18" charset="0"/>
              </a:rPr>
              <a:t>Training Loss</a:t>
            </a:r>
          </a:p>
        </p:txBody>
      </p:sp>
      <p:pic>
        <p:nvPicPr>
          <p:cNvPr id="7" name="Picture 6"/>
          <p:cNvPicPr>
            <a:picLocks noChangeAspect="1"/>
          </p:cNvPicPr>
          <p:nvPr/>
        </p:nvPicPr>
        <p:blipFill>
          <a:blip r:embed="rId2"/>
          <a:stretch>
            <a:fillRect/>
          </a:stretch>
        </p:blipFill>
        <p:spPr>
          <a:xfrm>
            <a:off x="4242822" y="1552429"/>
            <a:ext cx="2794595" cy="573250"/>
          </a:xfrm>
          <a:prstGeom prst="rect">
            <a:avLst/>
          </a:prstGeom>
          <a:ln w="31750">
            <a:solidFill>
              <a:schemeClr val="accent1">
                <a:shade val="50000"/>
              </a:schemeClr>
            </a:solidFill>
          </a:ln>
        </p:spPr>
      </p:pic>
      <p:pic>
        <p:nvPicPr>
          <p:cNvPr id="8" name="Picture 7"/>
          <p:cNvPicPr>
            <a:picLocks noChangeAspect="1"/>
          </p:cNvPicPr>
          <p:nvPr/>
        </p:nvPicPr>
        <p:blipFill>
          <a:blip r:embed="rId3"/>
          <a:stretch>
            <a:fillRect/>
          </a:stretch>
        </p:blipFill>
        <p:spPr>
          <a:xfrm>
            <a:off x="2604720" y="2458794"/>
            <a:ext cx="2707123" cy="989331"/>
          </a:xfrm>
          <a:prstGeom prst="rect">
            <a:avLst/>
          </a:prstGeom>
        </p:spPr>
      </p:pic>
      <p:pic>
        <p:nvPicPr>
          <p:cNvPr id="9" name="Picture 8"/>
          <p:cNvPicPr>
            <a:picLocks noChangeAspect="1"/>
          </p:cNvPicPr>
          <p:nvPr/>
        </p:nvPicPr>
        <p:blipFill>
          <a:blip r:embed="rId4"/>
          <a:stretch>
            <a:fillRect/>
          </a:stretch>
        </p:blipFill>
        <p:spPr>
          <a:xfrm>
            <a:off x="5428531" y="2483810"/>
            <a:ext cx="3245017" cy="997001"/>
          </a:xfrm>
          <a:prstGeom prst="rect">
            <a:avLst/>
          </a:prstGeom>
        </p:spPr>
      </p:pic>
    </p:spTree>
    <p:extLst>
      <p:ext uri="{BB962C8B-B14F-4D97-AF65-F5344CB8AC3E}">
        <p14:creationId xmlns:p14="http://schemas.microsoft.com/office/powerpoint/2010/main" val="247277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9788" y="987424"/>
            <a:ext cx="3932237" cy="645433"/>
          </a:xfrm>
          <a:solidFill>
            <a:schemeClr val="accent1">
              <a:lumMod val="40000"/>
              <a:lumOff val="60000"/>
            </a:schemeClr>
          </a:solidFill>
          <a:ln>
            <a:noFill/>
          </a:ln>
        </p:spPr>
        <p:txBody>
          <a:bodyPr spcFirstLastPara="1" wrap="square" lIns="91425" tIns="45700" rIns="91425" bIns="45700" anchor="ctr" anchorCtr="0">
            <a:normAutofit fontScale="90000"/>
          </a:bodyPr>
          <a:lstStyle/>
          <a:p>
            <a:pPr>
              <a:buSzPts val="1800"/>
            </a:pPr>
            <a:r>
              <a:rPr lang="en-US" sz="3600" b="1" dirty="0">
                <a:latin typeface="Arial Rounded MT Bold" pitchFamily="34" charset="0"/>
              </a:rPr>
              <a:t>Flow Based </a:t>
            </a:r>
            <a:r>
              <a:rPr lang="en-US" sz="3600" b="1" dirty="0" smtClean="0">
                <a:latin typeface="Arial Rounded MT Bold" pitchFamily="34" charset="0"/>
              </a:rPr>
              <a:t>Model</a:t>
            </a:r>
            <a:endParaRPr lang="en-IN" sz="3600" b="1" dirty="0">
              <a:latin typeface="Arial Rounded MT Bold"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6693" y="2052365"/>
            <a:ext cx="5229225"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1196" y="3602627"/>
            <a:ext cx="43910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8367" y="4960757"/>
            <a:ext cx="436245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8794633" y="3914791"/>
            <a:ext cx="554960" cy="307777"/>
          </a:xfrm>
          <a:prstGeom prst="rect">
            <a:avLst/>
          </a:prstGeom>
          <a:noFill/>
        </p:spPr>
        <p:txBody>
          <a:bodyPr wrap="none" rtlCol="0">
            <a:spAutoFit/>
          </a:bodyPr>
          <a:lstStyle/>
          <a:p>
            <a:r>
              <a:rPr lang="en-US" b="1" dirty="0" smtClean="0">
                <a:solidFill>
                  <a:srgbClr val="FF0000"/>
                </a:solidFill>
                <a:effectLst>
                  <a:outerShdw blurRad="38100" dist="38100" dir="2700000" algn="tl">
                    <a:srgbClr val="000000">
                      <a:alpha val="43137"/>
                    </a:srgbClr>
                  </a:outerShdw>
                </a:effectLst>
              </a:rPr>
              <a:t>VAE</a:t>
            </a:r>
            <a:endParaRPr lang="en-IN" b="1" dirty="0">
              <a:solidFill>
                <a:srgbClr val="FF0000"/>
              </a:solidFill>
              <a:effectLst>
                <a:outerShdw blurRad="38100" dist="38100" dir="2700000" algn="tl">
                  <a:srgbClr val="000000">
                    <a:alpha val="43137"/>
                  </a:srgbClr>
                </a:outerShdw>
              </a:effectLst>
            </a:endParaRPr>
          </a:p>
        </p:txBody>
      </p:sp>
      <p:sp>
        <p:nvSpPr>
          <p:cNvPr id="11" name="TextBox 10"/>
          <p:cNvSpPr txBox="1"/>
          <p:nvPr/>
        </p:nvSpPr>
        <p:spPr>
          <a:xfrm>
            <a:off x="8765779" y="2754884"/>
            <a:ext cx="583814" cy="307777"/>
          </a:xfrm>
          <a:prstGeom prst="rect">
            <a:avLst/>
          </a:prstGeom>
          <a:noFill/>
        </p:spPr>
        <p:txBody>
          <a:bodyPr wrap="none" rtlCol="0">
            <a:spAutoFit/>
          </a:bodyPr>
          <a:lstStyle/>
          <a:p>
            <a:r>
              <a:rPr lang="en-US" b="1" dirty="0" smtClean="0">
                <a:solidFill>
                  <a:srgbClr val="FF0000"/>
                </a:solidFill>
                <a:effectLst>
                  <a:outerShdw blurRad="38100" dist="38100" dir="2700000" algn="tl">
                    <a:srgbClr val="000000">
                      <a:alpha val="43137"/>
                    </a:srgbClr>
                  </a:outerShdw>
                </a:effectLst>
              </a:rPr>
              <a:t>GAN</a:t>
            </a:r>
            <a:endParaRPr lang="en-IN" b="1" dirty="0">
              <a:solidFill>
                <a:srgbClr val="FF0000"/>
              </a:solidFill>
              <a:effectLst>
                <a:outerShdw blurRad="38100" dist="38100" dir="2700000" algn="tl">
                  <a:srgbClr val="000000">
                    <a:alpha val="43137"/>
                  </a:srgbClr>
                </a:outerShdw>
              </a:effectLst>
            </a:endParaRPr>
          </a:p>
        </p:txBody>
      </p:sp>
      <p:sp>
        <p:nvSpPr>
          <p:cNvPr id="12" name="TextBox 11"/>
          <p:cNvSpPr txBox="1"/>
          <p:nvPr/>
        </p:nvSpPr>
        <p:spPr>
          <a:xfrm>
            <a:off x="8335637" y="5325980"/>
            <a:ext cx="1524776" cy="307777"/>
          </a:xfrm>
          <a:prstGeom prst="rect">
            <a:avLst/>
          </a:prstGeom>
          <a:noFill/>
        </p:spPr>
        <p:txBody>
          <a:bodyPr wrap="none" rtlCol="0">
            <a:spAutoFit/>
          </a:bodyPr>
          <a:lstStyle/>
          <a:p>
            <a:r>
              <a:rPr lang="en-US" b="1" dirty="0" smtClean="0">
                <a:solidFill>
                  <a:srgbClr val="FF0000"/>
                </a:solidFill>
                <a:effectLst>
                  <a:outerShdw blurRad="38100" dist="38100" dir="2700000" algn="tl">
                    <a:srgbClr val="000000">
                      <a:alpha val="43137"/>
                    </a:srgbClr>
                  </a:outerShdw>
                </a:effectLst>
              </a:rPr>
              <a:t>Diffusion Model</a:t>
            </a:r>
            <a:endParaRPr lang="en-IN"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198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7140" y="1126264"/>
            <a:ext cx="5984231" cy="1342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049382" y="3062626"/>
            <a:ext cx="9805852" cy="2308324"/>
          </a:xfrm>
          <a:prstGeom prst="rect">
            <a:avLst/>
          </a:prstGeom>
        </p:spPr>
        <p:txBody>
          <a:bodyPr wrap="square">
            <a:spAutoFit/>
          </a:bodyPr>
          <a:lstStyle/>
          <a:p>
            <a:pPr marL="342900" indent="-342900" algn="just">
              <a:buFont typeface="Arial" pitchFamily="34" charset="0"/>
              <a:buChar char="•"/>
            </a:pPr>
            <a:r>
              <a:rPr lang="en-US" sz="2400" dirty="0">
                <a:latin typeface="Bodoni MT" panose="02070603080606020203" pitchFamily="18" charset="0"/>
              </a:rPr>
              <a:t>A flow-based generative model is a type of generative model that learns a invertible mapping between a simple probability distribution (like Gaussian) and complex data (like images</a:t>
            </a:r>
            <a:r>
              <a:rPr lang="en-US" sz="2400" dirty="0" smtClean="0">
                <a:latin typeface="Bodoni MT" panose="02070603080606020203" pitchFamily="18" charset="0"/>
              </a:rPr>
              <a:t>).</a:t>
            </a:r>
          </a:p>
          <a:p>
            <a:pPr marL="342900" indent="-342900" algn="just">
              <a:buFont typeface="Arial" pitchFamily="34" charset="0"/>
              <a:buChar char="•"/>
            </a:pPr>
            <a:endParaRPr lang="en-US" sz="2400" dirty="0">
              <a:latin typeface="Bodoni MT" panose="02070603080606020203" pitchFamily="18" charset="0"/>
            </a:endParaRPr>
          </a:p>
          <a:p>
            <a:pPr marL="342900" indent="-342900" algn="just">
              <a:buFont typeface="Arial" pitchFamily="34" charset="0"/>
              <a:buChar char="•"/>
            </a:pPr>
            <a:r>
              <a:rPr lang="en-US" sz="2400" dirty="0">
                <a:latin typeface="Bodoni MT" panose="02070603080606020203" pitchFamily="18" charset="0"/>
              </a:rPr>
              <a:t>Instead of generating data directly, it transforms a simple distribution into data using invertible functions.</a:t>
            </a:r>
            <a:endParaRPr lang="en-IN" sz="2400" dirty="0">
              <a:latin typeface="Bodoni MT" panose="02070603080606020203" pitchFamily="18" charset="0"/>
            </a:endParaRPr>
          </a:p>
        </p:txBody>
      </p:sp>
    </p:spTree>
    <p:extLst>
      <p:ext uri="{BB962C8B-B14F-4D97-AF65-F5344CB8AC3E}">
        <p14:creationId xmlns:p14="http://schemas.microsoft.com/office/powerpoint/2010/main" val="36135239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404" y="1095375"/>
            <a:ext cx="8286115" cy="2980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724297" y="4506686"/>
            <a:ext cx="3825086" cy="2492990"/>
          </a:xfrm>
          <a:prstGeom prst="rect">
            <a:avLst/>
          </a:prstGeom>
          <a:noFill/>
        </p:spPr>
        <p:txBody>
          <a:bodyPr wrap="none" rtlCol="0">
            <a:spAutoFit/>
          </a:bodyPr>
          <a:lstStyle/>
          <a:p>
            <a:pPr>
              <a:lnSpc>
                <a:spcPct val="150000"/>
              </a:lnSpc>
            </a:pPr>
            <a:r>
              <a:rPr lang="en-US" sz="2400" b="1" u="sng" dirty="0">
                <a:latin typeface="Bodoni MT" panose="02070603080606020203" pitchFamily="18" charset="0"/>
              </a:rPr>
              <a:t>Important Concept</a:t>
            </a:r>
            <a:r>
              <a:rPr lang="en-US" sz="2400" b="1" u="sng" dirty="0" smtClean="0">
                <a:latin typeface="Bodoni MT" panose="02070603080606020203" pitchFamily="18" charset="0"/>
              </a:rPr>
              <a:t>:</a:t>
            </a:r>
          </a:p>
          <a:p>
            <a:pPr marL="342900" indent="-342900">
              <a:lnSpc>
                <a:spcPct val="150000"/>
              </a:lnSpc>
              <a:buFont typeface="Arial" pitchFamily="34" charset="0"/>
              <a:buChar char="•"/>
            </a:pPr>
            <a:r>
              <a:rPr lang="en-US" sz="2400" b="1" u="sng" dirty="0" smtClean="0">
                <a:latin typeface="Bodoni MT" panose="02070603080606020203" pitchFamily="18" charset="0"/>
              </a:rPr>
              <a:t>Invertible Transformation</a:t>
            </a:r>
          </a:p>
          <a:p>
            <a:pPr marL="342900" indent="-342900">
              <a:lnSpc>
                <a:spcPct val="150000"/>
              </a:lnSpc>
              <a:buFont typeface="Arial" pitchFamily="34" charset="0"/>
              <a:buChar char="•"/>
            </a:pPr>
            <a:r>
              <a:rPr lang="en-IN" sz="2400" b="1" u="sng" dirty="0" err="1">
                <a:latin typeface="Bodoni MT" panose="02070603080606020203" pitchFamily="18" charset="0"/>
              </a:rPr>
              <a:t>Jacobian</a:t>
            </a:r>
            <a:r>
              <a:rPr lang="en-IN" sz="2400" b="1" u="sng" dirty="0">
                <a:latin typeface="Bodoni MT" panose="02070603080606020203" pitchFamily="18" charset="0"/>
              </a:rPr>
              <a:t> Matrix</a:t>
            </a:r>
            <a:endParaRPr lang="en-US" sz="2400" b="1" u="sng" dirty="0">
              <a:latin typeface="Bodoni MT" panose="02070603080606020203" pitchFamily="18" charset="0"/>
            </a:endParaRPr>
          </a:p>
          <a:p>
            <a:endParaRPr lang="en-US" sz="2400" b="1" u="sng" dirty="0">
              <a:latin typeface="Bodoni MT" panose="02070603080606020203" pitchFamily="18" charset="0"/>
            </a:endParaRPr>
          </a:p>
          <a:p>
            <a:endParaRPr lang="en-IN" sz="2400" b="1" u="sng" dirty="0">
              <a:latin typeface="Bodoni MT" panose="02070603080606020203" pitchFamily="18" charset="0"/>
            </a:endParaRPr>
          </a:p>
        </p:txBody>
      </p:sp>
    </p:spTree>
    <p:extLst>
      <p:ext uri="{BB962C8B-B14F-4D97-AF65-F5344CB8AC3E}">
        <p14:creationId xmlns:p14="http://schemas.microsoft.com/office/powerpoint/2010/main" val="36564684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5189</TotalTime>
  <Words>696</Words>
  <Application>Microsoft Office PowerPoint</Application>
  <PresentationFormat>Custom</PresentationFormat>
  <Paragraphs>98</Paragraphs>
  <Slides>30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Bodoni MT</vt:lpstr>
      <vt:lpstr>Marcellus</vt:lpstr>
      <vt:lpstr>Nunito</vt:lpstr>
      <vt:lpstr>Calibri</vt:lpstr>
      <vt:lpstr>Arial Rounded MT Bold</vt:lpstr>
      <vt:lpstr>Fira Sans</vt:lpstr>
      <vt:lpstr>Wingdings</vt:lpstr>
      <vt:lpstr>Times New Roman</vt:lpstr>
      <vt:lpstr>Office Theme</vt:lpstr>
      <vt:lpstr>PowerPoint Presentation</vt:lpstr>
      <vt:lpstr>Autoencoder</vt:lpstr>
      <vt:lpstr>PowerPoint Presentation</vt:lpstr>
      <vt:lpstr>Training Objective (Loss Function)</vt:lpstr>
      <vt:lpstr>Encoder</vt:lpstr>
      <vt:lpstr>Decoder</vt:lpstr>
      <vt:lpstr>PowerPoint Presentation</vt:lpstr>
      <vt:lpstr>Variational Autoencoder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 Based Model</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Somaiya Vidyavihar University, MUMBAI   K J Somaiya School of Engineering    Department of Electronics engineering</dc:title>
  <dc:creator>etrx_pcb</dc:creator>
  <cp:lastModifiedBy>Admin</cp:lastModifiedBy>
  <cp:revision>451</cp:revision>
  <dcterms:modified xsi:type="dcterms:W3CDTF">2026-05-11T07:25:32Z</dcterms:modified>
</cp:coreProperties>
</file>