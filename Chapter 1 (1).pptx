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256" r:id="rId2"/>
    <p:sldId id="257" r:id="rId3"/>
    <p:sldId id="258" r:id="rId4"/>
    <p:sldId id="260" r:id="rId5"/>
    <p:sldId id="259"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90" r:id="rId33"/>
    <p:sldId id="289" r:id="rId34"/>
    <p:sldId id="288"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12192000" cy="6858000"/>
  <p:notesSz cx="6858000" cy="9144000"/>
  <p:embeddedFontLst>
    <p:embeddedFont>
      <p:font typeface="Calibri" pitchFamily="34" charset="0"/>
      <p:regular r:id="rId50"/>
      <p:bold r:id="rId51"/>
      <p:italic r:id="rId52"/>
      <p:boldItalic r:id="rId53"/>
    </p:embeddedFont>
    <p:embeddedFont>
      <p:font typeface="Arial Rounded MT Bold" pitchFamily="34" charset="0"/>
      <p:regular r:id="rId54"/>
    </p:embeddedFont>
    <p:embeddedFont>
      <p:font typeface="Cambria Math" pitchFamily="18" charset="0"/>
      <p:regular r:id="rId55"/>
    </p:embeddedFont>
    <p:embeddedFont>
      <p:font typeface="Fira Sans" charset="0"/>
      <p:regular r:id="rId56"/>
      <p:bold r:id="rId57"/>
      <p:italic r:id="rId58"/>
      <p:boldItalic r:id="rId59"/>
    </p:embeddedFont>
    <p:embeddedFont>
      <p:font typeface="Bodoni MT" pitchFamily="18" charset="0"/>
      <p:regular r:id="rId60"/>
      <p:bold r:id="rId61"/>
      <p:italic r:id="rId62"/>
      <p:boldItalic r:id="rId63"/>
    </p:embeddedFont>
    <p:embeddedFont>
      <p:font typeface="Marcellus" charset="0"/>
      <p:regular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guide id="3" orient="horz" pos="2161">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8" roundtripDataSignature="AMtx7miUfj2Zcl/98YbbylcoY+O6WfCW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8D71"/>
    <a:srgbClr val="F2F2F2"/>
    <a:srgbClr val="D5F828"/>
    <a:srgbClr val="4472C4"/>
    <a:srgbClr val="E14743"/>
    <a:srgbClr val="FF6969"/>
    <a:srgbClr val="49A50B"/>
    <a:srgbClr val="1C879C"/>
    <a:srgbClr val="5E60C2"/>
    <a:srgbClr val="C4C4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1E1C0AF1-BE56-44B4-ADF2-E3A76020D510}">
  <a:tblStyle styleId="{1E1C0AF1-BE56-44B4-ADF2-E3A76020D510}" styleName="Table_0">
    <a:wholeTbl>
      <a:tcTxStyle b="off" i="off">
        <a:font>
          <a:latin typeface="Fira Sans"/>
          <a:ea typeface="Fira Sans"/>
          <a:cs typeface="Fira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Fira Sans"/>
          <a:ea typeface="Fira Sans"/>
          <a:cs typeface="Fira Sans"/>
        </a:font>
        <a:schemeClr val="lt1"/>
      </a:tcTxStyle>
      <a:tcStyle>
        <a:tcBdr/>
        <a:fill>
          <a:solidFill>
            <a:schemeClr val="accent1"/>
          </a:solidFill>
        </a:fill>
      </a:tcStyle>
    </a:lastCol>
    <a:firstCol>
      <a:tcTxStyle b="on" i="off">
        <a:font>
          <a:latin typeface="Fira Sans"/>
          <a:ea typeface="Fira Sans"/>
          <a:cs typeface="Fira Sans"/>
        </a:font>
        <a:schemeClr val="lt1"/>
      </a:tcTxStyle>
      <a:tcStyle>
        <a:tcBdr/>
        <a:fill>
          <a:solidFill>
            <a:schemeClr val="accent1"/>
          </a:solidFill>
        </a:fill>
      </a:tcStyle>
    </a:firstCol>
    <a:lastRow>
      <a:tcTxStyle b="on" i="off">
        <a:font>
          <a:latin typeface="Fira Sans"/>
          <a:ea typeface="Fira Sans"/>
          <a:cs typeface="Fira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Fira Sans"/>
          <a:ea typeface="Fira Sans"/>
          <a:cs typeface="Fira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10AB5134-79C5-4A78-93EA-4AE2E9C41042}" styleName="Table_1">
    <a:wholeTbl>
      <a:tcTxStyle b="off" i="off">
        <a:font>
          <a:latin typeface="Arial"/>
          <a:ea typeface="Arial"/>
          <a:cs typeface="Arial"/>
        </a:font>
        <a:schemeClr val="dk1"/>
      </a:tcTxStyle>
      <a:tcStyle>
        <a:tcBdr>
          <a:left>
            <a:ln w="12700" cap="flat" cmpd="sng">
              <a:solidFill>
                <a:schemeClr val="accent3"/>
              </a:solidFill>
              <a:prstDash val="solid"/>
              <a:round/>
              <a:headEnd type="none" w="sm" len="sm"/>
              <a:tailEnd type="none" w="sm" len="sm"/>
            </a:ln>
          </a:left>
          <a:right>
            <a:ln w="12700" cap="flat" cmpd="sng">
              <a:solidFill>
                <a:schemeClr val="accent3"/>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12700" cap="flat" cmpd="sng">
              <a:solidFill>
                <a:schemeClr val="accent3"/>
              </a:solidFill>
              <a:prstDash val="solid"/>
              <a:round/>
              <a:headEnd type="none" w="sm" len="sm"/>
              <a:tailEnd type="none" w="sm" len="sm"/>
            </a:ln>
          </a:insideH>
          <a:insideV>
            <a:ln w="12700"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63D33542-5A3D-43B4-9FE6-77F4D52E408F}" styleName="Table_2">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 styleId="{95F3E337-99B2-4A2E-B937-D0C024B0EAE6}" styleName="Table_3">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0" d="100"/>
          <a:sy n="70" d="100"/>
        </p:scale>
        <p:origin x="-120" y="-156"/>
      </p:cViewPr>
      <p:guideLst>
        <p:guide orient="horz" pos="2160"/>
        <p:guide orient="horz" pos="216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font" Target="fonts/font14.fntdata"/><Relationship Id="rId7" Type="http://schemas.openxmlformats.org/officeDocument/2006/relationships/slide" Target="slides/slide6.xml"/><Relationship Id="rId170"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61"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168" Type="http://customschemas.google.com/relationships/presentationmetadata" Target="metadata"/><Relationship Id="rId172"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fntdata"/><Relationship Id="rId17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6378205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 name="Google Shape;7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8298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51"/>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 name="Google Shape;15;p51"/>
          <p:cNvSpPr/>
          <p:nvPr/>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 name="Google Shape;16;p51"/>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17" name="Google Shape;17;p5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5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4D4D4C"/>
              </a:buClr>
              <a:buSzPts val="2400"/>
              <a:buNone/>
              <a:defRPr sz="2400"/>
            </a:lvl1pPr>
            <a:lvl2pPr lvl="1" algn="ctr">
              <a:lnSpc>
                <a:spcPct val="90000"/>
              </a:lnSpc>
              <a:spcBef>
                <a:spcPts val="500"/>
              </a:spcBef>
              <a:spcAft>
                <a:spcPts val="0"/>
              </a:spcAft>
              <a:buClr>
                <a:srgbClr val="4D4D4C"/>
              </a:buClr>
              <a:buSzPts val="2000"/>
              <a:buNone/>
              <a:defRPr sz="2000"/>
            </a:lvl2pPr>
            <a:lvl3pPr lvl="2" algn="ctr">
              <a:lnSpc>
                <a:spcPct val="90000"/>
              </a:lnSpc>
              <a:spcBef>
                <a:spcPts val="500"/>
              </a:spcBef>
              <a:spcAft>
                <a:spcPts val="0"/>
              </a:spcAft>
              <a:buClr>
                <a:srgbClr val="4D4D4C"/>
              </a:buClr>
              <a:buSzPts val="1800"/>
              <a:buNone/>
              <a:defRPr sz="1800"/>
            </a:lvl3pPr>
            <a:lvl4pPr lvl="3" algn="ctr">
              <a:lnSpc>
                <a:spcPct val="90000"/>
              </a:lnSpc>
              <a:spcBef>
                <a:spcPts val="500"/>
              </a:spcBef>
              <a:spcAft>
                <a:spcPts val="0"/>
              </a:spcAft>
              <a:buClr>
                <a:srgbClr val="4D4D4C"/>
              </a:buClr>
              <a:buSzPts val="1600"/>
              <a:buNone/>
              <a:defRPr sz="1600"/>
            </a:lvl4pPr>
            <a:lvl5pPr lvl="4" algn="ctr">
              <a:lnSpc>
                <a:spcPct val="90000"/>
              </a:lnSpc>
              <a:spcBef>
                <a:spcPts val="500"/>
              </a:spcBef>
              <a:spcAft>
                <a:spcPts val="0"/>
              </a:spcAft>
              <a:buClr>
                <a:srgbClr val="4D4D4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51"/>
          <p:cNvSpPr txBox="1">
            <a:spLocks noGrp="1"/>
          </p:cNvSpPr>
          <p:nvPr>
            <p:ph type="dt" idx="10"/>
          </p:nvPr>
        </p:nvSpPr>
        <p:spPr>
          <a:xfrm>
            <a:off x="838200" y="6356350"/>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1"/>
          <p:cNvSpPr txBox="1">
            <a:spLocks noGrp="1"/>
          </p:cNvSpPr>
          <p:nvPr>
            <p:ph type="ftr" idx="11"/>
          </p:nvPr>
        </p:nvSpPr>
        <p:spPr>
          <a:xfrm>
            <a:off x="4038600" y="6356350"/>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1"/>
          <p:cNvSpPr txBox="1">
            <a:spLocks noGrp="1"/>
          </p:cNvSpPr>
          <p:nvPr>
            <p:ph type="sldNum" idx="12"/>
          </p:nvPr>
        </p:nvSpPr>
        <p:spPr>
          <a:xfrm>
            <a:off x="10169610" y="6356350"/>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
        <p:cNvGrpSpPr/>
        <p:nvPr/>
      </p:nvGrpSpPr>
      <p:grpSpPr>
        <a:xfrm>
          <a:off x="0" y="0"/>
          <a:ext cx="0" cy="0"/>
          <a:chOff x="0" y="0"/>
          <a:chExt cx="0" cy="0"/>
        </a:xfrm>
      </p:grpSpPr>
      <p:sp>
        <p:nvSpPr>
          <p:cNvPr id="51" name="Google Shape;51;p55"/>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 name="Google Shape;52;p55"/>
          <p:cNvSpPr/>
          <p:nvPr/>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 name="Google Shape;53;p55"/>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54" name="Google Shape;54;p55"/>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3200"/>
              <a:buFont typeface="Marcellu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4D4D4C"/>
              </a:buClr>
              <a:buSzPts val="3200"/>
              <a:buChar char="•"/>
              <a:defRPr sz="3200"/>
            </a:lvl1pPr>
            <a:lvl2pPr marL="914400" lvl="1" indent="-406400" algn="l">
              <a:lnSpc>
                <a:spcPct val="90000"/>
              </a:lnSpc>
              <a:spcBef>
                <a:spcPts val="500"/>
              </a:spcBef>
              <a:spcAft>
                <a:spcPts val="0"/>
              </a:spcAft>
              <a:buClr>
                <a:srgbClr val="4D4D4C"/>
              </a:buClr>
              <a:buSzPts val="2800"/>
              <a:buChar char="•"/>
              <a:defRPr sz="2800"/>
            </a:lvl2pPr>
            <a:lvl3pPr marL="1371600" lvl="2" indent="-381000" algn="l">
              <a:lnSpc>
                <a:spcPct val="90000"/>
              </a:lnSpc>
              <a:spcBef>
                <a:spcPts val="500"/>
              </a:spcBef>
              <a:spcAft>
                <a:spcPts val="0"/>
              </a:spcAft>
              <a:buClr>
                <a:srgbClr val="4D4D4C"/>
              </a:buClr>
              <a:buSzPts val="2400"/>
              <a:buChar char="•"/>
              <a:defRPr sz="2400"/>
            </a:lvl3pPr>
            <a:lvl4pPr marL="1828800" lvl="3" indent="-355600" algn="l">
              <a:lnSpc>
                <a:spcPct val="90000"/>
              </a:lnSpc>
              <a:spcBef>
                <a:spcPts val="500"/>
              </a:spcBef>
              <a:spcAft>
                <a:spcPts val="0"/>
              </a:spcAft>
              <a:buClr>
                <a:srgbClr val="4D4D4C"/>
              </a:buClr>
              <a:buSzPts val="2000"/>
              <a:buChar char="•"/>
              <a:defRPr sz="2000"/>
            </a:lvl4pPr>
            <a:lvl5pPr marL="2286000" lvl="4" indent="-355600" algn="l">
              <a:lnSpc>
                <a:spcPct val="90000"/>
              </a:lnSpc>
              <a:spcBef>
                <a:spcPts val="500"/>
              </a:spcBef>
              <a:spcAft>
                <a:spcPts val="0"/>
              </a:spcAft>
              <a:buClr>
                <a:srgbClr val="4D4D4C"/>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5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4D4D4C"/>
              </a:buClr>
              <a:buSzPts val="1600"/>
              <a:buNone/>
              <a:defRPr sz="1600"/>
            </a:lvl1pPr>
            <a:lvl2pPr marL="914400" lvl="1" indent="-228600" algn="l">
              <a:lnSpc>
                <a:spcPct val="90000"/>
              </a:lnSpc>
              <a:spcBef>
                <a:spcPts val="500"/>
              </a:spcBef>
              <a:spcAft>
                <a:spcPts val="0"/>
              </a:spcAft>
              <a:buClr>
                <a:srgbClr val="4D4D4C"/>
              </a:buClr>
              <a:buSzPts val="1400"/>
              <a:buNone/>
              <a:defRPr sz="1400"/>
            </a:lvl2pPr>
            <a:lvl3pPr marL="1371600" lvl="2" indent="-228600" algn="l">
              <a:lnSpc>
                <a:spcPct val="90000"/>
              </a:lnSpc>
              <a:spcBef>
                <a:spcPts val="500"/>
              </a:spcBef>
              <a:spcAft>
                <a:spcPts val="0"/>
              </a:spcAft>
              <a:buClr>
                <a:srgbClr val="4D4D4C"/>
              </a:buClr>
              <a:buSzPts val="1200"/>
              <a:buNone/>
              <a:defRPr sz="1200"/>
            </a:lvl3pPr>
            <a:lvl4pPr marL="1828800" lvl="3" indent="-228600" algn="l">
              <a:lnSpc>
                <a:spcPct val="90000"/>
              </a:lnSpc>
              <a:spcBef>
                <a:spcPts val="500"/>
              </a:spcBef>
              <a:spcAft>
                <a:spcPts val="0"/>
              </a:spcAft>
              <a:buClr>
                <a:srgbClr val="4D4D4C"/>
              </a:buClr>
              <a:buSzPts val="1000"/>
              <a:buNone/>
              <a:defRPr sz="1000"/>
            </a:lvl4pPr>
            <a:lvl5pPr marL="2286000" lvl="4" indent="-228600" algn="l">
              <a:lnSpc>
                <a:spcPct val="90000"/>
              </a:lnSpc>
              <a:spcBef>
                <a:spcPts val="500"/>
              </a:spcBef>
              <a:spcAft>
                <a:spcPts val="0"/>
              </a:spcAft>
              <a:buClr>
                <a:srgbClr val="4D4D4C"/>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55"/>
          <p:cNvSpPr txBox="1">
            <a:spLocks noGrp="1"/>
          </p:cNvSpPr>
          <p:nvPr>
            <p:ph type="dt" idx="10"/>
          </p:nvPr>
        </p:nvSpPr>
        <p:spPr>
          <a:xfrm>
            <a:off x="838200" y="6356350"/>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55"/>
          <p:cNvSpPr txBox="1">
            <a:spLocks noGrp="1"/>
          </p:cNvSpPr>
          <p:nvPr>
            <p:ph type="ftr" idx="11"/>
          </p:nvPr>
        </p:nvSpPr>
        <p:spPr>
          <a:xfrm>
            <a:off x="4038600" y="6356350"/>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55"/>
          <p:cNvSpPr txBox="1">
            <a:spLocks noGrp="1"/>
          </p:cNvSpPr>
          <p:nvPr>
            <p:ph type="sldNum" idx="12"/>
          </p:nvPr>
        </p:nvSpPr>
        <p:spPr>
          <a:xfrm>
            <a:off x="10169610" y="6356350"/>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0"/>
        <p:cNvGrpSpPr/>
        <p:nvPr/>
      </p:nvGrpSpPr>
      <p:grpSpPr>
        <a:xfrm>
          <a:off x="0" y="0"/>
          <a:ext cx="0" cy="0"/>
          <a:chOff x="0" y="0"/>
          <a:chExt cx="0" cy="0"/>
        </a:xfrm>
      </p:grpSpPr>
      <p:sp>
        <p:nvSpPr>
          <p:cNvPr id="61" name="Google Shape;61;p56"/>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56"/>
          <p:cNvSpPr/>
          <p:nvPr/>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 name="Google Shape;63;p56"/>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64" name="Google Shape;64;p56"/>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5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dt" idx="10"/>
          </p:nvPr>
        </p:nvSpPr>
        <p:spPr>
          <a:xfrm>
            <a:off x="838200" y="6356350"/>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6"/>
          <p:cNvSpPr txBox="1">
            <a:spLocks noGrp="1"/>
          </p:cNvSpPr>
          <p:nvPr>
            <p:ph type="ftr" idx="11"/>
          </p:nvPr>
        </p:nvSpPr>
        <p:spPr>
          <a:xfrm>
            <a:off x="4038600" y="6356350"/>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56"/>
          <p:cNvSpPr txBox="1">
            <a:spLocks noGrp="1"/>
          </p:cNvSpPr>
          <p:nvPr>
            <p:ph type="sldNum" idx="12"/>
          </p:nvPr>
        </p:nvSpPr>
        <p:spPr>
          <a:xfrm>
            <a:off x="10169610" y="6356350"/>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0"/>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A42530"/>
              </a:buClr>
              <a:buSzPts val="3600"/>
              <a:buFont typeface="Marcellus"/>
              <a:buNone/>
              <a:defRPr sz="3600" b="0" i="0" u="none" strike="noStrike" cap="none">
                <a:solidFill>
                  <a:srgbClr val="A42530"/>
                </a:solidFill>
                <a:latin typeface="Marcellus"/>
                <a:ea typeface="Marcellus"/>
                <a:cs typeface="Marcellus"/>
                <a:sym typeface="Marcellu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5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4D4D4C"/>
              </a:buClr>
              <a:buSzPts val="2800"/>
              <a:buFont typeface="Arial"/>
              <a:buChar char="•"/>
              <a:defRPr sz="2800" b="0" i="0" u="none" strike="noStrike" cap="none">
                <a:solidFill>
                  <a:srgbClr val="4D4D4C"/>
                </a:solidFill>
                <a:latin typeface="Fira Sans"/>
                <a:ea typeface="Fira Sans"/>
                <a:cs typeface="Fira Sans"/>
                <a:sym typeface="Fira Sans"/>
              </a:defRPr>
            </a:lvl1pPr>
            <a:lvl2pPr marL="914400" marR="0" lvl="1" indent="-381000" algn="l" rtl="0">
              <a:lnSpc>
                <a:spcPct val="90000"/>
              </a:lnSpc>
              <a:spcBef>
                <a:spcPts val="500"/>
              </a:spcBef>
              <a:spcAft>
                <a:spcPts val="0"/>
              </a:spcAft>
              <a:buClr>
                <a:srgbClr val="4D4D4C"/>
              </a:buClr>
              <a:buSzPts val="2400"/>
              <a:buFont typeface="Arial"/>
              <a:buChar char="•"/>
              <a:defRPr sz="2400" b="0" i="0" u="none" strike="noStrike" cap="none">
                <a:solidFill>
                  <a:srgbClr val="4D4D4C"/>
                </a:solidFill>
                <a:latin typeface="Fira Sans"/>
                <a:ea typeface="Fira Sans"/>
                <a:cs typeface="Fira Sans"/>
                <a:sym typeface="Fira Sans"/>
              </a:defRPr>
            </a:lvl2pPr>
            <a:lvl3pPr marL="1371600" marR="0" lvl="2" indent="-355600" algn="l" rtl="0">
              <a:lnSpc>
                <a:spcPct val="90000"/>
              </a:lnSpc>
              <a:spcBef>
                <a:spcPts val="500"/>
              </a:spcBef>
              <a:spcAft>
                <a:spcPts val="0"/>
              </a:spcAft>
              <a:buClr>
                <a:srgbClr val="4D4D4C"/>
              </a:buClr>
              <a:buSzPts val="2000"/>
              <a:buFont typeface="Arial"/>
              <a:buChar char="•"/>
              <a:defRPr sz="2000" b="0" i="0" u="none" strike="noStrike" cap="none">
                <a:solidFill>
                  <a:srgbClr val="4D4D4C"/>
                </a:solidFill>
                <a:latin typeface="Fira Sans"/>
                <a:ea typeface="Fira Sans"/>
                <a:cs typeface="Fira Sans"/>
                <a:sym typeface="Fira Sans"/>
              </a:defRPr>
            </a:lvl3pPr>
            <a:lvl4pPr marL="1828800" marR="0" lvl="3" indent="-342900" algn="l" rtl="0">
              <a:lnSpc>
                <a:spcPct val="90000"/>
              </a:lnSpc>
              <a:spcBef>
                <a:spcPts val="500"/>
              </a:spcBef>
              <a:spcAft>
                <a:spcPts val="0"/>
              </a:spcAft>
              <a:buClr>
                <a:srgbClr val="4D4D4C"/>
              </a:buClr>
              <a:buSzPts val="1800"/>
              <a:buFont typeface="Arial"/>
              <a:buChar char="•"/>
              <a:defRPr sz="1800" b="0" i="0" u="none" strike="noStrike" cap="none">
                <a:solidFill>
                  <a:srgbClr val="4D4D4C"/>
                </a:solidFill>
                <a:latin typeface="Fira Sans"/>
                <a:ea typeface="Fira Sans"/>
                <a:cs typeface="Fira Sans"/>
                <a:sym typeface="Fira Sans"/>
              </a:defRPr>
            </a:lvl4pPr>
            <a:lvl5pPr marL="2286000" marR="0" lvl="4" indent="-342900" algn="l" rtl="0">
              <a:lnSpc>
                <a:spcPct val="90000"/>
              </a:lnSpc>
              <a:spcBef>
                <a:spcPts val="500"/>
              </a:spcBef>
              <a:spcAft>
                <a:spcPts val="0"/>
              </a:spcAft>
              <a:buClr>
                <a:srgbClr val="4D4D4C"/>
              </a:buClr>
              <a:buSzPts val="1800"/>
              <a:buFont typeface="Arial"/>
              <a:buChar char="•"/>
              <a:defRPr sz="1800" b="0" i="0" u="none" strike="noStrike" cap="none">
                <a:solidFill>
                  <a:srgbClr val="4D4D4C"/>
                </a:solidFill>
                <a:latin typeface="Fira Sans"/>
                <a:ea typeface="Fira Sans"/>
                <a:cs typeface="Fira Sans"/>
                <a:sym typeface="Fira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50"/>
          <p:cNvSpPr txBox="1">
            <a:spLocks noGrp="1"/>
          </p:cNvSpPr>
          <p:nvPr>
            <p:ph type="dt" idx="10"/>
          </p:nvPr>
        </p:nvSpPr>
        <p:spPr>
          <a:xfrm>
            <a:off x="838200" y="6356350"/>
            <a:ext cx="2743200" cy="49649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Fira Sans"/>
                <a:ea typeface="Fira Sans"/>
                <a:cs typeface="Fira Sans"/>
                <a:sym typeface="Fir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50"/>
          <p:cNvSpPr txBox="1">
            <a:spLocks noGrp="1"/>
          </p:cNvSpPr>
          <p:nvPr>
            <p:ph type="ftr" idx="11"/>
          </p:nvPr>
        </p:nvSpPr>
        <p:spPr>
          <a:xfrm>
            <a:off x="4038600" y="6356350"/>
            <a:ext cx="4114800" cy="514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Fira Sans"/>
                <a:ea typeface="Fira Sans"/>
                <a:cs typeface="Fira Sans"/>
                <a:sym typeface="Fir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50"/>
          <p:cNvSpPr txBox="1">
            <a:spLocks noGrp="1"/>
          </p:cNvSpPr>
          <p:nvPr>
            <p:ph type="sldNum" idx="12"/>
          </p:nvPr>
        </p:nvSpPr>
        <p:spPr>
          <a:xfrm>
            <a:off x="10169610" y="6356350"/>
            <a:ext cx="2016210" cy="496491"/>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pPr marL="0" lvl="0" indent="0" algn="ctr" rtl="0">
              <a:spcBef>
                <a:spcPts val="0"/>
              </a:spcBef>
              <a:spcAft>
                <a:spcPts val="0"/>
              </a:spcAft>
              <a:buNone/>
            </a:pPr>
            <a:fld id="{00000000-1234-1234-1234-123412341234}" type="slidenum">
              <a:rPr lang="en-US"/>
              <a:t>‹#›</a:t>
            </a:fld>
            <a:endParaRPr/>
          </a:p>
        </p:txBody>
      </p:sp>
      <p:pic>
        <p:nvPicPr>
          <p:cNvPr id="11" name="Google Shape;11;p50" descr="A black and red text&#10;&#10;Description automatically generated"/>
          <p:cNvPicPr preferRelativeResize="0"/>
          <p:nvPr/>
        </p:nvPicPr>
        <p:blipFill rotWithShape="1">
          <a:blip r:embed="rId5">
            <a:alphaModFix/>
          </a:blip>
          <a:srcRect/>
          <a:stretch/>
        </p:blipFill>
        <p:spPr>
          <a:xfrm>
            <a:off x="71212" y="70072"/>
            <a:ext cx="2454684" cy="720000"/>
          </a:xfrm>
          <a:prstGeom prst="rect">
            <a:avLst/>
          </a:prstGeom>
          <a:noFill/>
          <a:ln>
            <a:noFill/>
          </a:ln>
        </p:spPr>
      </p:pic>
      <p:pic>
        <p:nvPicPr>
          <p:cNvPr id="12" name="Google Shape;12;p50" descr="Graphical user interface, text, application&#10;&#10;Description automatically generated"/>
          <p:cNvPicPr preferRelativeResize="0"/>
          <p:nvPr/>
        </p:nvPicPr>
        <p:blipFill rotWithShape="1">
          <a:blip r:embed="rId6">
            <a:alphaModFix/>
          </a:blip>
          <a:srcRect/>
          <a:stretch/>
        </p:blipFill>
        <p:spPr>
          <a:xfrm>
            <a:off x="11176478" y="26528"/>
            <a:ext cx="972000" cy="720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saturncloud.io/glossary/generative-ai" TargetMode="External"/><Relationship Id="rId2" Type="http://schemas.openxmlformats.org/officeDocument/2006/relationships/hyperlink" Target="https://saturncloud.io/glossary/loss-function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saturncloud.io/glossary/loss-functions-in-generative-ai/#types-of-loss-functions-in-generative-ai"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saturncloud.io/glossary/regularization"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5" name="Google Shape;75;p1"/>
          <p:cNvSpPr txBox="1"/>
          <p:nvPr/>
        </p:nvSpPr>
        <p:spPr>
          <a:xfrm>
            <a:off x="412897" y="6492875"/>
            <a:ext cx="27432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lt1"/>
              </a:solidFill>
              <a:latin typeface="Fira Sans"/>
              <a:ea typeface="Fira Sans"/>
              <a:cs typeface="Fira Sans"/>
              <a:sym typeface="Fira Sans"/>
            </a:endParaRPr>
          </a:p>
        </p:txBody>
      </p:sp>
      <p:sp>
        <p:nvSpPr>
          <p:cNvPr id="77" name="Google Shape;77;p1"/>
          <p:cNvSpPr txBox="1"/>
          <p:nvPr/>
        </p:nvSpPr>
        <p:spPr>
          <a:xfrm>
            <a:off x="8759455" y="6447612"/>
            <a:ext cx="2743200" cy="365125"/>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Fira Sans"/>
                <a:ea typeface="Fira Sans"/>
                <a:cs typeface="Fira Sans"/>
                <a:sym typeface="Fira Sans"/>
              </a:rPr>
              <a:t>1</a:t>
            </a:fld>
            <a:endParaRPr sz="1200" b="0" i="0" u="none" strike="noStrike" cap="none">
              <a:solidFill>
                <a:schemeClr val="lt1"/>
              </a:solidFill>
              <a:latin typeface="Fira Sans"/>
              <a:ea typeface="Fira Sans"/>
              <a:cs typeface="Fira Sans"/>
              <a:sym typeface="Fira Sans"/>
            </a:endParaRPr>
          </a:p>
        </p:txBody>
      </p:sp>
      <p:sp>
        <p:nvSpPr>
          <p:cNvPr id="3" name="Rectangle 2"/>
          <p:cNvSpPr/>
          <p:nvPr/>
        </p:nvSpPr>
        <p:spPr>
          <a:xfrm>
            <a:off x="3704272" y="2502952"/>
            <a:ext cx="5724644" cy="523220"/>
          </a:xfrm>
          <a:prstGeom prst="rect">
            <a:avLst/>
          </a:prstGeom>
        </p:spPr>
        <p:txBody>
          <a:bodyPr wrap="none">
            <a:spAutoFit/>
          </a:bodyPr>
          <a:lstStyle/>
          <a:p>
            <a:r>
              <a:rPr lang="en-IN" sz="2800" b="1" dirty="0">
                <a:latin typeface="Times New Roman" panose="02020603050405020304" pitchFamily="18" charset="0"/>
              </a:rPr>
              <a:t>Introduction to Generative AI </a:t>
            </a:r>
            <a:r>
              <a:rPr lang="en-IN" dirty="0">
                <a:latin typeface="Times New Roman" panose="02020603050405020304" pitchFamily="18" charset="0"/>
              </a:rPr>
              <a: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a:t>
            </a:fld>
            <a:endParaRPr lang="en-US"/>
          </a:p>
        </p:txBody>
      </p:sp>
      <p:sp>
        <p:nvSpPr>
          <p:cNvPr id="2" name="Rectangle 1"/>
          <p:cNvSpPr/>
          <p:nvPr/>
        </p:nvSpPr>
        <p:spPr>
          <a:xfrm>
            <a:off x="1216058" y="4864215"/>
            <a:ext cx="10529740" cy="1415772"/>
          </a:xfrm>
          <a:prstGeom prst="rect">
            <a:avLst/>
          </a:prstGeom>
        </p:spPr>
        <p:txBody>
          <a:bodyPr wrap="square">
            <a:spAutoFit/>
          </a:bodyPr>
          <a:lstStyle/>
          <a:p>
            <a:pPr marL="342900" indent="-342900">
              <a:buFont typeface="Wingdings" panose="05000000000000000000" pitchFamily="2" charset="2"/>
              <a:buChar char="q"/>
            </a:pPr>
            <a:r>
              <a:rPr lang="en-US" sz="2400" b="1" u="sng" dirty="0" smtClean="0">
                <a:solidFill>
                  <a:srgbClr val="C00000"/>
                </a:solidFill>
                <a:effectLst>
                  <a:outerShdw blurRad="38100" dist="38100" dir="2700000" algn="tl">
                    <a:srgbClr val="000000">
                      <a:alpha val="43137"/>
                    </a:srgbClr>
                  </a:outerShdw>
                </a:effectLst>
                <a:latin typeface="Arial Rounded MT Bold" panose="020F0704030504030204" pitchFamily="34" charset="0"/>
                <a:cs typeface="Alef" panose="00000500000000000000" pitchFamily="2" charset="-79"/>
              </a:rPr>
              <a:t>What is Generative AI </a:t>
            </a:r>
          </a:p>
          <a:p>
            <a:endParaRPr lang="en-US" dirty="0" smtClean="0"/>
          </a:p>
          <a:p>
            <a:pPr marL="285750" lvl="8" indent="-285750">
              <a:buFont typeface="Arial" panose="020B0604020202020204" pitchFamily="34" charset="0"/>
              <a:buChar char="•"/>
            </a:pPr>
            <a:r>
              <a:rPr lang="en-US" sz="2400" dirty="0" smtClean="0">
                <a:latin typeface="Bodoni MT" panose="02070603080606020203" pitchFamily="18" charset="0"/>
              </a:rPr>
              <a:t>A </a:t>
            </a:r>
            <a:r>
              <a:rPr lang="en-US" sz="2400" dirty="0">
                <a:latin typeface="Bodoni MT" panose="02070603080606020203" pitchFamily="18" charset="0"/>
              </a:rPr>
              <a:t>generative model describes </a:t>
            </a:r>
            <a:r>
              <a:rPr lang="en-US" sz="2400" b="1" dirty="0">
                <a:solidFill>
                  <a:srgbClr val="FF0000"/>
                </a:solidFill>
                <a:effectLst>
                  <a:outerShdw blurRad="38100" dist="38100" dir="2700000" algn="tl">
                    <a:srgbClr val="000000">
                      <a:alpha val="43137"/>
                    </a:srgbClr>
                  </a:outerShdw>
                </a:effectLst>
                <a:latin typeface="Bodoni MT" panose="02070603080606020203" pitchFamily="18" charset="0"/>
              </a:rPr>
              <a:t>how a dataset is generated</a:t>
            </a:r>
            <a:r>
              <a:rPr lang="en-US" sz="2400" dirty="0">
                <a:latin typeface="Bodoni MT" panose="02070603080606020203" pitchFamily="18" charset="0"/>
              </a:rPr>
              <a:t>, in terms of a </a:t>
            </a:r>
            <a:r>
              <a:rPr lang="en-US" sz="2400" b="1" dirty="0">
                <a:solidFill>
                  <a:srgbClr val="FF0000"/>
                </a:solidFill>
                <a:effectLst>
                  <a:outerShdw blurRad="38100" dist="38100" dir="2700000" algn="tl">
                    <a:srgbClr val="000000">
                      <a:alpha val="43137"/>
                    </a:srgbClr>
                  </a:outerShdw>
                </a:effectLst>
                <a:latin typeface="Bodoni MT" panose="02070603080606020203" pitchFamily="18" charset="0"/>
              </a:rPr>
              <a:t>probabilistic model.</a:t>
            </a:r>
            <a:endParaRPr lang="en-IN" sz="2400" b="1" dirty="0">
              <a:solidFill>
                <a:srgbClr val="FF0000"/>
              </a:solidFill>
              <a:effectLst>
                <a:outerShdw blurRad="38100" dist="38100" dir="2700000" algn="tl">
                  <a:srgbClr val="000000">
                    <a:alpha val="43137"/>
                  </a:srgbClr>
                </a:outerShdw>
              </a:effectLst>
              <a:latin typeface="Bodoni MT" panose="02070603080606020203"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378" y="895052"/>
            <a:ext cx="10944520" cy="3969163"/>
          </a:xfrm>
          <a:prstGeom prst="rect">
            <a:avLst/>
          </a:prstGeom>
        </p:spPr>
      </p:pic>
    </p:spTree>
    <p:extLst>
      <p:ext uri="{BB962C8B-B14F-4D97-AF65-F5344CB8AC3E}">
        <p14:creationId xmlns:p14="http://schemas.microsoft.com/office/powerpoint/2010/main" val="55610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pic>
        <p:nvPicPr>
          <p:cNvPr id="6" name="Picture 5"/>
          <p:cNvPicPr>
            <a:picLocks noChangeAspect="1"/>
          </p:cNvPicPr>
          <p:nvPr/>
        </p:nvPicPr>
        <p:blipFill>
          <a:blip r:embed="rId2"/>
          <a:stretch>
            <a:fillRect/>
          </a:stretch>
        </p:blipFill>
        <p:spPr>
          <a:xfrm>
            <a:off x="883195" y="1300948"/>
            <a:ext cx="10570255" cy="4135577"/>
          </a:xfrm>
          <a:prstGeom prst="rect">
            <a:avLst/>
          </a:prstGeom>
        </p:spPr>
      </p:pic>
      <p:sp>
        <p:nvSpPr>
          <p:cNvPr id="7" name="Rectangle 6"/>
          <p:cNvSpPr/>
          <p:nvPr/>
        </p:nvSpPr>
        <p:spPr>
          <a:xfrm>
            <a:off x="1172067" y="5433020"/>
            <a:ext cx="6096000" cy="923330"/>
          </a:xfrm>
          <a:prstGeom prst="rect">
            <a:avLst/>
          </a:prstGeom>
        </p:spPr>
        <p:txBody>
          <a:bodyPr>
            <a:spAutoFit/>
          </a:bodyPr>
          <a:lstStyle/>
          <a:p>
            <a:r>
              <a:rPr lang="en-US" sz="1800" dirty="0">
                <a:latin typeface="Bodoni MT" panose="02070603080606020203" pitchFamily="18" charset="0"/>
              </a:rPr>
              <a:t>Every observation is represented by a set of features—for image-generation tasks, these features correspond to pixel values.</a:t>
            </a:r>
            <a:endParaRPr lang="en-IN" sz="1800" dirty="0">
              <a:latin typeface="Bodoni MT" panose="02070603080606020203" pitchFamily="18" charset="0"/>
            </a:endParaRPr>
          </a:p>
        </p:txBody>
      </p:sp>
      <p:cxnSp>
        <p:nvCxnSpPr>
          <p:cNvPr id="9" name="Curved Connector 8"/>
          <p:cNvCxnSpPr>
            <a:endCxn id="7" idx="0"/>
          </p:cNvCxnSpPr>
          <p:nvPr/>
        </p:nvCxnSpPr>
        <p:spPr>
          <a:xfrm rot="10800000" flipV="1">
            <a:off x="4220068" y="5109018"/>
            <a:ext cx="842129" cy="324001"/>
          </a:xfrm>
          <a:prstGeom prst="curvedConnector2">
            <a:avLst/>
          </a:prstGeom>
          <a:ln w="41275">
            <a:tailEnd type="triangle"/>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2790741" y="746520"/>
            <a:ext cx="4542912" cy="646331"/>
          </a:xfrm>
          <a:prstGeom prst="rect">
            <a:avLst/>
          </a:prstGeom>
        </p:spPr>
        <p:txBody>
          <a:bodyPr wrap="square">
            <a:spAutoFit/>
          </a:bodyPr>
          <a:lstStyle/>
          <a:p>
            <a:r>
              <a:rPr lang="en-US" sz="1800" dirty="0" smtClean="0">
                <a:latin typeface="Bodoni MT" panose="02070603080606020203" pitchFamily="18" charset="0"/>
              </a:rPr>
              <a:t>A </a:t>
            </a:r>
            <a:r>
              <a:rPr lang="en-US" sz="1800" dirty="0">
                <a:latin typeface="Bodoni MT" panose="02070603080606020203" pitchFamily="18" charset="0"/>
              </a:rPr>
              <a:t>function that takes random noise and produces new data.</a:t>
            </a:r>
            <a:endParaRPr lang="en-IN" sz="1800" dirty="0">
              <a:latin typeface="Bodoni MT" panose="02070603080606020203" pitchFamily="18" charset="0"/>
            </a:endParaRPr>
          </a:p>
        </p:txBody>
      </p:sp>
      <p:cxnSp>
        <p:nvCxnSpPr>
          <p:cNvPr id="13" name="Elbow Connector 12"/>
          <p:cNvCxnSpPr/>
          <p:nvPr/>
        </p:nvCxnSpPr>
        <p:spPr>
          <a:xfrm rot="10800000">
            <a:off x="5062198" y="1182757"/>
            <a:ext cx="722377" cy="457200"/>
          </a:xfrm>
          <a:prstGeom prst="bentConnector3">
            <a:avLst>
              <a:gd name="adj1" fmla="val 468"/>
            </a:avLst>
          </a:prstGeom>
          <a:ln w="34925">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7777399" y="3759332"/>
            <a:ext cx="4408421" cy="1200329"/>
          </a:xfrm>
          <a:prstGeom prst="rect">
            <a:avLst/>
          </a:prstGeom>
        </p:spPr>
        <p:txBody>
          <a:bodyPr wrap="square">
            <a:spAutoFit/>
          </a:bodyPr>
          <a:lstStyle/>
          <a:p>
            <a:pPr algn="just"/>
            <a:r>
              <a:rPr lang="en-US" sz="1800" dirty="0">
                <a:latin typeface="Bodoni MT" panose="02070603080606020203" pitchFamily="18" charset="0"/>
              </a:rPr>
              <a:t>Random noise is essential in generative models because it gives the model the ability to generate many different outputs, not the same image every time.</a:t>
            </a:r>
            <a:endParaRPr lang="en-IN" sz="1800" dirty="0">
              <a:latin typeface="Bodoni MT" panose="02070603080606020203" pitchFamily="18" charset="0"/>
            </a:endParaRPr>
          </a:p>
        </p:txBody>
      </p:sp>
      <p:cxnSp>
        <p:nvCxnSpPr>
          <p:cNvPr id="21" name="Elbow Connector 20"/>
          <p:cNvCxnSpPr/>
          <p:nvPr/>
        </p:nvCxnSpPr>
        <p:spPr>
          <a:xfrm>
            <a:off x="6480313" y="3129394"/>
            <a:ext cx="1960732" cy="629938"/>
          </a:xfrm>
          <a:prstGeom prst="bentConnector2">
            <a:avLst/>
          </a:prstGeom>
          <a:ln w="34925">
            <a:tailEnd type="triangle"/>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8352474" y="841922"/>
            <a:ext cx="3875515" cy="646331"/>
          </a:xfrm>
          <a:prstGeom prst="rect">
            <a:avLst/>
          </a:prstGeom>
        </p:spPr>
        <p:txBody>
          <a:bodyPr wrap="square">
            <a:spAutoFit/>
          </a:bodyPr>
          <a:lstStyle/>
          <a:p>
            <a:r>
              <a:rPr lang="en-US" sz="1800" dirty="0">
                <a:latin typeface="Bodoni MT" panose="02070603080606020203" pitchFamily="18" charset="0"/>
              </a:rPr>
              <a:t>Sampling = Creating a new example from the model</a:t>
            </a:r>
            <a:endParaRPr lang="en-IN" sz="1800" dirty="0">
              <a:latin typeface="Bodoni MT" panose="02070603080606020203" pitchFamily="18" charset="0"/>
            </a:endParaRPr>
          </a:p>
        </p:txBody>
      </p:sp>
      <p:cxnSp>
        <p:nvCxnSpPr>
          <p:cNvPr id="12" name="Elbow Connector 11"/>
          <p:cNvCxnSpPr>
            <a:endCxn id="2" idx="1"/>
          </p:cNvCxnSpPr>
          <p:nvPr/>
        </p:nvCxnSpPr>
        <p:spPr>
          <a:xfrm flipV="1">
            <a:off x="7747004" y="1165088"/>
            <a:ext cx="605470" cy="551765"/>
          </a:xfrm>
          <a:prstGeom prst="bentConnector3">
            <a:avLst>
              <a:gd name="adj1" fmla="val 4849"/>
            </a:avLst>
          </a:prstGeom>
          <a:ln w="34925">
            <a:tailEnd type="triangle"/>
          </a:ln>
        </p:spPr>
        <p:style>
          <a:lnRef idx="1">
            <a:schemeClr val="dk1"/>
          </a:lnRef>
          <a:fillRef idx="0">
            <a:schemeClr val="dk1"/>
          </a:fillRef>
          <a:effectRef idx="0">
            <a:schemeClr val="dk1"/>
          </a:effectRef>
          <a:fontRef idx="minor">
            <a:schemeClr val="tx1"/>
          </a:fontRef>
        </p:style>
      </p:cxnSp>
      <p:sp>
        <p:nvSpPr>
          <p:cNvPr id="14" name="Rectangle 13"/>
          <p:cNvSpPr/>
          <p:nvPr/>
        </p:nvSpPr>
        <p:spPr>
          <a:xfrm>
            <a:off x="2790741" y="153264"/>
            <a:ext cx="3256020" cy="461665"/>
          </a:xfrm>
          <a:prstGeom prst="rect">
            <a:avLst/>
          </a:prstGeom>
          <a:solidFill>
            <a:schemeClr val="accent2">
              <a:lumMod val="40000"/>
              <a:lumOff val="60000"/>
            </a:schemeClr>
          </a:solidFill>
        </p:spPr>
        <p:txBody>
          <a:bodyPr wrap="none">
            <a:spAutoFit/>
          </a:bodyPr>
          <a:lstStyle/>
          <a:p>
            <a:pPr marL="342900" indent="-342900">
              <a:buFont typeface="Wingdings" panose="05000000000000000000" pitchFamily="2" charset="2"/>
              <a:buChar char="q"/>
            </a:pPr>
            <a:r>
              <a:rPr lang="en-US" sz="2400" u="sng" dirty="0" smtClean="0">
                <a:latin typeface="Arial Rounded MT Bold" panose="020F0704030504030204" pitchFamily="34" charset="0"/>
                <a:cs typeface="Alef" panose="00000500000000000000" pitchFamily="2" charset="-79"/>
              </a:rPr>
              <a:t>Generative  </a:t>
            </a:r>
            <a:r>
              <a:rPr lang="en-US" sz="2400" u="sng" dirty="0">
                <a:latin typeface="Arial Rounded MT Bold" panose="020F0704030504030204" pitchFamily="34" charset="0"/>
                <a:cs typeface="Alef" panose="00000500000000000000" pitchFamily="2" charset="-79"/>
              </a:rPr>
              <a:t>model</a:t>
            </a:r>
            <a:endParaRPr lang="en-IN" sz="2400" u="sng" dirty="0">
              <a:latin typeface="Arial Rounded MT Bold" panose="020F0704030504030204" pitchFamily="34" charset="0"/>
              <a:cs typeface="Alef" panose="00000500000000000000" pitchFamily="2" charset="-79"/>
            </a:endParaRPr>
          </a:p>
        </p:txBody>
      </p:sp>
    </p:spTree>
    <p:extLst>
      <p:ext uri="{BB962C8B-B14F-4D97-AF65-F5344CB8AC3E}">
        <p14:creationId xmlns:p14="http://schemas.microsoft.com/office/powerpoint/2010/main" val="156967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anim calcmode="lin" valueType="num">
                                      <p:cBhvr>
                                        <p:cTn id="32" dur="1000" fill="hold"/>
                                        <p:tgtEl>
                                          <p:spTgt spid="21"/>
                                        </p:tgtEl>
                                        <p:attrNameLst>
                                          <p:attrName>ppt_x</p:attrName>
                                        </p:attrNameLst>
                                      </p:cBhvr>
                                      <p:tavLst>
                                        <p:tav tm="0">
                                          <p:val>
                                            <p:strVal val="#ppt_x"/>
                                          </p:val>
                                        </p:tav>
                                        <p:tav tm="100000">
                                          <p:val>
                                            <p:strVal val="#ppt_x"/>
                                          </p:val>
                                        </p:tav>
                                      </p:tavLst>
                                    </p:anim>
                                    <p:anim calcmode="lin" valueType="num">
                                      <p:cBhvr>
                                        <p:cTn id="33" dur="1000" fill="hold"/>
                                        <p:tgtEl>
                                          <p:spTgt spid="2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1000"/>
                                        <p:tgtEl>
                                          <p:spTgt spid="15"/>
                                        </p:tgtEl>
                                      </p:cBhvr>
                                    </p:animEffect>
                                    <p:anim calcmode="lin" valueType="num">
                                      <p:cBhvr>
                                        <p:cTn id="37" dur="1000" fill="hold"/>
                                        <p:tgtEl>
                                          <p:spTgt spid="15"/>
                                        </p:tgtEl>
                                        <p:attrNameLst>
                                          <p:attrName>ppt_x</p:attrName>
                                        </p:attrNameLst>
                                      </p:cBhvr>
                                      <p:tavLst>
                                        <p:tav tm="0">
                                          <p:val>
                                            <p:strVal val="#ppt_x"/>
                                          </p:val>
                                        </p:tav>
                                        <p:tav tm="100000">
                                          <p:val>
                                            <p:strVal val="#ppt_x"/>
                                          </p:val>
                                        </p:tav>
                                      </p:tavLst>
                                    </p:anim>
                                    <p:anim calcmode="lin" valueType="num">
                                      <p:cBhvr>
                                        <p:cTn id="3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1000"/>
                                        <p:tgtEl>
                                          <p:spTgt spid="2"/>
                                        </p:tgtEl>
                                      </p:cBhvr>
                                    </p:animEffect>
                                    <p:anim calcmode="lin" valueType="num">
                                      <p:cBhvr>
                                        <p:cTn id="49" dur="1000" fill="hold"/>
                                        <p:tgtEl>
                                          <p:spTgt spid="2"/>
                                        </p:tgtEl>
                                        <p:attrNameLst>
                                          <p:attrName>ppt_x</p:attrName>
                                        </p:attrNameLst>
                                      </p:cBhvr>
                                      <p:tavLst>
                                        <p:tav tm="0">
                                          <p:val>
                                            <p:strVal val="#ppt_x"/>
                                          </p:val>
                                        </p:tav>
                                        <p:tav tm="100000">
                                          <p:val>
                                            <p:strVal val="#ppt_x"/>
                                          </p:val>
                                        </p:tav>
                                      </p:tavLst>
                                    </p:anim>
                                    <p:anim calcmode="lin" valueType="num">
                                      <p:cBhvr>
                                        <p:cTn id="5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sp>
        <p:nvSpPr>
          <p:cNvPr id="6" name="Rectangle 5"/>
          <p:cNvSpPr/>
          <p:nvPr/>
        </p:nvSpPr>
        <p:spPr>
          <a:xfrm>
            <a:off x="407251" y="974971"/>
            <a:ext cx="6131807" cy="461665"/>
          </a:xfrm>
          <a:prstGeom prst="rect">
            <a:avLst/>
          </a:prstGeom>
          <a:solidFill>
            <a:schemeClr val="accent2">
              <a:lumMod val="40000"/>
              <a:lumOff val="60000"/>
            </a:schemeClr>
          </a:solidFill>
        </p:spPr>
        <p:txBody>
          <a:bodyPr wrap="none">
            <a:spAutoFit/>
          </a:bodyPr>
          <a:lstStyle/>
          <a:p>
            <a:pPr marL="342900" indent="-342900">
              <a:buFont typeface="Wingdings" panose="05000000000000000000" pitchFamily="2" charset="2"/>
              <a:buChar char="q"/>
            </a:pPr>
            <a:r>
              <a:rPr lang="en-US" sz="2400" u="sng" dirty="0">
                <a:latin typeface="Arial Rounded MT Bold" panose="020F0704030504030204" pitchFamily="34" charset="0"/>
                <a:cs typeface="Alef" panose="00000500000000000000" pitchFamily="2" charset="-79"/>
              </a:rPr>
              <a:t>Why is it called a probabilistic model?</a:t>
            </a:r>
            <a:endParaRPr lang="en-IN" sz="2400" u="sng" dirty="0">
              <a:latin typeface="Arial Rounded MT Bold" panose="020F0704030504030204" pitchFamily="34" charset="0"/>
              <a:cs typeface="Alef" panose="00000500000000000000" pitchFamily="2" charset="-79"/>
            </a:endParaRPr>
          </a:p>
        </p:txBody>
      </p:sp>
      <p:sp>
        <p:nvSpPr>
          <p:cNvPr id="7" name="Rectangle 6"/>
          <p:cNvSpPr/>
          <p:nvPr/>
        </p:nvSpPr>
        <p:spPr>
          <a:xfrm>
            <a:off x="782319" y="1781649"/>
            <a:ext cx="11409681" cy="3970318"/>
          </a:xfrm>
          <a:prstGeom prst="rect">
            <a:avLst/>
          </a:prstGeom>
        </p:spPr>
        <p:txBody>
          <a:bodyPr wrap="square">
            <a:spAutoFit/>
          </a:bodyPr>
          <a:lstStyle/>
          <a:p>
            <a:pPr marL="342900" indent="-342900">
              <a:buFont typeface="Arial" panose="020B0604020202020204" pitchFamily="34" charset="0"/>
              <a:buChar char="•"/>
            </a:pPr>
            <a:r>
              <a:rPr lang="en-US" sz="2400" dirty="0" smtClean="0">
                <a:latin typeface="Bodoni MT" panose="02070603080606020203" pitchFamily="18" charset="0"/>
                <a:sym typeface="Fira Sans"/>
              </a:rPr>
              <a:t>Because the model learns and uses probabilities — not fixed rules — to generate new data.</a:t>
            </a:r>
          </a:p>
          <a:p>
            <a:pPr marL="342900" indent="-342900">
              <a:lnSpc>
                <a:spcPct val="150000"/>
              </a:lnSpc>
              <a:buFont typeface="Arial" panose="020B0604020202020204" pitchFamily="34" charset="0"/>
              <a:buChar char="•"/>
            </a:pPr>
            <a:r>
              <a:rPr lang="en-US" sz="2400" b="1" dirty="0">
                <a:latin typeface="Bodoni MT" panose="02070603080606020203" pitchFamily="18" charset="0"/>
              </a:rPr>
              <a:t>In simple words:</a:t>
            </a:r>
          </a:p>
          <a:p>
            <a:pPr marL="457200" lvl="2" indent="-457200">
              <a:lnSpc>
                <a:spcPct val="150000"/>
              </a:lnSpc>
              <a:buFont typeface="+mj-lt"/>
              <a:buAutoNum type="alphaUcPeriod"/>
            </a:pPr>
            <a:r>
              <a:rPr lang="en-US" sz="2400" dirty="0">
                <a:latin typeface="Bodoni MT" panose="02070603080606020203" pitchFamily="18" charset="0"/>
              </a:rPr>
              <a:t>The model learns </a:t>
            </a:r>
            <a:r>
              <a:rPr lang="en-US" sz="2400" b="1" dirty="0">
                <a:latin typeface="Bodoni MT" panose="02070603080606020203" pitchFamily="18" charset="0"/>
              </a:rPr>
              <a:t>which kinds of images are more likely</a:t>
            </a:r>
            <a:r>
              <a:rPr lang="en-US" sz="2400" dirty="0">
                <a:latin typeface="Bodoni MT" panose="02070603080606020203" pitchFamily="18" charset="0"/>
              </a:rPr>
              <a:t> and which are less likely.</a:t>
            </a:r>
          </a:p>
          <a:p>
            <a:pPr marL="457200" lvl="2" indent="-457200">
              <a:lnSpc>
                <a:spcPct val="150000"/>
              </a:lnSpc>
              <a:buFont typeface="+mj-lt"/>
              <a:buAutoNum type="alphaUcPeriod"/>
            </a:pPr>
            <a:r>
              <a:rPr lang="en-US" sz="2400" dirty="0">
                <a:latin typeface="Bodoni MT" panose="02070603080606020203" pitchFamily="18" charset="0"/>
              </a:rPr>
              <a:t>It uses </a:t>
            </a:r>
            <a:r>
              <a:rPr lang="en-US" sz="2400" b="1" dirty="0">
                <a:latin typeface="Bodoni MT" panose="02070603080606020203" pitchFamily="18" charset="0"/>
              </a:rPr>
              <a:t>randomness</a:t>
            </a:r>
            <a:r>
              <a:rPr lang="en-US" sz="2400" dirty="0">
                <a:latin typeface="Bodoni MT" panose="02070603080606020203" pitchFamily="18" charset="0"/>
              </a:rPr>
              <a:t> (probabilities) to decide what type of image to generate.</a:t>
            </a:r>
          </a:p>
          <a:p>
            <a:pPr marL="457200" lvl="2" indent="-457200">
              <a:lnSpc>
                <a:spcPct val="150000"/>
              </a:lnSpc>
              <a:buFont typeface="+mj-lt"/>
              <a:buAutoNum type="alphaUcPeriod"/>
            </a:pPr>
            <a:r>
              <a:rPr lang="en-US" sz="2400" dirty="0">
                <a:latin typeface="Bodoni MT" panose="02070603080606020203" pitchFamily="18" charset="0"/>
              </a:rPr>
              <a:t>So the output is never fixed — it depends on </a:t>
            </a:r>
            <a:r>
              <a:rPr lang="en-US" sz="2400" b="1" dirty="0">
                <a:latin typeface="Bodoni MT" panose="02070603080606020203" pitchFamily="18" charset="0"/>
              </a:rPr>
              <a:t>chance</a:t>
            </a:r>
            <a:r>
              <a:rPr lang="en-US" sz="2400" dirty="0">
                <a:latin typeface="Bodoni MT" panose="02070603080606020203" pitchFamily="18" charset="0"/>
              </a:rPr>
              <a:t> and the learned probability distribution.</a:t>
            </a:r>
          </a:p>
          <a:p>
            <a:pPr marL="342900" indent="-342900">
              <a:buFont typeface="Arial" panose="020B0604020202020204" pitchFamily="34" charset="0"/>
              <a:buChar char="•"/>
            </a:pPr>
            <a:endParaRPr lang="en-IN" sz="2400" dirty="0">
              <a:latin typeface="Bodoni MT" panose="02070603080606020203" pitchFamily="18" charset="0"/>
              <a:sym typeface="Fira Sans"/>
            </a:endParaRPr>
          </a:p>
        </p:txBody>
      </p:sp>
    </p:spTree>
    <p:extLst>
      <p:ext uri="{BB962C8B-B14F-4D97-AF65-F5344CB8AC3E}">
        <p14:creationId xmlns:p14="http://schemas.microsoft.com/office/powerpoint/2010/main" val="61315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sp>
        <p:nvSpPr>
          <p:cNvPr id="6" name="Rectangle 1"/>
          <p:cNvSpPr>
            <a:spLocks noGrp="1" noChangeArrowheads="1"/>
          </p:cNvSpPr>
          <p:nvPr>
            <p:ph type="body" idx="1"/>
          </p:nvPr>
        </p:nvSpPr>
        <p:spPr bwMode="auto">
          <a:xfrm>
            <a:off x="941894" y="759457"/>
            <a:ext cx="1132237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150000"/>
              </a:lnSpc>
              <a:spcBef>
                <a:spcPct val="0"/>
              </a:spcBef>
              <a:spcAft>
                <a:spcPct val="0"/>
              </a:spcAft>
              <a:buClrTx/>
              <a:buSzTx/>
            </a:pPr>
            <a:r>
              <a:rPr lang="en-US" altLang="en-US" sz="2800" dirty="0">
                <a:solidFill>
                  <a:srgbClr val="000000"/>
                </a:solidFill>
                <a:latin typeface="Bodoni MT" panose="02070603080606020203" pitchFamily="18" charset="0"/>
                <a:ea typeface="Arial"/>
                <a:cs typeface="Arial"/>
                <a:sym typeface="Arial"/>
              </a:rPr>
              <a:t>A </a:t>
            </a:r>
            <a:r>
              <a:rPr lang="en-US" altLang="en-US" sz="2800" b="1" dirty="0">
                <a:solidFill>
                  <a:srgbClr val="FF0000"/>
                </a:solidFill>
                <a:effectLst>
                  <a:outerShdw blurRad="38100" dist="38100" dir="2700000" algn="tl">
                    <a:srgbClr val="000000">
                      <a:alpha val="43137"/>
                    </a:srgbClr>
                  </a:outerShdw>
                </a:effectLst>
                <a:latin typeface="Bodoni MT" panose="02070603080606020203" pitchFamily="18" charset="0"/>
                <a:ea typeface="Arial"/>
                <a:cs typeface="Arial"/>
                <a:sym typeface="Arial"/>
              </a:rPr>
              <a:t>generative model </a:t>
            </a:r>
            <a:r>
              <a:rPr lang="en-US" altLang="en-US" sz="2800" dirty="0">
                <a:solidFill>
                  <a:srgbClr val="000000"/>
                </a:solidFill>
                <a:latin typeface="Bodoni MT" panose="02070603080606020203" pitchFamily="18" charset="0"/>
                <a:ea typeface="Arial"/>
                <a:cs typeface="Arial"/>
                <a:sym typeface="Arial"/>
              </a:rPr>
              <a:t>learns the </a:t>
            </a:r>
            <a:r>
              <a:rPr lang="en-US" altLang="en-US" sz="2800" b="1" dirty="0">
                <a:solidFill>
                  <a:srgbClr val="FF0000"/>
                </a:solidFill>
                <a:effectLst>
                  <a:outerShdw blurRad="38100" dist="38100" dir="2700000" algn="tl">
                    <a:srgbClr val="000000">
                      <a:alpha val="43137"/>
                    </a:srgbClr>
                  </a:outerShdw>
                </a:effectLst>
                <a:latin typeface="Bodoni MT" panose="02070603080606020203" pitchFamily="18" charset="0"/>
                <a:ea typeface="Arial"/>
                <a:cs typeface="Arial"/>
                <a:sym typeface="Arial"/>
              </a:rPr>
              <a:t>patterns of the training data </a:t>
            </a:r>
            <a:r>
              <a:rPr lang="en-US" altLang="en-US" sz="2800" dirty="0">
                <a:solidFill>
                  <a:srgbClr val="000000"/>
                </a:solidFill>
                <a:latin typeface="Bodoni MT" panose="02070603080606020203" pitchFamily="18" charset="0"/>
                <a:ea typeface="Arial"/>
                <a:cs typeface="Arial"/>
                <a:sym typeface="Arial"/>
              </a:rPr>
              <a:t>(e.g., horse images).</a:t>
            </a:r>
          </a:p>
          <a:p>
            <a:pPr marL="342900" indent="-342900" eaLnBrk="0" fontAlgn="base" hangingPunct="0">
              <a:lnSpc>
                <a:spcPct val="150000"/>
              </a:lnSpc>
              <a:spcBef>
                <a:spcPct val="0"/>
              </a:spcBef>
              <a:spcAft>
                <a:spcPct val="0"/>
              </a:spcAft>
              <a:buClrTx/>
              <a:buSzTx/>
            </a:pPr>
            <a:r>
              <a:rPr lang="en-US" altLang="en-US" sz="2800" dirty="0">
                <a:solidFill>
                  <a:srgbClr val="000000"/>
                </a:solidFill>
                <a:latin typeface="Bodoni MT" panose="02070603080606020203" pitchFamily="18" charset="0"/>
                <a:ea typeface="Arial"/>
                <a:cs typeface="Arial"/>
                <a:sym typeface="Arial"/>
              </a:rPr>
              <a:t>We give the </a:t>
            </a:r>
            <a:r>
              <a:rPr lang="en-US" altLang="en-US" sz="2800" b="1" dirty="0">
                <a:solidFill>
                  <a:srgbClr val="FF0000"/>
                </a:solidFill>
                <a:effectLst>
                  <a:outerShdw blurRad="38100" dist="38100" dir="2700000" algn="tl">
                    <a:srgbClr val="000000">
                      <a:alpha val="43137"/>
                    </a:srgbClr>
                  </a:outerShdw>
                </a:effectLst>
                <a:latin typeface="Bodoni MT" panose="02070603080606020203" pitchFamily="18" charset="0"/>
                <a:ea typeface="Arial"/>
                <a:cs typeface="Arial"/>
                <a:sym typeface="Arial"/>
              </a:rPr>
              <a:t>model random noise </a:t>
            </a:r>
            <a:r>
              <a:rPr lang="en-US" altLang="en-US" sz="2800" dirty="0">
                <a:solidFill>
                  <a:srgbClr val="000000"/>
                </a:solidFill>
                <a:latin typeface="Bodoni MT" panose="02070603080606020203" pitchFamily="18" charset="0"/>
                <a:ea typeface="Arial"/>
                <a:cs typeface="Arial"/>
                <a:sym typeface="Arial"/>
              </a:rPr>
              <a:t>(just meaningless random numbers).</a:t>
            </a:r>
          </a:p>
          <a:p>
            <a:pPr marL="342900" indent="-342900" eaLnBrk="0" fontAlgn="base" hangingPunct="0">
              <a:lnSpc>
                <a:spcPct val="150000"/>
              </a:lnSpc>
              <a:spcBef>
                <a:spcPct val="0"/>
              </a:spcBef>
              <a:spcAft>
                <a:spcPct val="0"/>
              </a:spcAft>
              <a:buClrTx/>
              <a:buSzTx/>
            </a:pPr>
            <a:r>
              <a:rPr lang="en-US" altLang="en-US" sz="2800" dirty="0">
                <a:solidFill>
                  <a:srgbClr val="000000"/>
                </a:solidFill>
                <a:latin typeface="Bodoni MT" panose="02070603080606020203" pitchFamily="18" charset="0"/>
                <a:ea typeface="Arial"/>
                <a:cs typeface="Arial"/>
                <a:sym typeface="Arial"/>
              </a:rPr>
              <a:t>The model uses </a:t>
            </a:r>
            <a:r>
              <a:rPr lang="en-US" altLang="en-US" sz="2800" b="1" dirty="0">
                <a:solidFill>
                  <a:srgbClr val="FF0000"/>
                </a:solidFill>
                <a:effectLst>
                  <a:outerShdw blurRad="38100" dist="38100" dir="2700000" algn="tl">
                    <a:srgbClr val="000000">
                      <a:alpha val="43137"/>
                    </a:srgbClr>
                  </a:outerShdw>
                </a:effectLst>
                <a:latin typeface="Bodoni MT" panose="02070603080606020203" pitchFamily="18" charset="0"/>
                <a:ea typeface="Arial"/>
                <a:cs typeface="Arial"/>
                <a:sym typeface="Arial"/>
              </a:rPr>
              <a:t>this randomness to create new samples </a:t>
            </a:r>
            <a:r>
              <a:rPr lang="en-US" altLang="en-US" sz="2800" dirty="0">
                <a:solidFill>
                  <a:srgbClr val="000000"/>
                </a:solidFill>
                <a:latin typeface="Bodoni MT" panose="02070603080606020203" pitchFamily="18" charset="0"/>
                <a:ea typeface="Arial"/>
                <a:cs typeface="Arial"/>
                <a:sym typeface="Arial"/>
              </a:rPr>
              <a:t>that look like real data.</a:t>
            </a:r>
          </a:p>
          <a:p>
            <a:pPr marL="342900" indent="-342900" eaLnBrk="0" fontAlgn="base" hangingPunct="0">
              <a:lnSpc>
                <a:spcPct val="150000"/>
              </a:lnSpc>
              <a:spcBef>
                <a:spcPct val="0"/>
              </a:spcBef>
              <a:spcAft>
                <a:spcPct val="0"/>
              </a:spcAft>
              <a:buClrTx/>
              <a:buSzTx/>
            </a:pPr>
            <a:r>
              <a:rPr lang="en-US" altLang="en-US" sz="2800" dirty="0">
                <a:solidFill>
                  <a:srgbClr val="000000"/>
                </a:solidFill>
                <a:latin typeface="Bodoni MT" panose="02070603080606020203" pitchFamily="18" charset="0"/>
                <a:ea typeface="Arial"/>
                <a:cs typeface="Arial"/>
                <a:sym typeface="Arial"/>
              </a:rPr>
              <a:t>This randomness </a:t>
            </a:r>
            <a:r>
              <a:rPr lang="en-US" altLang="en-US" sz="2800" b="1" dirty="0">
                <a:solidFill>
                  <a:srgbClr val="FF0000"/>
                </a:solidFill>
                <a:effectLst>
                  <a:outerShdw blurRad="38100" dist="38100" dir="2700000" algn="tl">
                    <a:srgbClr val="000000">
                      <a:alpha val="43137"/>
                    </a:srgbClr>
                  </a:outerShdw>
                </a:effectLst>
                <a:latin typeface="Bodoni MT" panose="02070603080606020203" pitchFamily="18" charset="0"/>
                <a:ea typeface="Arial"/>
                <a:cs typeface="Arial"/>
                <a:sym typeface="Arial"/>
              </a:rPr>
              <a:t>makes the model stochastic</a:t>
            </a:r>
            <a:r>
              <a:rPr lang="en-US" altLang="en-US" sz="2800" dirty="0">
                <a:solidFill>
                  <a:srgbClr val="000000"/>
                </a:solidFill>
                <a:latin typeface="Bodoni MT" panose="02070603080606020203" pitchFamily="18" charset="0"/>
                <a:ea typeface="Arial"/>
                <a:cs typeface="Arial"/>
                <a:sym typeface="Arial"/>
              </a:rPr>
              <a:t>, so every output is different.</a:t>
            </a:r>
          </a:p>
          <a:p>
            <a:pPr marL="342900" indent="-342900" eaLnBrk="0" fontAlgn="base" hangingPunct="0">
              <a:lnSpc>
                <a:spcPct val="150000"/>
              </a:lnSpc>
              <a:spcBef>
                <a:spcPct val="0"/>
              </a:spcBef>
              <a:spcAft>
                <a:spcPct val="0"/>
              </a:spcAft>
              <a:buClrTx/>
              <a:buSzTx/>
            </a:pPr>
            <a:r>
              <a:rPr lang="en-US" altLang="en-US" sz="2800" dirty="0">
                <a:solidFill>
                  <a:srgbClr val="000000"/>
                </a:solidFill>
                <a:latin typeface="Bodoni MT" panose="02070603080606020203" pitchFamily="18" charset="0"/>
                <a:ea typeface="Arial"/>
                <a:cs typeface="Arial"/>
                <a:sym typeface="Arial"/>
              </a:rPr>
              <a:t>Generating a </a:t>
            </a:r>
            <a:r>
              <a:rPr lang="en-US" altLang="en-US" sz="2800" b="1" dirty="0">
                <a:solidFill>
                  <a:srgbClr val="FF0000"/>
                </a:solidFill>
                <a:effectLst>
                  <a:outerShdw blurRad="38100" dist="38100" dir="2700000" algn="tl">
                    <a:srgbClr val="000000">
                      <a:alpha val="43137"/>
                    </a:srgbClr>
                  </a:outerShdw>
                </a:effectLst>
                <a:latin typeface="Bodoni MT" panose="02070603080606020203" pitchFamily="18" charset="0"/>
                <a:ea typeface="Arial"/>
                <a:cs typeface="Arial"/>
                <a:sym typeface="Arial"/>
              </a:rPr>
              <a:t>new image </a:t>
            </a:r>
            <a:r>
              <a:rPr lang="en-US" altLang="en-US" sz="2800" dirty="0">
                <a:solidFill>
                  <a:srgbClr val="000000"/>
                </a:solidFill>
                <a:latin typeface="Bodoni MT" panose="02070603080606020203" pitchFamily="18" charset="0"/>
                <a:ea typeface="Arial"/>
                <a:cs typeface="Arial"/>
                <a:sym typeface="Arial"/>
              </a:rPr>
              <a:t>from noise is called </a:t>
            </a:r>
            <a:r>
              <a:rPr lang="en-US" altLang="en-US" sz="2800" b="1" dirty="0">
                <a:solidFill>
                  <a:srgbClr val="FF0000"/>
                </a:solidFill>
                <a:effectLst>
                  <a:outerShdw blurRad="38100" dist="38100" dir="2700000" algn="tl">
                    <a:srgbClr val="000000">
                      <a:alpha val="43137"/>
                    </a:srgbClr>
                  </a:outerShdw>
                </a:effectLst>
                <a:latin typeface="Bodoni MT" panose="02070603080606020203" pitchFamily="18" charset="0"/>
                <a:ea typeface="Arial"/>
                <a:cs typeface="Arial"/>
                <a:sym typeface="Arial"/>
              </a:rPr>
              <a:t>sampling</a:t>
            </a:r>
            <a:r>
              <a:rPr lang="en-US" altLang="en-US" sz="2800" dirty="0">
                <a:solidFill>
                  <a:srgbClr val="000000"/>
                </a:solidFill>
                <a:latin typeface="Bodoni MT" panose="02070603080606020203" pitchFamily="18" charset="0"/>
                <a:ea typeface="Arial"/>
                <a:cs typeface="Arial"/>
                <a:sym typeface="Arial"/>
              </a:rPr>
              <a:t>.</a:t>
            </a:r>
          </a:p>
        </p:txBody>
      </p:sp>
    </p:spTree>
    <p:extLst>
      <p:ext uri="{BB962C8B-B14F-4D97-AF65-F5344CB8AC3E}">
        <p14:creationId xmlns:p14="http://schemas.microsoft.com/office/powerpoint/2010/main" val="810973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pic>
        <p:nvPicPr>
          <p:cNvPr id="6" name="Picture 5"/>
          <p:cNvPicPr>
            <a:picLocks noChangeAspect="1"/>
          </p:cNvPicPr>
          <p:nvPr/>
        </p:nvPicPr>
        <p:blipFill>
          <a:blip r:embed="rId2"/>
          <a:stretch>
            <a:fillRect/>
          </a:stretch>
        </p:blipFill>
        <p:spPr>
          <a:xfrm>
            <a:off x="1117963" y="1675734"/>
            <a:ext cx="10224478" cy="3283892"/>
          </a:xfrm>
          <a:prstGeom prst="rect">
            <a:avLst/>
          </a:prstGeom>
        </p:spPr>
      </p:pic>
      <p:sp>
        <p:nvSpPr>
          <p:cNvPr id="2" name="Rectangle 1"/>
          <p:cNvSpPr/>
          <p:nvPr/>
        </p:nvSpPr>
        <p:spPr>
          <a:xfrm>
            <a:off x="1117962" y="1020521"/>
            <a:ext cx="3300904" cy="461665"/>
          </a:xfrm>
          <a:prstGeom prst="rect">
            <a:avLst/>
          </a:prstGeom>
          <a:solidFill>
            <a:schemeClr val="accent2">
              <a:lumMod val="40000"/>
              <a:lumOff val="60000"/>
            </a:schemeClr>
          </a:solidFill>
        </p:spPr>
        <p:txBody>
          <a:bodyPr wrap="none">
            <a:spAutoFit/>
          </a:bodyPr>
          <a:lstStyle/>
          <a:p>
            <a:pPr marL="342900" indent="-342900">
              <a:buFont typeface="Wingdings" panose="05000000000000000000" pitchFamily="2" charset="2"/>
              <a:buChar char="q"/>
            </a:pPr>
            <a:r>
              <a:rPr lang="en-US" sz="2400" u="sng" dirty="0" err="1">
                <a:latin typeface="Arial Rounded MT Bold" panose="020F0704030504030204" pitchFamily="34" charset="0"/>
                <a:cs typeface="Alef" panose="00000500000000000000" pitchFamily="2" charset="-79"/>
              </a:rPr>
              <a:t>Discrimitive</a:t>
            </a:r>
            <a:r>
              <a:rPr lang="en-US" sz="2400" u="sng" dirty="0">
                <a:latin typeface="Arial Rounded MT Bold" panose="020F0704030504030204" pitchFamily="34" charset="0"/>
                <a:cs typeface="Alef" panose="00000500000000000000" pitchFamily="2" charset="-79"/>
              </a:rPr>
              <a:t> model</a:t>
            </a:r>
            <a:endParaRPr lang="en-IN" sz="2400" u="sng" dirty="0">
              <a:latin typeface="Arial Rounded MT Bold" panose="020F0704030504030204" pitchFamily="34" charset="0"/>
              <a:cs typeface="Alef" panose="00000500000000000000" pitchFamily="2" charset="-79"/>
            </a:endParaRPr>
          </a:p>
        </p:txBody>
      </p:sp>
    </p:spTree>
    <p:extLst>
      <p:ext uri="{BB962C8B-B14F-4D97-AF65-F5344CB8AC3E}">
        <p14:creationId xmlns:p14="http://schemas.microsoft.com/office/powerpoint/2010/main" val="6884247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sp>
        <p:nvSpPr>
          <p:cNvPr id="6" name="Rectangle 5"/>
          <p:cNvSpPr/>
          <p:nvPr/>
        </p:nvSpPr>
        <p:spPr>
          <a:xfrm>
            <a:off x="407251" y="974971"/>
            <a:ext cx="9600705" cy="461665"/>
          </a:xfrm>
          <a:prstGeom prst="rect">
            <a:avLst/>
          </a:prstGeom>
          <a:solidFill>
            <a:schemeClr val="accent2">
              <a:lumMod val="40000"/>
              <a:lumOff val="60000"/>
            </a:schemeClr>
          </a:solidFill>
        </p:spPr>
        <p:txBody>
          <a:bodyPr wrap="none">
            <a:spAutoFit/>
          </a:bodyPr>
          <a:lstStyle/>
          <a:p>
            <a:pPr marL="342900" indent="-342900">
              <a:buFont typeface="Wingdings" panose="05000000000000000000" pitchFamily="2" charset="2"/>
              <a:buChar char="q"/>
            </a:pPr>
            <a:r>
              <a:rPr lang="en-US" sz="2400" u="sng" dirty="0" smtClean="0">
                <a:latin typeface="Arial Rounded MT Bold" panose="020F0704030504030204" pitchFamily="34" charset="0"/>
                <a:cs typeface="Alef" panose="00000500000000000000" pitchFamily="2" charset="-79"/>
              </a:rPr>
              <a:t>Difference Between Generative Model and </a:t>
            </a:r>
            <a:r>
              <a:rPr lang="en-US" sz="2400" u="sng" dirty="0" err="1" smtClean="0">
                <a:latin typeface="Arial Rounded MT Bold" panose="020F0704030504030204" pitchFamily="34" charset="0"/>
                <a:cs typeface="Alef" panose="00000500000000000000" pitchFamily="2" charset="-79"/>
              </a:rPr>
              <a:t>Discrimitive</a:t>
            </a:r>
            <a:r>
              <a:rPr lang="en-US" sz="2400" u="sng" dirty="0" smtClean="0">
                <a:latin typeface="Arial Rounded MT Bold" panose="020F0704030504030204" pitchFamily="34" charset="0"/>
                <a:cs typeface="Alef" panose="00000500000000000000" pitchFamily="2" charset="-79"/>
              </a:rPr>
              <a:t> model</a:t>
            </a:r>
            <a:endParaRPr lang="en-IN" sz="2400" u="sng" dirty="0">
              <a:latin typeface="Arial Rounded MT Bold" panose="020F0704030504030204" pitchFamily="34" charset="0"/>
              <a:cs typeface="Alef" panose="00000500000000000000" pitchFamily="2" charset="-79"/>
            </a:endParaRPr>
          </a:p>
        </p:txBody>
      </p:sp>
      <p:sp>
        <p:nvSpPr>
          <p:cNvPr id="7" name="Rectangle 6"/>
          <p:cNvSpPr/>
          <p:nvPr/>
        </p:nvSpPr>
        <p:spPr>
          <a:xfrm>
            <a:off x="782319" y="1781649"/>
            <a:ext cx="11409681" cy="2862322"/>
          </a:xfrm>
          <a:prstGeom prst="rect">
            <a:avLst/>
          </a:prstGeom>
        </p:spPr>
        <p:txBody>
          <a:bodyPr wrap="square">
            <a:spAutoFit/>
          </a:bodyPr>
          <a:lstStyle/>
          <a:p>
            <a:pPr marL="342900" indent="-342900">
              <a:buFont typeface="Arial" panose="020B0604020202020204" pitchFamily="34" charset="0"/>
              <a:buChar char="•"/>
            </a:pPr>
            <a:r>
              <a:rPr lang="en-IN" sz="2400" b="1" u="sng" dirty="0">
                <a:solidFill>
                  <a:srgbClr val="C00000"/>
                </a:solidFill>
                <a:effectLst>
                  <a:outerShdw blurRad="38100" dist="38100" dir="2700000" algn="tl">
                    <a:srgbClr val="000000">
                      <a:alpha val="43137"/>
                    </a:srgbClr>
                  </a:outerShdw>
                </a:effectLst>
                <a:latin typeface="Bodoni MT" panose="02070603080606020203" pitchFamily="18" charset="0"/>
              </a:rPr>
              <a:t>Discriminative </a:t>
            </a:r>
            <a:r>
              <a:rPr lang="en-IN" sz="2400" b="1" u="sng" dirty="0" smtClean="0">
                <a:solidFill>
                  <a:srgbClr val="C00000"/>
                </a:solidFill>
                <a:effectLst>
                  <a:outerShdw blurRad="38100" dist="38100" dir="2700000" algn="tl">
                    <a:srgbClr val="000000">
                      <a:alpha val="43137"/>
                    </a:srgbClr>
                  </a:outerShdw>
                </a:effectLst>
                <a:latin typeface="Bodoni MT" panose="02070603080606020203" pitchFamily="18" charset="0"/>
              </a:rPr>
              <a:t>Models</a:t>
            </a:r>
          </a:p>
          <a:p>
            <a:pPr marL="342900" lvl="8" indent="-342900">
              <a:buFont typeface="Arial" panose="020B0604020202020204" pitchFamily="34" charset="0"/>
              <a:buChar char="•"/>
            </a:pPr>
            <a:endParaRPr lang="en-IN" sz="2400" b="1" u="sng" dirty="0">
              <a:solidFill>
                <a:srgbClr val="C00000"/>
              </a:solidFill>
              <a:effectLst>
                <a:outerShdw blurRad="38100" dist="38100" dir="2700000" algn="tl">
                  <a:srgbClr val="000000">
                    <a:alpha val="43137"/>
                  </a:srgbClr>
                </a:outerShdw>
              </a:effectLst>
              <a:latin typeface="Bodoni MT" panose="02070603080606020203" pitchFamily="18" charset="0"/>
              <a:sym typeface="Fira Sans"/>
            </a:endParaRPr>
          </a:p>
          <a:p>
            <a:pPr marL="457200" lvl="8" indent="-457200">
              <a:lnSpc>
                <a:spcPct val="150000"/>
              </a:lnSpc>
              <a:buFont typeface="+mj-lt"/>
              <a:buAutoNum type="arabicPeriod"/>
            </a:pPr>
            <a:r>
              <a:rPr lang="en-IN" sz="2400" dirty="0" smtClean="0">
                <a:latin typeface="Bodoni MT" panose="02070603080606020203" pitchFamily="18" charset="0"/>
                <a:sym typeface="Fira Sans"/>
              </a:rPr>
              <a:t>Goal  ------------------- </a:t>
            </a:r>
            <a:r>
              <a:rPr lang="en-IN" sz="2400" dirty="0">
                <a:latin typeface="Bodoni MT" panose="02070603080606020203" pitchFamily="18" charset="0"/>
                <a:sym typeface="Fira Sans"/>
              </a:rPr>
              <a:t>Prediction or </a:t>
            </a:r>
            <a:r>
              <a:rPr lang="en-IN" sz="2400" dirty="0" smtClean="0">
                <a:latin typeface="Bodoni MT" panose="02070603080606020203" pitchFamily="18" charset="0"/>
                <a:sym typeface="Fira Sans"/>
              </a:rPr>
              <a:t>Classification</a:t>
            </a:r>
          </a:p>
          <a:p>
            <a:pPr marL="457200" lvl="8" indent="-457200">
              <a:lnSpc>
                <a:spcPct val="150000"/>
              </a:lnSpc>
              <a:buFont typeface="+mj-lt"/>
              <a:buAutoNum type="arabicPeriod"/>
            </a:pPr>
            <a:r>
              <a:rPr lang="en-IN" sz="2400" dirty="0" smtClean="0">
                <a:latin typeface="Bodoni MT" panose="02070603080606020203" pitchFamily="18" charset="0"/>
                <a:sym typeface="Fira Sans"/>
              </a:rPr>
              <a:t>It is Supervised learning -------------------------- It requires labelled data</a:t>
            </a:r>
          </a:p>
          <a:p>
            <a:pPr marL="457200" lvl="8" indent="-457200">
              <a:lnSpc>
                <a:spcPct val="150000"/>
              </a:lnSpc>
              <a:buFont typeface="+mj-lt"/>
              <a:buAutoNum type="arabicPeriod"/>
            </a:pPr>
            <a:r>
              <a:rPr lang="en-IN" sz="2400" dirty="0" smtClean="0">
                <a:latin typeface="Bodoni MT" panose="02070603080606020203" pitchFamily="18" charset="0"/>
                <a:sym typeface="Fira Sans"/>
              </a:rPr>
              <a:t>Sufficient training data is required for better prediction accuracy.</a:t>
            </a:r>
          </a:p>
          <a:p>
            <a:pPr marL="457200" lvl="8" indent="-457200">
              <a:buFont typeface="+mj-lt"/>
              <a:buAutoNum type="arabicPeriod"/>
            </a:pPr>
            <a:endParaRPr lang="en-IN" sz="2400" dirty="0">
              <a:latin typeface="Bodoni MT" panose="02070603080606020203" pitchFamily="18" charset="0"/>
              <a:sym typeface="Fira Sans"/>
            </a:endParaRPr>
          </a:p>
        </p:txBody>
      </p:sp>
      <p:sp>
        <p:nvSpPr>
          <p:cNvPr id="12" name="TextBox 11"/>
          <p:cNvSpPr txBox="1"/>
          <p:nvPr/>
        </p:nvSpPr>
        <p:spPr>
          <a:xfrm>
            <a:off x="366611" y="4595218"/>
            <a:ext cx="11337710" cy="954107"/>
          </a:xfrm>
          <a:prstGeom prst="rect">
            <a:avLst/>
          </a:prstGeom>
          <a:noFill/>
        </p:spPr>
        <p:txBody>
          <a:bodyPr wrap="square" rtlCol="0">
            <a:spAutoFit/>
          </a:bodyPr>
          <a:lstStyle/>
          <a:p>
            <a:pPr marL="457200" indent="-457200">
              <a:buFont typeface="Wingdings" panose="05000000000000000000" pitchFamily="2" charset="2"/>
              <a:buChar char="v"/>
            </a:pPr>
            <a:r>
              <a:rPr lang="en-US" sz="2800" b="1" dirty="0">
                <a:solidFill>
                  <a:srgbClr val="7030A0"/>
                </a:solidFill>
                <a:effectLst>
                  <a:outerShdw blurRad="38100" dist="38100" dir="2700000" algn="tl">
                    <a:srgbClr val="000000">
                      <a:alpha val="43137"/>
                    </a:srgbClr>
                  </a:outerShdw>
                </a:effectLst>
                <a:latin typeface="Bodoni MT" panose="02070603080606020203" pitchFamily="18" charset="0"/>
                <a:sym typeface="Fira Sans"/>
              </a:rPr>
              <a:t>A discriminative model learns a function that maps input features to output labels using a labeled dataset.</a:t>
            </a:r>
            <a:endParaRPr lang="en-IN" sz="2800" b="1" dirty="0">
              <a:solidFill>
                <a:srgbClr val="7030A0"/>
              </a:solidFill>
              <a:effectLst>
                <a:outerShdw blurRad="38100" dist="38100" dir="2700000" algn="tl">
                  <a:srgbClr val="000000">
                    <a:alpha val="43137"/>
                  </a:srgbClr>
                </a:outerShdw>
              </a:effectLst>
              <a:latin typeface="Bodoni MT" panose="02070603080606020203" pitchFamily="18" charset="0"/>
              <a:sym typeface="Fira Sans"/>
            </a:endParaRPr>
          </a:p>
        </p:txBody>
      </p:sp>
    </p:spTree>
    <p:extLst>
      <p:ext uri="{BB962C8B-B14F-4D97-AF65-F5344CB8AC3E}">
        <p14:creationId xmlns:p14="http://schemas.microsoft.com/office/powerpoint/2010/main" val="341439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1000"/>
                                        <p:tgtEl>
                                          <p:spTgt spid="7">
                                            <p:txEl>
                                              <p:pRg st="3" end="3"/>
                                            </p:txEl>
                                          </p:spTgt>
                                        </p:tgtEl>
                                      </p:cBhvr>
                                    </p:animEffect>
                                    <p:anim calcmode="lin" valueType="num">
                                      <p:cBhvr>
                                        <p:cTn id="2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fade">
                                      <p:cBhvr>
                                        <p:cTn id="28" dur="1000"/>
                                        <p:tgtEl>
                                          <p:spTgt spid="7">
                                            <p:txEl>
                                              <p:pRg st="4" end="4"/>
                                            </p:txEl>
                                          </p:spTgt>
                                        </p:tgtEl>
                                      </p:cBhvr>
                                    </p:animEffect>
                                    <p:anim calcmode="lin" valueType="num">
                                      <p:cBhvr>
                                        <p:cTn id="2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pic>
        <p:nvPicPr>
          <p:cNvPr id="5" name="Picture 4"/>
          <p:cNvPicPr>
            <a:picLocks noChangeAspect="1"/>
          </p:cNvPicPr>
          <p:nvPr/>
        </p:nvPicPr>
        <p:blipFill>
          <a:blip r:embed="rId2"/>
          <a:stretch>
            <a:fillRect/>
          </a:stretch>
        </p:blipFill>
        <p:spPr>
          <a:xfrm>
            <a:off x="1412047" y="1142149"/>
            <a:ext cx="9689962" cy="1580632"/>
          </a:xfrm>
          <a:prstGeom prst="rect">
            <a:avLst/>
          </a:prstGeom>
        </p:spPr>
      </p:pic>
      <p:pic>
        <p:nvPicPr>
          <p:cNvPr id="6" name="Picture 5"/>
          <p:cNvPicPr>
            <a:picLocks noChangeAspect="1"/>
          </p:cNvPicPr>
          <p:nvPr/>
        </p:nvPicPr>
        <p:blipFill>
          <a:blip r:embed="rId3"/>
          <a:stretch>
            <a:fillRect/>
          </a:stretch>
        </p:blipFill>
        <p:spPr>
          <a:xfrm>
            <a:off x="1412047" y="3234743"/>
            <a:ext cx="9689962" cy="2291413"/>
          </a:xfrm>
          <a:prstGeom prst="rect">
            <a:avLst/>
          </a:prstGeom>
        </p:spPr>
      </p:pic>
      <p:cxnSp>
        <p:nvCxnSpPr>
          <p:cNvPr id="8" name="Elbow Connector 7"/>
          <p:cNvCxnSpPr/>
          <p:nvPr/>
        </p:nvCxnSpPr>
        <p:spPr>
          <a:xfrm flipV="1">
            <a:off x="5208104" y="3179634"/>
            <a:ext cx="1510748" cy="621640"/>
          </a:xfrm>
          <a:prstGeom prst="bentConnector3">
            <a:avLst>
              <a:gd name="adj1" fmla="val 0"/>
            </a:avLst>
          </a:prstGeom>
          <a:ln w="34925">
            <a:tailEnd type="triangle"/>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6718852" y="2937823"/>
            <a:ext cx="4976042" cy="400110"/>
          </a:xfrm>
          <a:prstGeom prst="rect">
            <a:avLst/>
          </a:prstGeom>
          <a:noFill/>
        </p:spPr>
        <p:txBody>
          <a:bodyPr wrap="none" rtlCol="0">
            <a:spAutoFit/>
          </a:bodyPr>
          <a:lstStyle/>
          <a:p>
            <a:r>
              <a:rPr lang="en-IN" sz="2000" b="1" dirty="0" err="1" smtClean="0">
                <a:solidFill>
                  <a:srgbClr val="FF0000"/>
                </a:solidFill>
                <a:effectLst>
                  <a:outerShdw blurRad="38100" dist="38100" dir="2700000" algn="tl">
                    <a:srgbClr val="000000">
                      <a:alpha val="43137"/>
                    </a:srgbClr>
                  </a:outerShdw>
                </a:effectLst>
                <a:latin typeface="Bodoni MT" panose="02070603080606020203" pitchFamily="18" charset="0"/>
                <a:sym typeface="Fira Sans"/>
              </a:rPr>
              <a:t>Unlabeled</a:t>
            </a:r>
            <a:r>
              <a:rPr lang="en-IN" sz="2000" b="1" dirty="0" smtClean="0">
                <a:solidFill>
                  <a:srgbClr val="FF0000"/>
                </a:solidFill>
                <a:effectLst>
                  <a:outerShdw blurRad="38100" dist="38100" dir="2700000" algn="tl">
                    <a:srgbClr val="000000">
                      <a:alpha val="43137"/>
                    </a:srgbClr>
                  </a:outerShdw>
                </a:effectLst>
                <a:latin typeface="Bodoni MT" panose="02070603080606020203" pitchFamily="18" charset="0"/>
                <a:sym typeface="Fira Sans"/>
              </a:rPr>
              <a:t> </a:t>
            </a:r>
            <a:r>
              <a:rPr lang="en-IN" sz="2000" b="1" dirty="0">
                <a:solidFill>
                  <a:srgbClr val="FF0000"/>
                </a:solidFill>
                <a:effectLst>
                  <a:outerShdw blurRad="38100" dist="38100" dir="2700000" algn="tl">
                    <a:srgbClr val="000000">
                      <a:alpha val="43137"/>
                    </a:srgbClr>
                  </a:outerShdw>
                </a:effectLst>
                <a:latin typeface="Bodoni MT" panose="02070603080606020203" pitchFamily="18" charset="0"/>
                <a:sym typeface="Fira Sans"/>
              </a:rPr>
              <a:t>data ------- </a:t>
            </a:r>
            <a:r>
              <a:rPr lang="en-IN" sz="2000" b="1" dirty="0" smtClean="0">
                <a:solidFill>
                  <a:srgbClr val="FF0000"/>
                </a:solidFill>
                <a:effectLst>
                  <a:outerShdw blurRad="38100" dist="38100" dir="2700000" algn="tl">
                    <a:srgbClr val="000000">
                      <a:alpha val="43137"/>
                    </a:srgbClr>
                  </a:outerShdw>
                </a:effectLst>
                <a:latin typeface="Bodoni MT" panose="02070603080606020203" pitchFamily="18" charset="0"/>
                <a:sym typeface="Fira Sans"/>
              </a:rPr>
              <a:t>Unsupervised </a:t>
            </a:r>
            <a:r>
              <a:rPr lang="en-IN" sz="2000" b="1" dirty="0">
                <a:solidFill>
                  <a:srgbClr val="FF0000"/>
                </a:solidFill>
                <a:effectLst>
                  <a:outerShdw blurRad="38100" dist="38100" dir="2700000" algn="tl">
                    <a:srgbClr val="000000">
                      <a:alpha val="43137"/>
                    </a:srgbClr>
                  </a:outerShdw>
                </a:effectLst>
                <a:latin typeface="Bodoni MT" panose="02070603080606020203" pitchFamily="18" charset="0"/>
                <a:sym typeface="Fira Sans"/>
              </a:rPr>
              <a:t>Learning</a:t>
            </a:r>
          </a:p>
        </p:txBody>
      </p:sp>
      <p:sp>
        <p:nvSpPr>
          <p:cNvPr id="11" name="TextBox 10"/>
          <p:cNvSpPr txBox="1"/>
          <p:nvPr/>
        </p:nvSpPr>
        <p:spPr>
          <a:xfrm>
            <a:off x="4049774" y="4690422"/>
            <a:ext cx="2316660" cy="400110"/>
          </a:xfrm>
          <a:prstGeom prst="rect">
            <a:avLst/>
          </a:prstGeom>
          <a:noFill/>
        </p:spPr>
        <p:txBody>
          <a:bodyPr wrap="none" rtlCol="0">
            <a:spAutoFit/>
          </a:bodyPr>
          <a:lstStyle/>
          <a:p>
            <a:r>
              <a:rPr lang="en-IN" sz="2000" b="1" dirty="0" smtClean="0">
                <a:solidFill>
                  <a:srgbClr val="FF0000"/>
                </a:solidFill>
                <a:effectLst>
                  <a:outerShdw blurRad="38100" dist="38100" dir="2700000" algn="tl">
                    <a:srgbClr val="000000">
                      <a:alpha val="43137"/>
                    </a:srgbClr>
                  </a:outerShdw>
                </a:effectLst>
                <a:latin typeface="Bodoni MT" panose="02070603080606020203" pitchFamily="18" charset="0"/>
                <a:sym typeface="Fira Sans"/>
              </a:rPr>
              <a:t>Supervised </a:t>
            </a:r>
            <a:r>
              <a:rPr lang="en-IN" sz="2000" b="1" dirty="0">
                <a:solidFill>
                  <a:srgbClr val="FF0000"/>
                </a:solidFill>
                <a:effectLst>
                  <a:outerShdw blurRad="38100" dist="38100" dir="2700000" algn="tl">
                    <a:srgbClr val="000000">
                      <a:alpha val="43137"/>
                    </a:srgbClr>
                  </a:outerShdw>
                </a:effectLst>
                <a:latin typeface="Bodoni MT" panose="02070603080606020203" pitchFamily="18" charset="0"/>
                <a:sym typeface="Fira Sans"/>
              </a:rPr>
              <a:t>Learning</a:t>
            </a:r>
          </a:p>
        </p:txBody>
      </p:sp>
      <p:cxnSp>
        <p:nvCxnSpPr>
          <p:cNvPr id="13" name="Straight Arrow Connector 12"/>
          <p:cNvCxnSpPr/>
          <p:nvPr/>
        </p:nvCxnSpPr>
        <p:spPr>
          <a:xfrm>
            <a:off x="3230217" y="4939748"/>
            <a:ext cx="715618" cy="0"/>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999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sp>
        <p:nvSpPr>
          <p:cNvPr id="5" name="Rectangle 4"/>
          <p:cNvSpPr/>
          <p:nvPr/>
        </p:nvSpPr>
        <p:spPr>
          <a:xfrm>
            <a:off x="839883" y="1088503"/>
            <a:ext cx="6045245" cy="461665"/>
          </a:xfrm>
          <a:prstGeom prst="rect">
            <a:avLst/>
          </a:prstGeom>
          <a:solidFill>
            <a:schemeClr val="accent2">
              <a:lumMod val="40000"/>
              <a:lumOff val="60000"/>
            </a:schemeClr>
          </a:solidFill>
        </p:spPr>
        <p:txBody>
          <a:bodyPr wrap="none">
            <a:spAutoFit/>
          </a:bodyPr>
          <a:lstStyle/>
          <a:p>
            <a:pPr marL="342900" indent="-342900">
              <a:buFont typeface="Wingdings" panose="05000000000000000000" pitchFamily="2" charset="2"/>
              <a:buChar char="q"/>
            </a:pPr>
            <a:r>
              <a:rPr lang="en-IN" sz="2400" u="sng" dirty="0">
                <a:latin typeface="Arial Rounded MT Bold" panose="020F0704030504030204" pitchFamily="34" charset="0"/>
                <a:cs typeface="Alef" panose="00000500000000000000" pitchFamily="2" charset="-79"/>
              </a:rPr>
              <a:t>The Generative </a:t>
            </a:r>
            <a:r>
              <a:rPr lang="en-IN" sz="2400" u="sng" dirty="0" err="1">
                <a:latin typeface="Arial Rounded MT Bold" panose="020F0704030504030204" pitchFamily="34" charset="0"/>
                <a:cs typeface="Alef" panose="00000500000000000000" pitchFamily="2" charset="-79"/>
              </a:rPr>
              <a:t>Modeling</a:t>
            </a:r>
            <a:r>
              <a:rPr lang="en-IN" sz="2400" u="sng" dirty="0">
                <a:latin typeface="Arial Rounded MT Bold" panose="020F0704030504030204" pitchFamily="34" charset="0"/>
                <a:cs typeface="Alef" panose="00000500000000000000" pitchFamily="2" charset="-79"/>
              </a:rPr>
              <a:t> Framework</a:t>
            </a:r>
          </a:p>
        </p:txBody>
      </p:sp>
      <p:pic>
        <p:nvPicPr>
          <p:cNvPr id="6" name="Picture 5"/>
          <p:cNvPicPr>
            <a:picLocks noChangeAspect="1"/>
          </p:cNvPicPr>
          <p:nvPr/>
        </p:nvPicPr>
        <p:blipFill>
          <a:blip r:embed="rId2"/>
          <a:stretch>
            <a:fillRect/>
          </a:stretch>
        </p:blipFill>
        <p:spPr>
          <a:xfrm>
            <a:off x="2847371" y="1963021"/>
            <a:ext cx="7191150" cy="3409483"/>
          </a:xfrm>
          <a:prstGeom prst="rect">
            <a:avLst/>
          </a:prstGeom>
        </p:spPr>
      </p:pic>
      <p:sp>
        <p:nvSpPr>
          <p:cNvPr id="7" name="Rectangle 6"/>
          <p:cNvSpPr/>
          <p:nvPr/>
        </p:nvSpPr>
        <p:spPr>
          <a:xfrm>
            <a:off x="1865550" y="5586573"/>
            <a:ext cx="9312165" cy="461665"/>
          </a:xfrm>
          <a:prstGeom prst="rect">
            <a:avLst/>
          </a:prstGeom>
        </p:spPr>
        <p:txBody>
          <a:bodyPr wrap="none">
            <a:spAutoFit/>
          </a:bodyPr>
          <a:lstStyle/>
          <a:p>
            <a:r>
              <a:rPr lang="en-US" sz="2400" dirty="0">
                <a:latin typeface="Bodoni MT" panose="02070603080606020203" pitchFamily="18" charset="0"/>
              </a:rPr>
              <a:t>A set of points in two dimensions, generated by an unknown rule </a:t>
            </a:r>
            <a:r>
              <a:rPr lang="en-US" sz="2400" b="1" dirty="0">
                <a:solidFill>
                  <a:srgbClr val="C00000"/>
                </a:solidFill>
                <a:effectLst>
                  <a:outerShdw blurRad="38100" dist="38100" dir="2700000" algn="tl">
                    <a:srgbClr val="000000">
                      <a:alpha val="43137"/>
                    </a:srgbClr>
                  </a:outerShdw>
                </a:effectLst>
                <a:latin typeface="Bodoni MT" panose="02070603080606020203" pitchFamily="18" charset="0"/>
              </a:rPr>
              <a:t>p</a:t>
            </a:r>
            <a:r>
              <a:rPr lang="en-US" sz="2400" b="1" baseline="-25000" dirty="0">
                <a:solidFill>
                  <a:srgbClr val="C00000"/>
                </a:solidFill>
                <a:effectLst>
                  <a:outerShdw blurRad="38100" dist="38100" dir="2700000" algn="tl">
                    <a:srgbClr val="000000">
                      <a:alpha val="43137"/>
                    </a:srgbClr>
                  </a:outerShdw>
                </a:effectLst>
                <a:latin typeface="Bodoni MT" panose="02070603080606020203" pitchFamily="18" charset="0"/>
              </a:rPr>
              <a:t>data</a:t>
            </a:r>
            <a:endParaRPr lang="en-IN" sz="2400" b="1" baseline="-25000" dirty="0">
              <a:solidFill>
                <a:srgbClr val="C00000"/>
              </a:solidFill>
              <a:effectLst>
                <a:outerShdw blurRad="38100" dist="38100" dir="2700000" algn="tl">
                  <a:srgbClr val="000000">
                    <a:alpha val="43137"/>
                  </a:srgbClr>
                </a:outerShdw>
              </a:effectLst>
              <a:latin typeface="Bodoni MT" panose="02070603080606020203" pitchFamily="18" charset="0"/>
            </a:endParaRPr>
          </a:p>
        </p:txBody>
      </p:sp>
    </p:spTree>
    <p:extLst>
      <p:ext uri="{BB962C8B-B14F-4D97-AF65-F5344CB8AC3E}">
        <p14:creationId xmlns:p14="http://schemas.microsoft.com/office/powerpoint/2010/main" val="244119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pic>
        <p:nvPicPr>
          <p:cNvPr id="6" name="Picture 5"/>
          <p:cNvPicPr>
            <a:picLocks noChangeAspect="1"/>
          </p:cNvPicPr>
          <p:nvPr/>
        </p:nvPicPr>
        <p:blipFill>
          <a:blip r:embed="rId2"/>
          <a:stretch>
            <a:fillRect/>
          </a:stretch>
        </p:blipFill>
        <p:spPr>
          <a:xfrm>
            <a:off x="1646385" y="488314"/>
            <a:ext cx="9107754" cy="4227704"/>
          </a:xfrm>
          <a:prstGeom prst="rect">
            <a:avLst/>
          </a:prstGeom>
        </p:spPr>
      </p:pic>
      <p:sp>
        <p:nvSpPr>
          <p:cNvPr id="7" name="Rectangle 6"/>
          <p:cNvSpPr/>
          <p:nvPr/>
        </p:nvSpPr>
        <p:spPr>
          <a:xfrm>
            <a:off x="960782" y="5017677"/>
            <a:ext cx="11035747" cy="461665"/>
          </a:xfrm>
          <a:prstGeom prst="rect">
            <a:avLst/>
          </a:prstGeom>
        </p:spPr>
        <p:txBody>
          <a:bodyPr wrap="square">
            <a:spAutoFit/>
          </a:bodyPr>
          <a:lstStyle/>
          <a:p>
            <a:r>
              <a:rPr lang="en-US" sz="2400" dirty="0">
                <a:latin typeface="Bodoni MT" panose="02070603080606020203" pitchFamily="18" charset="0"/>
              </a:rPr>
              <a:t>The orange box, </a:t>
            </a:r>
            <a:r>
              <a:rPr lang="en-US" sz="2400" b="1" dirty="0" err="1" smtClean="0">
                <a:solidFill>
                  <a:srgbClr val="C00000"/>
                </a:solidFill>
                <a:effectLst>
                  <a:outerShdw blurRad="38100" dist="38100" dir="2700000" algn="tl">
                    <a:srgbClr val="000000">
                      <a:alpha val="43137"/>
                    </a:srgbClr>
                  </a:outerShdw>
                </a:effectLst>
                <a:latin typeface="Bodoni MT" panose="02070603080606020203" pitchFamily="18" charset="0"/>
              </a:rPr>
              <a:t>p</a:t>
            </a:r>
            <a:r>
              <a:rPr lang="en-US" sz="2400" b="1" baseline="-25000" dirty="0" err="1" smtClean="0">
                <a:solidFill>
                  <a:srgbClr val="C00000"/>
                </a:solidFill>
                <a:effectLst>
                  <a:outerShdw blurRad="38100" dist="38100" dir="2700000" algn="tl">
                    <a:srgbClr val="000000">
                      <a:alpha val="43137"/>
                    </a:srgbClr>
                  </a:outerShdw>
                </a:effectLst>
                <a:latin typeface="Bodoni MT" panose="02070603080606020203" pitchFamily="18" charset="0"/>
              </a:rPr>
              <a:t>model</a:t>
            </a:r>
            <a:r>
              <a:rPr lang="en-US" sz="2400" dirty="0" smtClean="0">
                <a:latin typeface="Bodoni MT" panose="02070603080606020203" pitchFamily="18" charset="0"/>
              </a:rPr>
              <a:t>, </a:t>
            </a:r>
            <a:r>
              <a:rPr lang="en-US" sz="2400" dirty="0">
                <a:latin typeface="Bodoni MT" panose="02070603080606020203" pitchFamily="18" charset="0"/>
              </a:rPr>
              <a:t>is an estimate of the true data-generating distribution, </a:t>
            </a:r>
            <a:r>
              <a:rPr lang="en-US" sz="2400" b="1" dirty="0">
                <a:solidFill>
                  <a:srgbClr val="C00000"/>
                </a:solidFill>
                <a:effectLst>
                  <a:outerShdw blurRad="38100" dist="38100" dir="2700000" algn="tl">
                    <a:srgbClr val="000000">
                      <a:alpha val="43137"/>
                    </a:srgbClr>
                  </a:outerShdw>
                </a:effectLst>
                <a:latin typeface="Bodoni MT" panose="02070603080606020203" pitchFamily="18" charset="0"/>
              </a:rPr>
              <a:t>p</a:t>
            </a:r>
            <a:r>
              <a:rPr lang="en-US" sz="2400" b="1" baseline="-25000" dirty="0">
                <a:solidFill>
                  <a:srgbClr val="C00000"/>
                </a:solidFill>
                <a:effectLst>
                  <a:outerShdw blurRad="38100" dist="38100" dir="2700000" algn="tl">
                    <a:srgbClr val="000000">
                      <a:alpha val="43137"/>
                    </a:srgbClr>
                  </a:outerShdw>
                </a:effectLst>
                <a:latin typeface="Bodoni MT" panose="02070603080606020203" pitchFamily="18" charset="0"/>
              </a:rPr>
              <a:t>data</a:t>
            </a:r>
            <a:endParaRPr lang="en-IN" sz="2400" b="1" baseline="-25000" dirty="0">
              <a:solidFill>
                <a:srgbClr val="C00000"/>
              </a:solidFill>
              <a:effectLst>
                <a:outerShdw blurRad="38100" dist="38100" dir="2700000" algn="tl">
                  <a:srgbClr val="000000">
                    <a:alpha val="43137"/>
                  </a:srgbClr>
                </a:outerShdw>
              </a:effectLst>
              <a:latin typeface="Bodoni MT" panose="02070603080606020203" pitchFamily="18" charset="0"/>
            </a:endParaRPr>
          </a:p>
        </p:txBody>
      </p:sp>
    </p:spTree>
    <p:extLst>
      <p:ext uri="{BB962C8B-B14F-4D97-AF65-F5344CB8AC3E}">
        <p14:creationId xmlns:p14="http://schemas.microsoft.com/office/powerpoint/2010/main" val="31087256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pic>
        <p:nvPicPr>
          <p:cNvPr id="6" name="Picture 5"/>
          <p:cNvPicPr>
            <a:picLocks noChangeAspect="1"/>
          </p:cNvPicPr>
          <p:nvPr/>
        </p:nvPicPr>
        <p:blipFill>
          <a:blip r:embed="rId2"/>
          <a:stretch>
            <a:fillRect/>
          </a:stretch>
        </p:blipFill>
        <p:spPr>
          <a:xfrm>
            <a:off x="1537666" y="926470"/>
            <a:ext cx="8808969" cy="4926343"/>
          </a:xfrm>
          <a:prstGeom prst="rect">
            <a:avLst/>
          </a:prstGeom>
        </p:spPr>
      </p:pic>
    </p:spTree>
    <p:extLst>
      <p:ext uri="{BB962C8B-B14F-4D97-AF65-F5344CB8AC3E}">
        <p14:creationId xmlns:p14="http://schemas.microsoft.com/office/powerpoint/2010/main" val="39015884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a:p>
        </p:txBody>
      </p:sp>
      <p:pic>
        <p:nvPicPr>
          <p:cNvPr id="6" name="Picture 5"/>
          <p:cNvPicPr>
            <a:picLocks noChangeAspect="1"/>
          </p:cNvPicPr>
          <p:nvPr/>
        </p:nvPicPr>
        <p:blipFill>
          <a:blip r:embed="rId2"/>
          <a:stretch>
            <a:fillRect/>
          </a:stretch>
        </p:blipFill>
        <p:spPr>
          <a:xfrm>
            <a:off x="735496" y="798101"/>
            <a:ext cx="7076662" cy="4620237"/>
          </a:xfrm>
          <a:prstGeom prst="rect">
            <a:avLst/>
          </a:prstGeom>
        </p:spPr>
      </p:pic>
      <p:sp>
        <p:nvSpPr>
          <p:cNvPr id="7" name="Rectangle 6"/>
          <p:cNvSpPr/>
          <p:nvPr/>
        </p:nvSpPr>
        <p:spPr>
          <a:xfrm>
            <a:off x="7374835" y="1123146"/>
            <a:ext cx="4691269" cy="2308324"/>
          </a:xfrm>
          <a:prstGeom prst="rect">
            <a:avLst/>
          </a:prstGeom>
        </p:spPr>
        <p:txBody>
          <a:bodyPr wrap="square">
            <a:spAutoFit/>
          </a:bodyPr>
          <a:lstStyle/>
          <a:p>
            <a:pPr marL="342900" indent="-342900">
              <a:buFont typeface="Wingdings" panose="05000000000000000000" pitchFamily="2" charset="2"/>
              <a:buChar char="Ø"/>
            </a:pPr>
            <a:r>
              <a:rPr lang="en-US" sz="2400" dirty="0">
                <a:latin typeface="Bodoni MT" panose="02070603080606020203" pitchFamily="18" charset="0"/>
              </a:rPr>
              <a:t>As we can see from </a:t>
            </a:r>
            <a:r>
              <a:rPr lang="en-US" sz="2400" dirty="0" smtClean="0">
                <a:latin typeface="Bodoni MT" panose="02070603080606020203" pitchFamily="18" charset="0"/>
              </a:rPr>
              <a:t>Figure, </a:t>
            </a:r>
            <a:r>
              <a:rPr lang="en-US" sz="2400" dirty="0">
                <a:latin typeface="Bodoni MT" panose="02070603080606020203" pitchFamily="18" charset="0"/>
              </a:rPr>
              <a:t>the data-generating rule is simply a uniform </a:t>
            </a:r>
            <a:r>
              <a:rPr lang="en-US" sz="2400" dirty="0" smtClean="0">
                <a:latin typeface="Bodoni MT" panose="02070603080606020203" pitchFamily="18" charset="0"/>
              </a:rPr>
              <a:t>distribution </a:t>
            </a:r>
            <a:r>
              <a:rPr lang="en-US" sz="2400" b="1" dirty="0" smtClean="0">
                <a:solidFill>
                  <a:srgbClr val="C00000"/>
                </a:solidFill>
                <a:effectLst>
                  <a:outerShdw blurRad="38100" dist="38100" dir="2700000" algn="tl">
                    <a:srgbClr val="000000">
                      <a:alpha val="43137"/>
                    </a:srgbClr>
                  </a:outerShdw>
                </a:effectLst>
                <a:latin typeface="Bodoni MT" panose="02070603080606020203" pitchFamily="18" charset="0"/>
              </a:rPr>
              <a:t>over </a:t>
            </a:r>
            <a:r>
              <a:rPr lang="en-US" sz="2400" b="1" dirty="0">
                <a:solidFill>
                  <a:srgbClr val="C00000"/>
                </a:solidFill>
                <a:effectLst>
                  <a:outerShdw blurRad="38100" dist="38100" dir="2700000" algn="tl">
                    <a:srgbClr val="000000">
                      <a:alpha val="43137"/>
                    </a:srgbClr>
                  </a:outerShdw>
                </a:effectLst>
                <a:latin typeface="Bodoni MT" panose="02070603080606020203" pitchFamily="18" charset="0"/>
              </a:rPr>
              <a:t>the land mass of the world, with no chance of finding a point in the sea</a:t>
            </a:r>
            <a:r>
              <a:rPr lang="en-US" sz="2400" b="1" dirty="0" smtClean="0">
                <a:solidFill>
                  <a:srgbClr val="C00000"/>
                </a:solidFill>
                <a:effectLst>
                  <a:outerShdw blurRad="38100" dist="38100" dir="2700000" algn="tl">
                    <a:srgbClr val="000000">
                      <a:alpha val="43137"/>
                    </a:srgbClr>
                  </a:outerShdw>
                </a:effectLst>
                <a:latin typeface="Bodoni MT" panose="02070603080606020203" pitchFamily="18" charset="0"/>
              </a:rPr>
              <a:t>.     </a:t>
            </a:r>
            <a:endParaRPr lang="en-IN" sz="2400" b="1" dirty="0">
              <a:solidFill>
                <a:srgbClr val="C00000"/>
              </a:solidFill>
              <a:effectLst>
                <a:outerShdw blurRad="38100" dist="38100" dir="2700000" algn="tl">
                  <a:srgbClr val="000000">
                    <a:alpha val="43137"/>
                  </a:srgbClr>
                </a:outerShdw>
              </a:effectLst>
              <a:latin typeface="Bodoni MT" panose="02070603080606020203" pitchFamily="18" charset="0"/>
            </a:endParaRPr>
          </a:p>
        </p:txBody>
      </p:sp>
      <p:cxnSp>
        <p:nvCxnSpPr>
          <p:cNvPr id="9" name="Straight Arrow Connector 8"/>
          <p:cNvCxnSpPr/>
          <p:nvPr/>
        </p:nvCxnSpPr>
        <p:spPr>
          <a:xfrm>
            <a:off x="8507896" y="3279913"/>
            <a:ext cx="884582"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0" name="Rectangle 9"/>
          <p:cNvSpPr/>
          <p:nvPr/>
        </p:nvSpPr>
        <p:spPr>
          <a:xfrm>
            <a:off x="9545792" y="2908250"/>
            <a:ext cx="788999" cy="523220"/>
          </a:xfrm>
          <a:prstGeom prst="rect">
            <a:avLst/>
          </a:prstGeom>
        </p:spPr>
        <p:txBody>
          <a:bodyPr wrap="none">
            <a:spAutoFit/>
          </a:bodyPr>
          <a:lstStyle/>
          <a:p>
            <a:r>
              <a:rPr lang="en-US" sz="2800" b="1" dirty="0">
                <a:solidFill>
                  <a:schemeClr val="accent6">
                    <a:lumMod val="60000"/>
                    <a:lumOff val="40000"/>
                  </a:schemeClr>
                </a:solidFill>
                <a:effectLst>
                  <a:outerShdw blurRad="38100" dist="38100" dir="2700000" algn="tl">
                    <a:srgbClr val="000000">
                      <a:alpha val="43137"/>
                    </a:srgbClr>
                  </a:outerShdw>
                </a:effectLst>
                <a:latin typeface="Bodoni MT" panose="02070603080606020203" pitchFamily="18" charset="0"/>
              </a:rPr>
              <a:t>p</a:t>
            </a:r>
            <a:r>
              <a:rPr lang="en-US" sz="2800" b="1" baseline="-25000" dirty="0">
                <a:solidFill>
                  <a:schemeClr val="accent6">
                    <a:lumMod val="60000"/>
                    <a:lumOff val="40000"/>
                  </a:schemeClr>
                </a:solidFill>
                <a:effectLst>
                  <a:outerShdw blurRad="38100" dist="38100" dir="2700000" algn="tl">
                    <a:srgbClr val="000000">
                      <a:alpha val="43137"/>
                    </a:srgbClr>
                  </a:outerShdw>
                </a:effectLst>
                <a:latin typeface="Bodoni MT" panose="02070603080606020203" pitchFamily="18" charset="0"/>
              </a:rPr>
              <a:t>data</a:t>
            </a:r>
            <a:endParaRPr lang="en-IN" b="1" baseline="-25000" dirty="0">
              <a:solidFill>
                <a:schemeClr val="accent6">
                  <a:lumMod val="60000"/>
                  <a:lumOff val="40000"/>
                </a:schemeClr>
              </a:solidFill>
              <a:effectLst>
                <a:outerShdw blurRad="38100" dist="38100" dir="2700000" algn="tl">
                  <a:srgbClr val="000000">
                    <a:alpha val="43137"/>
                  </a:srgbClr>
                </a:outerShdw>
              </a:effectLst>
              <a:latin typeface="Bodoni MT" panose="02070603080606020203" pitchFamily="18" charset="0"/>
            </a:endParaRPr>
          </a:p>
        </p:txBody>
      </p:sp>
      <p:sp>
        <p:nvSpPr>
          <p:cNvPr id="11" name="Rectangle 10"/>
          <p:cNvSpPr/>
          <p:nvPr/>
        </p:nvSpPr>
        <p:spPr>
          <a:xfrm>
            <a:off x="1043609" y="5485183"/>
            <a:ext cx="10714382" cy="830997"/>
          </a:xfrm>
          <a:prstGeom prst="rect">
            <a:avLst/>
          </a:prstGeom>
        </p:spPr>
        <p:txBody>
          <a:bodyPr wrap="square">
            <a:spAutoFit/>
          </a:bodyPr>
          <a:lstStyle/>
          <a:p>
            <a:r>
              <a:rPr lang="en-US" sz="2400" dirty="0">
                <a:latin typeface="Bodoni MT" panose="02070603080606020203" pitchFamily="18" charset="0"/>
              </a:rPr>
              <a:t>The orange box, </a:t>
            </a:r>
            <a:r>
              <a:rPr lang="en-US" sz="2400" b="1" dirty="0" err="1">
                <a:solidFill>
                  <a:srgbClr val="C00000"/>
                </a:solidFill>
                <a:effectLst>
                  <a:outerShdw blurRad="38100" dist="38100" dir="2700000" algn="tl">
                    <a:srgbClr val="000000">
                      <a:alpha val="43137"/>
                    </a:srgbClr>
                  </a:outerShdw>
                </a:effectLst>
                <a:latin typeface="Bodoni MT" panose="02070603080606020203" pitchFamily="18" charset="0"/>
              </a:rPr>
              <a:t>p</a:t>
            </a:r>
            <a:r>
              <a:rPr lang="en-US" sz="2400" b="1" baseline="-25000" dirty="0" err="1">
                <a:solidFill>
                  <a:srgbClr val="C00000"/>
                </a:solidFill>
                <a:effectLst>
                  <a:outerShdw blurRad="38100" dist="38100" dir="2700000" algn="tl">
                    <a:srgbClr val="000000">
                      <a:alpha val="43137"/>
                    </a:srgbClr>
                  </a:outerShdw>
                </a:effectLst>
                <a:latin typeface="Bodoni MT" panose="02070603080606020203" pitchFamily="18" charset="0"/>
              </a:rPr>
              <a:t>model</a:t>
            </a:r>
            <a:r>
              <a:rPr lang="en-US" sz="2400" dirty="0" smtClean="0">
                <a:latin typeface="Bodoni MT" panose="02070603080606020203" pitchFamily="18" charset="0"/>
              </a:rPr>
              <a:t>, </a:t>
            </a:r>
            <a:r>
              <a:rPr lang="en-US" sz="2400" dirty="0">
                <a:latin typeface="Bodoni MT" panose="02070603080606020203" pitchFamily="18" charset="0"/>
              </a:rPr>
              <a:t>is an estimate of the true data-generating distribution </a:t>
            </a:r>
            <a:r>
              <a:rPr lang="en-US" sz="2400" b="1" dirty="0">
                <a:solidFill>
                  <a:srgbClr val="C00000"/>
                </a:solidFill>
                <a:effectLst>
                  <a:outerShdw blurRad="38100" dist="38100" dir="2700000" algn="tl">
                    <a:srgbClr val="000000">
                      <a:alpha val="43137"/>
                    </a:srgbClr>
                  </a:outerShdw>
                </a:effectLst>
                <a:latin typeface="Bodoni MT" panose="02070603080606020203" pitchFamily="18" charset="0"/>
              </a:rPr>
              <a:t>p</a:t>
            </a:r>
            <a:r>
              <a:rPr lang="en-US" sz="2400" b="1" baseline="-25000" dirty="0">
                <a:solidFill>
                  <a:srgbClr val="C00000"/>
                </a:solidFill>
                <a:effectLst>
                  <a:outerShdw blurRad="38100" dist="38100" dir="2700000" algn="tl">
                    <a:srgbClr val="000000">
                      <a:alpha val="43137"/>
                    </a:srgbClr>
                  </a:outerShdw>
                </a:effectLst>
                <a:latin typeface="Bodoni MT" panose="02070603080606020203" pitchFamily="18" charset="0"/>
              </a:rPr>
              <a:t>data</a:t>
            </a:r>
            <a:endParaRPr lang="en-IN" sz="2400" b="1" baseline="-25000" dirty="0">
              <a:solidFill>
                <a:srgbClr val="C00000"/>
              </a:solidFill>
              <a:effectLst>
                <a:outerShdw blurRad="38100" dist="38100" dir="2700000" algn="tl">
                  <a:srgbClr val="000000">
                    <a:alpha val="43137"/>
                  </a:srgbClr>
                </a:outerShdw>
              </a:effectLst>
              <a:latin typeface="Bodoni MT" panose="02070603080606020203" pitchFamily="18" charset="0"/>
            </a:endParaRPr>
          </a:p>
          <a:p>
            <a:r>
              <a:rPr lang="en-IN" sz="2400" dirty="0" smtClean="0">
                <a:latin typeface="Bodoni MT" panose="02070603080606020203" pitchFamily="18" charset="0"/>
              </a:rPr>
              <a:t> </a:t>
            </a:r>
            <a:r>
              <a:rPr lang="en-IN" sz="2400" dirty="0">
                <a:latin typeface="Bodoni MT" panose="02070603080606020203" pitchFamily="18" charset="0"/>
              </a:rPr>
              <a:t>(the </a:t>
            </a:r>
            <a:r>
              <a:rPr lang="en-IN" sz="2400" dirty="0" err="1">
                <a:latin typeface="Bodoni MT" panose="02070603080606020203" pitchFamily="18" charset="0"/>
              </a:rPr>
              <a:t>gray</a:t>
            </a:r>
            <a:r>
              <a:rPr lang="en-IN" sz="2400" dirty="0">
                <a:latin typeface="Bodoni MT" panose="02070603080606020203" pitchFamily="18" charset="0"/>
              </a:rPr>
              <a:t> area)</a:t>
            </a:r>
          </a:p>
        </p:txBody>
      </p:sp>
    </p:spTree>
    <p:extLst>
      <p:ext uri="{BB962C8B-B14F-4D97-AF65-F5344CB8AC3E}">
        <p14:creationId xmlns:p14="http://schemas.microsoft.com/office/powerpoint/2010/main" val="306177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pic>
        <p:nvPicPr>
          <p:cNvPr id="6" name="Picture 5"/>
          <p:cNvPicPr>
            <a:picLocks noChangeAspect="1"/>
          </p:cNvPicPr>
          <p:nvPr/>
        </p:nvPicPr>
        <p:blipFill>
          <a:blip r:embed="rId2"/>
          <a:stretch>
            <a:fillRect/>
          </a:stretch>
        </p:blipFill>
        <p:spPr>
          <a:xfrm>
            <a:off x="922267" y="1221784"/>
            <a:ext cx="10500047" cy="4185103"/>
          </a:xfrm>
          <a:prstGeom prst="rect">
            <a:avLst/>
          </a:prstGeom>
        </p:spPr>
      </p:pic>
      <p:sp>
        <p:nvSpPr>
          <p:cNvPr id="2" name="Rectangle 1"/>
          <p:cNvSpPr/>
          <p:nvPr/>
        </p:nvSpPr>
        <p:spPr>
          <a:xfrm>
            <a:off x="1071154" y="1221784"/>
            <a:ext cx="10110652" cy="12209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1071154" y="2560319"/>
            <a:ext cx="10110652" cy="15675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1038586" y="4280262"/>
            <a:ext cx="10234659" cy="15675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1976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nodePh="1">
                                  <p:stCondLst>
                                    <p:cond delay="0"/>
                                  </p:stCondLst>
                                  <p:endCondLst>
                                    <p:cond evt="begin" delay="0">
                                      <p:tn val="9"/>
                                    </p:cond>
                                  </p:end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nodePh="1">
                                  <p:stCondLst>
                                    <p:cond delay="0"/>
                                  </p:stCondLst>
                                  <p:endCondLst>
                                    <p:cond evt="begin" delay="0">
                                      <p:tn val="13"/>
                                    </p:cond>
                                  </p:end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a:p>
        </p:txBody>
      </p:sp>
      <p:sp>
        <p:nvSpPr>
          <p:cNvPr id="6" name="TextBox 5"/>
          <p:cNvSpPr txBox="1"/>
          <p:nvPr/>
        </p:nvSpPr>
        <p:spPr>
          <a:xfrm>
            <a:off x="944217" y="1311965"/>
            <a:ext cx="3212739" cy="584775"/>
          </a:xfrm>
          <a:prstGeom prst="rect">
            <a:avLst/>
          </a:prstGeom>
          <a:noFill/>
        </p:spPr>
        <p:txBody>
          <a:bodyPr wrap="none" rtlCol="0">
            <a:spAutoFit/>
          </a:bodyPr>
          <a:lstStyle/>
          <a:p>
            <a:r>
              <a:rPr lang="en-IN" sz="3200" b="1" dirty="0">
                <a:solidFill>
                  <a:srgbClr val="FF0000"/>
                </a:solidFill>
                <a:effectLst>
                  <a:outerShdw blurRad="38100" dist="38100" dir="2700000" algn="tl">
                    <a:srgbClr val="000000">
                      <a:alpha val="43137"/>
                    </a:srgbClr>
                  </a:outerShdw>
                </a:effectLst>
                <a:latin typeface="Bodoni MT" panose="02070603080606020203" pitchFamily="18" charset="0"/>
              </a:rPr>
              <a:t>Generative Model </a:t>
            </a:r>
          </a:p>
        </p:txBody>
      </p:sp>
      <p:cxnSp>
        <p:nvCxnSpPr>
          <p:cNvPr id="8" name="Straight Arrow Connector 7"/>
          <p:cNvCxnSpPr/>
          <p:nvPr/>
        </p:nvCxnSpPr>
        <p:spPr>
          <a:xfrm flipV="1">
            <a:off x="4318552" y="1604352"/>
            <a:ext cx="2126974" cy="9939"/>
          </a:xfrm>
          <a:prstGeom prst="straightConnector1">
            <a:avLst/>
          </a:prstGeom>
          <a:ln w="31750">
            <a:tailEnd type="triangle"/>
          </a:ln>
        </p:spPr>
        <p:style>
          <a:lnRef idx="1">
            <a:schemeClr val="dk1"/>
          </a:lnRef>
          <a:fillRef idx="0">
            <a:schemeClr val="dk1"/>
          </a:fillRef>
          <a:effectRef idx="0">
            <a:schemeClr val="dk1"/>
          </a:effectRef>
          <a:fontRef idx="minor">
            <a:schemeClr val="tx1"/>
          </a:fontRef>
        </p:style>
      </p:cxnSp>
      <p:sp>
        <p:nvSpPr>
          <p:cNvPr id="9" name="Rectangle 8"/>
          <p:cNvSpPr/>
          <p:nvPr/>
        </p:nvSpPr>
        <p:spPr>
          <a:xfrm>
            <a:off x="6607123" y="1065743"/>
            <a:ext cx="6096000" cy="1077218"/>
          </a:xfrm>
          <a:prstGeom prst="rect">
            <a:avLst/>
          </a:prstGeom>
        </p:spPr>
        <p:txBody>
          <a:bodyPr>
            <a:spAutoFit/>
          </a:bodyPr>
          <a:lstStyle/>
          <a:p>
            <a:r>
              <a:rPr lang="en-IN" sz="3200" b="1" dirty="0">
                <a:solidFill>
                  <a:schemeClr val="accent6">
                    <a:lumMod val="50000"/>
                  </a:schemeClr>
                </a:solidFill>
                <a:effectLst>
                  <a:outerShdw blurRad="38100" dist="38100" dir="2700000" algn="tl">
                    <a:srgbClr val="000000">
                      <a:alpha val="43137"/>
                    </a:srgbClr>
                  </a:outerShdw>
                </a:effectLst>
                <a:latin typeface="Bodoni MT" panose="02070603080606020203" pitchFamily="18" charset="0"/>
              </a:rPr>
              <a:t>grounded purely in probabilistic</a:t>
            </a:r>
          </a:p>
          <a:p>
            <a:r>
              <a:rPr lang="en-IN" sz="3200" b="1" dirty="0">
                <a:solidFill>
                  <a:schemeClr val="accent6">
                    <a:lumMod val="50000"/>
                  </a:schemeClr>
                </a:solidFill>
                <a:effectLst>
                  <a:outerShdw blurRad="38100" dist="38100" dir="2700000" algn="tl">
                    <a:srgbClr val="000000">
                      <a:alpha val="43137"/>
                    </a:srgbClr>
                  </a:outerShdw>
                </a:effectLst>
                <a:latin typeface="Bodoni MT" panose="02070603080606020203" pitchFamily="18" charset="0"/>
              </a:rPr>
              <a:t>theory</a:t>
            </a:r>
          </a:p>
        </p:txBody>
      </p:sp>
      <p:sp>
        <p:nvSpPr>
          <p:cNvPr id="10" name="Rectangle 9"/>
          <p:cNvSpPr/>
          <p:nvPr/>
        </p:nvSpPr>
        <p:spPr>
          <a:xfrm>
            <a:off x="944216" y="3228633"/>
            <a:ext cx="10436087" cy="1938992"/>
          </a:xfrm>
          <a:prstGeom prst="rect">
            <a:avLst/>
          </a:prstGeom>
        </p:spPr>
        <p:txBody>
          <a:bodyPr wrap="square">
            <a:spAutoFit/>
          </a:bodyPr>
          <a:lstStyle/>
          <a:p>
            <a:r>
              <a:rPr lang="en-US" sz="2400" u="sng" dirty="0">
                <a:latin typeface="Bodoni MT" panose="02070603080606020203" pitchFamily="18" charset="0"/>
              </a:rPr>
              <a:t>As a first step, we shall define four key terms: </a:t>
            </a:r>
            <a:endParaRPr lang="en-US" sz="2400" u="sng" dirty="0" smtClean="0">
              <a:latin typeface="Bodoni MT" panose="02070603080606020203" pitchFamily="18" charset="0"/>
            </a:endParaRPr>
          </a:p>
          <a:p>
            <a:pPr marL="457200" indent="-457200">
              <a:buFont typeface="+mj-lt"/>
              <a:buAutoNum type="arabicPeriod"/>
            </a:pPr>
            <a:r>
              <a:rPr lang="en-US" sz="2400" dirty="0" smtClean="0">
                <a:latin typeface="Bodoni MT" panose="02070603080606020203" pitchFamily="18" charset="0"/>
              </a:rPr>
              <a:t>sample </a:t>
            </a:r>
            <a:r>
              <a:rPr lang="en-US" sz="2400" dirty="0">
                <a:latin typeface="Bodoni MT" panose="02070603080606020203" pitchFamily="18" charset="0"/>
              </a:rPr>
              <a:t>space, </a:t>
            </a:r>
            <a:endParaRPr lang="en-US" sz="2400" dirty="0" smtClean="0">
              <a:latin typeface="Bodoni MT" panose="02070603080606020203" pitchFamily="18" charset="0"/>
            </a:endParaRPr>
          </a:p>
          <a:p>
            <a:pPr marL="457200" indent="-457200">
              <a:buFont typeface="+mj-lt"/>
              <a:buAutoNum type="arabicPeriod"/>
            </a:pPr>
            <a:r>
              <a:rPr lang="en-US" sz="2400" dirty="0" smtClean="0">
                <a:latin typeface="Bodoni MT" panose="02070603080606020203" pitchFamily="18" charset="0"/>
              </a:rPr>
              <a:t>density function</a:t>
            </a:r>
          </a:p>
          <a:p>
            <a:pPr marL="457200" indent="-457200">
              <a:buFont typeface="+mj-lt"/>
              <a:buAutoNum type="arabicPeriod"/>
            </a:pPr>
            <a:r>
              <a:rPr lang="en-US" sz="2400" dirty="0" smtClean="0">
                <a:latin typeface="Bodoni MT" panose="02070603080606020203" pitchFamily="18" charset="0"/>
              </a:rPr>
              <a:t>Parametric modeling</a:t>
            </a:r>
          </a:p>
          <a:p>
            <a:pPr marL="457200" indent="-457200">
              <a:buFont typeface="+mj-lt"/>
              <a:buAutoNum type="arabicPeriod"/>
            </a:pPr>
            <a:r>
              <a:rPr lang="en-US" sz="2400" dirty="0" smtClean="0">
                <a:latin typeface="Bodoni MT" panose="02070603080606020203" pitchFamily="18" charset="0"/>
              </a:rPr>
              <a:t>maximum </a:t>
            </a:r>
            <a:r>
              <a:rPr lang="en-US" sz="2400" dirty="0">
                <a:latin typeface="Bodoni MT" panose="02070603080606020203" pitchFamily="18" charset="0"/>
              </a:rPr>
              <a:t>likelihood estimation.</a:t>
            </a:r>
            <a:endParaRPr lang="en-IN" sz="2400" dirty="0">
              <a:latin typeface="Bodoni MT" panose="02070603080606020203" pitchFamily="18" charset="0"/>
            </a:endParaRPr>
          </a:p>
        </p:txBody>
      </p:sp>
    </p:spTree>
    <p:extLst>
      <p:ext uri="{BB962C8B-B14F-4D97-AF65-F5344CB8AC3E}">
        <p14:creationId xmlns:p14="http://schemas.microsoft.com/office/powerpoint/2010/main" val="402922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0">
                                            <p:txEl>
                                              <p:pRg st="2" end="2"/>
                                            </p:txEl>
                                          </p:spTgt>
                                        </p:tgtEl>
                                        <p:attrNameLst>
                                          <p:attrName>style.visibility</p:attrName>
                                        </p:attrNameLst>
                                      </p:cBhvr>
                                      <p:to>
                                        <p:strVal val="visible"/>
                                      </p:to>
                                    </p:set>
                                    <p:animEffect transition="in" filter="fade">
                                      <p:cBhvr>
                                        <p:cTn id="40" dur="1000"/>
                                        <p:tgtEl>
                                          <p:spTgt spid="10">
                                            <p:txEl>
                                              <p:pRg st="2" end="2"/>
                                            </p:txEl>
                                          </p:spTgt>
                                        </p:tgtEl>
                                      </p:cBhvr>
                                    </p:animEffect>
                                    <p:anim calcmode="lin" valueType="num">
                                      <p:cBhvr>
                                        <p:cTn id="41"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10">
                                            <p:txEl>
                                              <p:pRg st="3" end="3"/>
                                            </p:txEl>
                                          </p:spTgt>
                                        </p:tgtEl>
                                        <p:attrNameLst>
                                          <p:attrName>style.visibility</p:attrName>
                                        </p:attrNameLst>
                                      </p:cBhvr>
                                      <p:to>
                                        <p:strVal val="visible"/>
                                      </p:to>
                                    </p:set>
                                    <p:animEffect transition="in" filter="fade">
                                      <p:cBhvr>
                                        <p:cTn id="45" dur="1000"/>
                                        <p:tgtEl>
                                          <p:spTgt spid="10">
                                            <p:txEl>
                                              <p:pRg st="3" end="3"/>
                                            </p:txEl>
                                          </p:spTgt>
                                        </p:tgtEl>
                                      </p:cBhvr>
                                    </p:animEffect>
                                    <p:anim calcmode="lin" valueType="num">
                                      <p:cBhvr>
                                        <p:cTn id="46"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7"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10">
                                            <p:txEl>
                                              <p:pRg st="4" end="4"/>
                                            </p:txEl>
                                          </p:spTgt>
                                        </p:tgtEl>
                                        <p:attrNameLst>
                                          <p:attrName>style.visibility</p:attrName>
                                        </p:attrNameLst>
                                      </p:cBhvr>
                                      <p:to>
                                        <p:strVal val="visible"/>
                                      </p:to>
                                    </p:set>
                                    <p:animEffect transition="in" filter="fade">
                                      <p:cBhvr>
                                        <p:cTn id="50" dur="1000"/>
                                        <p:tgtEl>
                                          <p:spTgt spid="10">
                                            <p:txEl>
                                              <p:pRg st="4" end="4"/>
                                            </p:txEl>
                                          </p:spTgt>
                                        </p:tgtEl>
                                      </p:cBhvr>
                                    </p:animEffect>
                                    <p:anim calcmode="lin" valueType="num">
                                      <p:cBhvr>
                                        <p:cTn id="51"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2"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pic>
        <p:nvPicPr>
          <p:cNvPr id="6" name="Picture 5"/>
          <p:cNvPicPr>
            <a:picLocks noChangeAspect="1"/>
          </p:cNvPicPr>
          <p:nvPr/>
        </p:nvPicPr>
        <p:blipFill>
          <a:blip r:embed="rId2"/>
          <a:stretch>
            <a:fillRect/>
          </a:stretch>
        </p:blipFill>
        <p:spPr>
          <a:xfrm>
            <a:off x="1381072" y="917807"/>
            <a:ext cx="9796643" cy="4737557"/>
          </a:xfrm>
          <a:prstGeom prst="rect">
            <a:avLst/>
          </a:prstGeom>
        </p:spPr>
      </p:pic>
    </p:spTree>
    <p:extLst>
      <p:ext uri="{BB962C8B-B14F-4D97-AF65-F5344CB8AC3E}">
        <p14:creationId xmlns:p14="http://schemas.microsoft.com/office/powerpoint/2010/main" val="18329148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16</a:t>
            </a:fld>
            <a:endParaRPr lang="en-US"/>
          </a:p>
        </p:txBody>
      </p:sp>
      <p:pic>
        <p:nvPicPr>
          <p:cNvPr id="6" name="Picture 5"/>
          <p:cNvPicPr>
            <a:picLocks noChangeAspect="1"/>
          </p:cNvPicPr>
          <p:nvPr/>
        </p:nvPicPr>
        <p:blipFill>
          <a:blip r:embed="rId2"/>
          <a:stretch>
            <a:fillRect/>
          </a:stretch>
        </p:blipFill>
        <p:spPr>
          <a:xfrm>
            <a:off x="1039469" y="1060678"/>
            <a:ext cx="10637797" cy="4694078"/>
          </a:xfrm>
          <a:prstGeom prst="rect">
            <a:avLst/>
          </a:prstGeom>
        </p:spPr>
      </p:pic>
    </p:spTree>
    <p:extLst>
      <p:ext uri="{BB962C8B-B14F-4D97-AF65-F5344CB8AC3E}">
        <p14:creationId xmlns:p14="http://schemas.microsoft.com/office/powerpoint/2010/main" val="40777341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17</a:t>
            </a:fld>
            <a:endParaRPr lang="en-US"/>
          </a:p>
        </p:txBody>
      </p:sp>
      <p:sp>
        <p:nvSpPr>
          <p:cNvPr id="6" name="Rectangle 5"/>
          <p:cNvSpPr/>
          <p:nvPr/>
        </p:nvSpPr>
        <p:spPr>
          <a:xfrm>
            <a:off x="761999" y="1207485"/>
            <a:ext cx="11095383" cy="3364767"/>
          </a:xfrm>
          <a:prstGeom prst="rect">
            <a:avLst/>
          </a:prstGeom>
        </p:spPr>
        <p:txBody>
          <a:bodyPr wrap="square">
            <a:spAutoFit/>
          </a:bodyPr>
          <a:lstStyle/>
          <a:p>
            <a:pPr marL="342900" indent="-342900" algn="just">
              <a:lnSpc>
                <a:spcPct val="150000"/>
              </a:lnSpc>
              <a:buFont typeface="Wingdings" panose="05000000000000000000" pitchFamily="2" charset="2"/>
              <a:buChar char="q"/>
            </a:pPr>
            <a:r>
              <a:rPr lang="en-US" sz="2400" dirty="0">
                <a:latin typeface="Bodoni MT" panose="02070603080606020203" pitchFamily="18" charset="0"/>
              </a:rPr>
              <a:t>While there is only one true density function </a:t>
            </a:r>
            <a:r>
              <a:rPr lang="en-US" sz="2400" b="1" dirty="0" smtClean="0">
                <a:solidFill>
                  <a:srgbClr val="C00000"/>
                </a:solidFill>
                <a:effectLst>
                  <a:outerShdw blurRad="38100" dist="38100" dir="2700000" algn="tl">
                    <a:srgbClr val="000000">
                      <a:alpha val="43137"/>
                    </a:srgbClr>
                  </a:outerShdw>
                </a:effectLst>
                <a:latin typeface="Bodoni MT" panose="02070603080606020203" pitchFamily="18" charset="0"/>
              </a:rPr>
              <a:t>p</a:t>
            </a:r>
            <a:r>
              <a:rPr lang="en-US" sz="2400" b="1" baseline="-25000" dirty="0" smtClean="0">
                <a:solidFill>
                  <a:srgbClr val="C00000"/>
                </a:solidFill>
                <a:effectLst>
                  <a:outerShdw blurRad="38100" dist="38100" dir="2700000" algn="tl">
                    <a:srgbClr val="000000">
                      <a:alpha val="43137"/>
                    </a:srgbClr>
                  </a:outerShdw>
                </a:effectLst>
                <a:latin typeface="Bodoni MT" panose="02070603080606020203" pitchFamily="18" charset="0"/>
              </a:rPr>
              <a:t>data </a:t>
            </a:r>
            <a:r>
              <a:rPr lang="en-US" sz="2400" dirty="0" smtClean="0">
                <a:latin typeface="Bodoni MT" panose="02070603080606020203" pitchFamily="18" charset="0"/>
              </a:rPr>
              <a:t> </a:t>
            </a:r>
            <a:r>
              <a:rPr lang="en-US" sz="2400" dirty="0">
                <a:latin typeface="Bodoni MT" panose="02070603080606020203" pitchFamily="18" charset="0"/>
              </a:rPr>
              <a:t>that is assumed to have </a:t>
            </a:r>
            <a:r>
              <a:rPr lang="en-US" sz="2400" dirty="0" smtClean="0">
                <a:latin typeface="Bodoni MT" panose="02070603080606020203" pitchFamily="18" charset="0"/>
              </a:rPr>
              <a:t>generated the </a:t>
            </a:r>
            <a:r>
              <a:rPr lang="en-US" sz="2400" dirty="0">
                <a:latin typeface="Bodoni MT" panose="02070603080606020203" pitchFamily="18" charset="0"/>
              </a:rPr>
              <a:t>observable </a:t>
            </a:r>
            <a:r>
              <a:rPr lang="en-US" sz="2400" dirty="0" smtClean="0">
                <a:latin typeface="Bodoni MT" panose="02070603080606020203" pitchFamily="18" charset="0"/>
              </a:rPr>
              <a:t>dataset.</a:t>
            </a:r>
          </a:p>
          <a:p>
            <a:pPr marL="342900" indent="-342900" algn="just">
              <a:lnSpc>
                <a:spcPct val="150000"/>
              </a:lnSpc>
              <a:buFont typeface="Wingdings" panose="05000000000000000000" pitchFamily="2" charset="2"/>
              <a:buChar char="q"/>
            </a:pPr>
            <a:r>
              <a:rPr lang="en-US" sz="2400" dirty="0" smtClean="0">
                <a:latin typeface="Bodoni MT" panose="02070603080606020203" pitchFamily="18" charset="0"/>
              </a:rPr>
              <a:t>There </a:t>
            </a:r>
            <a:r>
              <a:rPr lang="en-US" sz="2400" dirty="0">
                <a:latin typeface="Bodoni MT" panose="02070603080606020203" pitchFamily="18" charset="0"/>
              </a:rPr>
              <a:t>are infinitely many density functions </a:t>
            </a:r>
            <a:r>
              <a:rPr lang="en-US" sz="2400" b="1" dirty="0" err="1" smtClean="0">
                <a:solidFill>
                  <a:srgbClr val="C00000"/>
                </a:solidFill>
                <a:effectLst>
                  <a:outerShdw blurRad="38100" dist="38100" dir="2700000" algn="tl">
                    <a:srgbClr val="000000">
                      <a:alpha val="43137"/>
                    </a:srgbClr>
                  </a:outerShdw>
                </a:effectLst>
                <a:latin typeface="Bodoni MT" panose="02070603080606020203" pitchFamily="18" charset="0"/>
              </a:rPr>
              <a:t>p</a:t>
            </a:r>
            <a:r>
              <a:rPr lang="en-US" sz="2400" b="1" baseline="-25000" dirty="0" err="1" smtClean="0">
                <a:solidFill>
                  <a:srgbClr val="C00000"/>
                </a:solidFill>
                <a:effectLst>
                  <a:outerShdw blurRad="38100" dist="38100" dir="2700000" algn="tl">
                    <a:srgbClr val="000000">
                      <a:alpha val="43137"/>
                    </a:srgbClr>
                  </a:outerShdw>
                </a:effectLst>
                <a:latin typeface="Bodoni MT" panose="02070603080606020203" pitchFamily="18" charset="0"/>
              </a:rPr>
              <a:t>model</a:t>
            </a:r>
            <a:r>
              <a:rPr lang="en-US" sz="2400" b="1" dirty="0" smtClean="0">
                <a:solidFill>
                  <a:srgbClr val="C00000"/>
                </a:solidFill>
                <a:effectLst>
                  <a:outerShdw blurRad="38100" dist="38100" dir="2700000" algn="tl">
                    <a:srgbClr val="000000">
                      <a:alpha val="43137"/>
                    </a:srgbClr>
                  </a:outerShdw>
                </a:effectLst>
                <a:latin typeface="Bodoni MT" panose="02070603080606020203" pitchFamily="18" charset="0"/>
              </a:rPr>
              <a:t> </a:t>
            </a:r>
            <a:r>
              <a:rPr lang="en-US" sz="2400" dirty="0" smtClean="0">
                <a:latin typeface="Bodoni MT" panose="02070603080606020203" pitchFamily="18" charset="0"/>
              </a:rPr>
              <a:t> </a:t>
            </a:r>
            <a:r>
              <a:rPr lang="en-US" sz="2400" dirty="0">
                <a:latin typeface="Bodoni MT" panose="02070603080606020203" pitchFamily="18" charset="0"/>
              </a:rPr>
              <a:t>that we </a:t>
            </a:r>
            <a:r>
              <a:rPr lang="en-US" sz="2400" dirty="0" smtClean="0">
                <a:latin typeface="Bodoni MT" panose="02070603080606020203" pitchFamily="18" charset="0"/>
              </a:rPr>
              <a:t>can use </a:t>
            </a:r>
            <a:r>
              <a:rPr lang="en-US" sz="2400" dirty="0">
                <a:latin typeface="Bodoni MT" panose="02070603080606020203" pitchFamily="18" charset="0"/>
              </a:rPr>
              <a:t>to estimate pdata. </a:t>
            </a:r>
            <a:endParaRPr lang="en-US" sz="2400" dirty="0" smtClean="0">
              <a:latin typeface="Bodoni MT" panose="02070603080606020203" pitchFamily="18" charset="0"/>
            </a:endParaRPr>
          </a:p>
          <a:p>
            <a:pPr marL="342900" indent="-342900" algn="just">
              <a:lnSpc>
                <a:spcPct val="150000"/>
              </a:lnSpc>
              <a:buFont typeface="Wingdings" panose="05000000000000000000" pitchFamily="2" charset="2"/>
              <a:buChar char="q"/>
            </a:pPr>
            <a:r>
              <a:rPr lang="en-US" sz="2400" dirty="0" smtClean="0">
                <a:latin typeface="Bodoni MT" panose="02070603080606020203" pitchFamily="18" charset="0"/>
              </a:rPr>
              <a:t>In </a:t>
            </a:r>
            <a:r>
              <a:rPr lang="en-US" sz="2400" dirty="0">
                <a:latin typeface="Bodoni MT" panose="02070603080606020203" pitchFamily="18" charset="0"/>
              </a:rPr>
              <a:t>order to structure our approach to finding a suitable </a:t>
            </a:r>
            <a:r>
              <a:rPr lang="en-US" sz="2400" b="1" dirty="0" err="1">
                <a:solidFill>
                  <a:srgbClr val="C00000"/>
                </a:solidFill>
                <a:effectLst>
                  <a:outerShdw blurRad="38100" dist="38100" dir="2700000" algn="tl">
                    <a:srgbClr val="000000">
                      <a:alpha val="43137"/>
                    </a:srgbClr>
                  </a:outerShdw>
                </a:effectLst>
                <a:latin typeface="Bodoni MT" panose="02070603080606020203" pitchFamily="18" charset="0"/>
              </a:rPr>
              <a:t>p</a:t>
            </a:r>
            <a:r>
              <a:rPr lang="en-US" sz="2400" b="1" baseline="-25000" dirty="0" err="1">
                <a:solidFill>
                  <a:srgbClr val="C00000"/>
                </a:solidFill>
                <a:effectLst>
                  <a:outerShdw blurRad="38100" dist="38100" dir="2700000" algn="tl">
                    <a:srgbClr val="000000">
                      <a:alpha val="43137"/>
                    </a:srgbClr>
                  </a:outerShdw>
                </a:effectLst>
                <a:latin typeface="Bodoni MT" panose="02070603080606020203" pitchFamily="18" charset="0"/>
              </a:rPr>
              <a:t>model</a:t>
            </a:r>
            <a:r>
              <a:rPr lang="en-US" sz="2400" dirty="0" smtClean="0">
                <a:latin typeface="Bodoni MT" panose="02070603080606020203" pitchFamily="18" charset="0"/>
              </a:rPr>
              <a:t>(X) we </a:t>
            </a:r>
            <a:r>
              <a:rPr lang="en-US" sz="2400" dirty="0">
                <a:latin typeface="Bodoni MT" panose="02070603080606020203" pitchFamily="18" charset="0"/>
              </a:rPr>
              <a:t>can use a technique known as parametric modeling.</a:t>
            </a:r>
            <a:endParaRPr lang="en-IN" sz="2400" dirty="0">
              <a:latin typeface="Bodoni MT" panose="02070603080606020203" pitchFamily="18" charset="0"/>
            </a:endParaRPr>
          </a:p>
        </p:txBody>
      </p:sp>
    </p:spTree>
    <p:extLst>
      <p:ext uri="{BB962C8B-B14F-4D97-AF65-F5344CB8AC3E}">
        <p14:creationId xmlns:p14="http://schemas.microsoft.com/office/powerpoint/2010/main" val="1031299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sp>
        <p:nvSpPr>
          <p:cNvPr id="8" name="Rectangle 7"/>
          <p:cNvSpPr/>
          <p:nvPr/>
        </p:nvSpPr>
        <p:spPr>
          <a:xfrm>
            <a:off x="924339" y="1172817"/>
            <a:ext cx="10644809" cy="466145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9" name="Picture 8"/>
          <p:cNvPicPr>
            <a:picLocks noChangeAspect="1"/>
          </p:cNvPicPr>
          <p:nvPr/>
        </p:nvPicPr>
        <p:blipFill>
          <a:blip r:embed="rId2"/>
          <a:stretch>
            <a:fillRect/>
          </a:stretch>
        </p:blipFill>
        <p:spPr>
          <a:xfrm>
            <a:off x="1222514" y="1251278"/>
            <a:ext cx="10346634" cy="2943035"/>
          </a:xfrm>
          <a:prstGeom prst="rect">
            <a:avLst/>
          </a:prstGeom>
        </p:spPr>
      </p:pic>
      <p:pic>
        <p:nvPicPr>
          <p:cNvPr id="10" name="Picture 9"/>
          <p:cNvPicPr>
            <a:picLocks noChangeAspect="1"/>
          </p:cNvPicPr>
          <p:nvPr/>
        </p:nvPicPr>
        <p:blipFill>
          <a:blip r:embed="rId3"/>
          <a:stretch>
            <a:fillRect/>
          </a:stretch>
        </p:blipFill>
        <p:spPr>
          <a:xfrm>
            <a:off x="1222520" y="4268943"/>
            <a:ext cx="10048445" cy="1217578"/>
          </a:xfrm>
          <a:prstGeom prst="rect">
            <a:avLst/>
          </a:prstGeom>
        </p:spPr>
      </p:pic>
    </p:spTree>
    <p:extLst>
      <p:ext uri="{BB962C8B-B14F-4D97-AF65-F5344CB8AC3E}">
        <p14:creationId xmlns:p14="http://schemas.microsoft.com/office/powerpoint/2010/main" val="25815221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334" y="1128098"/>
            <a:ext cx="9623289" cy="5214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19</a:t>
            </a:fld>
            <a:endParaRPr lang="en-US"/>
          </a:p>
        </p:txBody>
      </p:sp>
      <p:sp>
        <p:nvSpPr>
          <p:cNvPr id="2" name="Rectangle 1"/>
          <p:cNvSpPr/>
          <p:nvPr/>
        </p:nvSpPr>
        <p:spPr>
          <a:xfrm>
            <a:off x="1071154" y="911950"/>
            <a:ext cx="10280469" cy="53582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051651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pic>
        <p:nvPicPr>
          <p:cNvPr id="6" name="Picture 5"/>
          <p:cNvPicPr>
            <a:picLocks noChangeAspect="1"/>
          </p:cNvPicPr>
          <p:nvPr/>
        </p:nvPicPr>
        <p:blipFill>
          <a:blip r:embed="rId2"/>
          <a:stretch>
            <a:fillRect/>
          </a:stretch>
        </p:blipFill>
        <p:spPr>
          <a:xfrm>
            <a:off x="1183860" y="949949"/>
            <a:ext cx="10077175" cy="4854504"/>
          </a:xfrm>
          <a:prstGeom prst="rect">
            <a:avLst/>
          </a:prstGeom>
        </p:spPr>
      </p:pic>
    </p:spTree>
    <p:extLst>
      <p:ext uri="{BB962C8B-B14F-4D97-AF65-F5344CB8AC3E}">
        <p14:creationId xmlns:p14="http://schemas.microsoft.com/office/powerpoint/2010/main" val="22533528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654" y="1044113"/>
            <a:ext cx="10672355" cy="5186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12945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a:p>
        </p:txBody>
      </p:sp>
      <p:sp>
        <p:nvSpPr>
          <p:cNvPr id="6" name="Rectangle 5"/>
          <p:cNvSpPr/>
          <p:nvPr/>
        </p:nvSpPr>
        <p:spPr>
          <a:xfrm>
            <a:off x="788126" y="1051207"/>
            <a:ext cx="11072948" cy="2677656"/>
          </a:xfrm>
          <a:prstGeom prst="rect">
            <a:avLst/>
          </a:prstGeom>
        </p:spPr>
        <p:txBody>
          <a:bodyPr wrap="square">
            <a:spAutoFit/>
          </a:bodyPr>
          <a:lstStyle/>
          <a:p>
            <a:r>
              <a:rPr lang="en-US" sz="2400" u="sng" dirty="0">
                <a:latin typeface="Bodoni MT" panose="02070603080606020203" pitchFamily="18" charset="0"/>
              </a:rPr>
              <a:t>Each observation can be described by five features</a:t>
            </a:r>
            <a:r>
              <a:rPr lang="en-US" sz="2400" u="sng" dirty="0" smtClean="0">
                <a:latin typeface="Bodoni MT" panose="02070603080606020203" pitchFamily="18" charset="0"/>
              </a:rPr>
              <a:t>,</a:t>
            </a:r>
          </a:p>
          <a:p>
            <a:r>
              <a:rPr lang="en-US" sz="2400" dirty="0" smtClean="0">
                <a:latin typeface="Bodoni MT" panose="02070603080606020203" pitchFamily="18" charset="0"/>
              </a:rPr>
              <a:t> </a:t>
            </a:r>
          </a:p>
          <a:p>
            <a:pPr marL="457200" lvl="3" indent="-457200">
              <a:buFont typeface="+mj-lt"/>
              <a:buAutoNum type="arabicPeriod"/>
            </a:pPr>
            <a:r>
              <a:rPr lang="en-US" sz="2400" b="1" dirty="0" err="1" smtClean="0">
                <a:solidFill>
                  <a:srgbClr val="FF0000"/>
                </a:solidFill>
                <a:effectLst>
                  <a:outerShdw blurRad="38100" dist="38100" dir="2700000" algn="tl">
                    <a:srgbClr val="000000">
                      <a:alpha val="43137"/>
                    </a:srgbClr>
                  </a:outerShdw>
                </a:effectLst>
                <a:latin typeface="Bodoni MT" panose="02070603080606020203" pitchFamily="18" charset="0"/>
              </a:rPr>
              <a:t>accessoriesType</a:t>
            </a:r>
            <a:endParaRPr lang="en-US" sz="2400" b="1" dirty="0">
              <a:solidFill>
                <a:srgbClr val="FF0000"/>
              </a:solidFill>
              <a:effectLst>
                <a:outerShdw blurRad="38100" dist="38100" dir="2700000" algn="tl">
                  <a:srgbClr val="000000">
                    <a:alpha val="43137"/>
                  </a:srgbClr>
                </a:outerShdw>
              </a:effectLst>
              <a:latin typeface="Bodoni MT" panose="02070603080606020203" pitchFamily="18" charset="0"/>
            </a:endParaRPr>
          </a:p>
          <a:p>
            <a:pPr marL="457200" lvl="3" indent="-457200">
              <a:buFont typeface="+mj-lt"/>
              <a:buAutoNum type="arabicPeriod"/>
            </a:pPr>
            <a:r>
              <a:rPr lang="en-US" sz="2400" b="1" dirty="0" err="1" smtClean="0">
                <a:solidFill>
                  <a:srgbClr val="FF0000"/>
                </a:solidFill>
                <a:effectLst>
                  <a:outerShdw blurRad="38100" dist="38100" dir="2700000" algn="tl">
                    <a:srgbClr val="000000">
                      <a:alpha val="43137"/>
                    </a:srgbClr>
                  </a:outerShdw>
                </a:effectLst>
                <a:latin typeface="Bodoni MT" panose="02070603080606020203" pitchFamily="18" charset="0"/>
              </a:rPr>
              <a:t>clothingColor</a:t>
            </a:r>
            <a:endParaRPr lang="en-US" sz="2400" b="1" dirty="0" smtClean="0">
              <a:solidFill>
                <a:srgbClr val="FF0000"/>
              </a:solidFill>
              <a:effectLst>
                <a:outerShdw blurRad="38100" dist="38100" dir="2700000" algn="tl">
                  <a:srgbClr val="000000">
                    <a:alpha val="43137"/>
                  </a:srgbClr>
                </a:outerShdw>
              </a:effectLst>
              <a:latin typeface="Bodoni MT" panose="02070603080606020203" pitchFamily="18" charset="0"/>
            </a:endParaRPr>
          </a:p>
          <a:p>
            <a:pPr marL="457200" lvl="3" indent="-457200">
              <a:buFont typeface="+mj-lt"/>
              <a:buAutoNum type="arabicPeriod"/>
            </a:pPr>
            <a:r>
              <a:rPr lang="en-US" sz="2400" b="1" dirty="0" err="1" smtClean="0">
                <a:solidFill>
                  <a:srgbClr val="FF0000"/>
                </a:solidFill>
                <a:effectLst>
                  <a:outerShdw blurRad="38100" dist="38100" dir="2700000" algn="tl">
                    <a:srgbClr val="000000">
                      <a:alpha val="43137"/>
                    </a:srgbClr>
                  </a:outerShdw>
                </a:effectLst>
                <a:latin typeface="Bodoni MT" panose="02070603080606020203" pitchFamily="18" charset="0"/>
              </a:rPr>
              <a:t>clothingType</a:t>
            </a:r>
            <a:endParaRPr lang="en-US" sz="2400" b="1" dirty="0" smtClean="0">
              <a:solidFill>
                <a:srgbClr val="FF0000"/>
              </a:solidFill>
              <a:effectLst>
                <a:outerShdw blurRad="38100" dist="38100" dir="2700000" algn="tl">
                  <a:srgbClr val="000000">
                    <a:alpha val="43137"/>
                  </a:srgbClr>
                </a:outerShdw>
              </a:effectLst>
              <a:latin typeface="Bodoni MT" panose="02070603080606020203" pitchFamily="18" charset="0"/>
            </a:endParaRPr>
          </a:p>
          <a:p>
            <a:pPr marL="457200" lvl="3" indent="-457200">
              <a:buFont typeface="+mj-lt"/>
              <a:buAutoNum type="arabicPeriod"/>
            </a:pPr>
            <a:r>
              <a:rPr lang="en-US" sz="2400" b="1" dirty="0" err="1" smtClean="0">
                <a:solidFill>
                  <a:srgbClr val="FF0000"/>
                </a:solidFill>
                <a:effectLst>
                  <a:outerShdw blurRad="38100" dist="38100" dir="2700000" algn="tl">
                    <a:srgbClr val="000000">
                      <a:alpha val="43137"/>
                    </a:srgbClr>
                  </a:outerShdw>
                </a:effectLst>
                <a:latin typeface="Bodoni MT" panose="02070603080606020203" pitchFamily="18" charset="0"/>
              </a:rPr>
              <a:t>hairColor</a:t>
            </a:r>
            <a:endParaRPr lang="en-US" sz="2400" b="1" dirty="0" smtClean="0">
              <a:solidFill>
                <a:srgbClr val="FF0000"/>
              </a:solidFill>
              <a:effectLst>
                <a:outerShdw blurRad="38100" dist="38100" dir="2700000" algn="tl">
                  <a:srgbClr val="000000">
                    <a:alpha val="43137"/>
                  </a:srgbClr>
                </a:outerShdw>
              </a:effectLst>
              <a:latin typeface="Bodoni MT" panose="02070603080606020203" pitchFamily="18" charset="0"/>
            </a:endParaRPr>
          </a:p>
          <a:p>
            <a:pPr marL="457200" lvl="3" indent="-457200">
              <a:buFont typeface="+mj-lt"/>
              <a:buAutoNum type="arabicPeriod"/>
            </a:pPr>
            <a:r>
              <a:rPr lang="en-US" sz="2400" b="1" dirty="0" err="1" smtClean="0">
                <a:solidFill>
                  <a:srgbClr val="FF0000"/>
                </a:solidFill>
                <a:effectLst>
                  <a:outerShdw blurRad="38100" dist="38100" dir="2700000" algn="tl">
                    <a:srgbClr val="000000">
                      <a:alpha val="43137"/>
                    </a:srgbClr>
                  </a:outerShdw>
                </a:effectLst>
                <a:latin typeface="Bodoni MT" panose="02070603080606020203" pitchFamily="18" charset="0"/>
              </a:rPr>
              <a:t>topType</a:t>
            </a:r>
            <a:endParaRPr lang="en-IN" sz="2400" dirty="0">
              <a:latin typeface="Bodoni MT" panose="02070603080606020203"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6212" y="1892890"/>
            <a:ext cx="6829834"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0987" y="4207465"/>
            <a:ext cx="6542179"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552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a:p>
        </p:txBody>
      </p:sp>
      <p:sp>
        <p:nvSpPr>
          <p:cNvPr id="6" name="Rectangle 5"/>
          <p:cNvSpPr/>
          <p:nvPr/>
        </p:nvSpPr>
        <p:spPr>
          <a:xfrm>
            <a:off x="775062" y="845795"/>
            <a:ext cx="10863943" cy="5447645"/>
          </a:xfrm>
          <a:prstGeom prst="rect">
            <a:avLst/>
          </a:prstGeom>
        </p:spPr>
        <p:txBody>
          <a:bodyPr wrap="square">
            <a:spAutoFit/>
          </a:bodyPr>
          <a:lstStyle/>
          <a:p>
            <a:r>
              <a:rPr lang="en-IN" sz="2400" dirty="0">
                <a:latin typeface="Bodoni MT" panose="02070603080606020203" pitchFamily="18" charset="0"/>
              </a:rPr>
              <a:t>The possible values for each feature include: </a:t>
            </a:r>
            <a:endParaRPr lang="en-IN" sz="2400" dirty="0" smtClean="0">
              <a:latin typeface="Bodoni MT" panose="02070603080606020203" pitchFamily="18" charset="0"/>
            </a:endParaRPr>
          </a:p>
          <a:p>
            <a:pPr marL="342900" indent="-342900">
              <a:lnSpc>
                <a:spcPct val="150000"/>
              </a:lnSpc>
              <a:buFont typeface="Wingdings" pitchFamily="2" charset="2"/>
              <a:buChar char="q"/>
            </a:pPr>
            <a:r>
              <a:rPr lang="en-IN" sz="2400" b="1" dirty="0" smtClean="0">
                <a:latin typeface="Bodoni MT" panose="02070603080606020203" pitchFamily="18" charset="0"/>
              </a:rPr>
              <a:t>7 </a:t>
            </a:r>
            <a:r>
              <a:rPr lang="en-IN" sz="2400" b="1" dirty="0">
                <a:latin typeface="Bodoni MT" panose="02070603080606020203" pitchFamily="18" charset="0"/>
              </a:rPr>
              <a:t>different hairstyles (</a:t>
            </a:r>
            <a:r>
              <a:rPr lang="en-IN" sz="2400" b="1" dirty="0" err="1">
                <a:latin typeface="Bodoni MT" panose="02070603080606020203" pitchFamily="18" charset="0"/>
              </a:rPr>
              <a:t>topType</a:t>
            </a:r>
            <a:r>
              <a:rPr lang="en-IN" sz="2400" b="1" dirty="0">
                <a:latin typeface="Bodoni MT" panose="02070603080606020203" pitchFamily="18" charset="0"/>
              </a:rPr>
              <a:t>): </a:t>
            </a:r>
            <a:r>
              <a:rPr lang="en-IN" sz="2400" dirty="0">
                <a:latin typeface="Bodoni MT" panose="02070603080606020203" pitchFamily="18" charset="0"/>
              </a:rPr>
              <a:t>—</a:t>
            </a:r>
            <a:r>
              <a:rPr lang="en-IN" sz="2400" dirty="0" err="1">
                <a:latin typeface="Bodoni MT" panose="02070603080606020203" pitchFamily="18" charset="0"/>
              </a:rPr>
              <a:t>NoHair</a:t>
            </a:r>
            <a:r>
              <a:rPr lang="en-IN" sz="2400" dirty="0">
                <a:latin typeface="Bodoni MT" panose="02070603080606020203" pitchFamily="18" charset="0"/>
              </a:rPr>
              <a:t>, </a:t>
            </a:r>
            <a:r>
              <a:rPr lang="en-IN" sz="2400" dirty="0" err="1">
                <a:latin typeface="Bodoni MT" panose="02070603080606020203" pitchFamily="18" charset="0"/>
              </a:rPr>
              <a:t>LongHairBun</a:t>
            </a:r>
            <a:r>
              <a:rPr lang="en-IN" sz="2400" dirty="0">
                <a:latin typeface="Bodoni MT" panose="02070603080606020203" pitchFamily="18" charset="0"/>
              </a:rPr>
              <a:t>, </a:t>
            </a:r>
            <a:r>
              <a:rPr lang="en-IN" sz="2400" dirty="0" err="1">
                <a:latin typeface="Bodoni MT" panose="02070603080606020203" pitchFamily="18" charset="0"/>
              </a:rPr>
              <a:t>LongHairCurly</a:t>
            </a:r>
            <a:r>
              <a:rPr lang="en-IN" sz="2400" dirty="0">
                <a:latin typeface="Bodoni MT" panose="02070603080606020203" pitchFamily="18" charset="0"/>
              </a:rPr>
              <a:t>, </a:t>
            </a:r>
            <a:r>
              <a:rPr lang="en-IN" sz="2400" dirty="0" err="1">
                <a:latin typeface="Bodoni MT" panose="02070603080606020203" pitchFamily="18" charset="0"/>
              </a:rPr>
              <a:t>LongHairStraight</a:t>
            </a:r>
            <a:r>
              <a:rPr lang="en-IN" sz="2400" dirty="0">
                <a:latin typeface="Bodoni MT" panose="02070603080606020203" pitchFamily="18" charset="0"/>
              </a:rPr>
              <a:t>, </a:t>
            </a:r>
            <a:r>
              <a:rPr lang="en-IN" sz="2400" dirty="0" err="1">
                <a:latin typeface="Bodoni MT" panose="02070603080606020203" pitchFamily="18" charset="0"/>
              </a:rPr>
              <a:t>ShortHairShort</a:t>
            </a:r>
            <a:r>
              <a:rPr lang="en-IN" sz="2400" dirty="0">
                <a:latin typeface="Bodoni MT" panose="02070603080606020203" pitchFamily="18" charset="0"/>
              </a:rPr>
              <a:t> Waved, </a:t>
            </a:r>
            <a:r>
              <a:rPr lang="en-IN" sz="2400" dirty="0" err="1">
                <a:latin typeface="Bodoni MT" panose="02070603080606020203" pitchFamily="18" charset="0"/>
              </a:rPr>
              <a:t>ShortHairShortFlat</a:t>
            </a:r>
            <a:r>
              <a:rPr lang="en-IN" sz="2400" dirty="0">
                <a:latin typeface="Bodoni MT" panose="02070603080606020203" pitchFamily="18" charset="0"/>
              </a:rPr>
              <a:t>, </a:t>
            </a:r>
            <a:r>
              <a:rPr lang="en-IN" sz="2400" dirty="0" err="1">
                <a:latin typeface="Bodoni MT" panose="02070603080606020203" pitchFamily="18" charset="0"/>
              </a:rPr>
              <a:t>ShortHairFrizzle</a:t>
            </a:r>
            <a:r>
              <a:rPr lang="en-IN" sz="2400" dirty="0">
                <a:latin typeface="Bodoni MT" panose="02070603080606020203" pitchFamily="18" charset="0"/>
              </a:rPr>
              <a:t> </a:t>
            </a:r>
            <a:r>
              <a:rPr lang="en-IN" sz="2400" dirty="0" smtClean="0">
                <a:latin typeface="Bodoni MT" panose="02070603080606020203" pitchFamily="18" charset="0"/>
              </a:rPr>
              <a:t>6 </a:t>
            </a:r>
            <a:r>
              <a:rPr lang="en-IN" sz="2400" dirty="0">
                <a:latin typeface="Bodoni MT" panose="02070603080606020203" pitchFamily="18" charset="0"/>
              </a:rPr>
              <a:t>different hair </a:t>
            </a:r>
            <a:r>
              <a:rPr lang="en-IN" sz="2400" dirty="0" err="1">
                <a:latin typeface="Bodoni MT" panose="02070603080606020203" pitchFamily="18" charset="0"/>
              </a:rPr>
              <a:t>colors</a:t>
            </a:r>
            <a:r>
              <a:rPr lang="en-IN" sz="2400" dirty="0">
                <a:latin typeface="Bodoni MT" panose="02070603080606020203" pitchFamily="18" charset="0"/>
              </a:rPr>
              <a:t> (</a:t>
            </a:r>
            <a:r>
              <a:rPr lang="en-IN" sz="2400" dirty="0" err="1">
                <a:latin typeface="Bodoni MT" panose="02070603080606020203" pitchFamily="18" charset="0"/>
              </a:rPr>
              <a:t>hairColor</a:t>
            </a:r>
            <a:r>
              <a:rPr lang="en-IN" sz="2400" dirty="0">
                <a:latin typeface="Bodoni MT" panose="02070603080606020203" pitchFamily="18" charset="0"/>
              </a:rPr>
              <a:t>): —Black, Blonde, Brown, </a:t>
            </a:r>
            <a:r>
              <a:rPr lang="en-IN" sz="2400" dirty="0" err="1">
                <a:latin typeface="Bodoni MT" panose="02070603080606020203" pitchFamily="18" charset="0"/>
              </a:rPr>
              <a:t>PastelPink</a:t>
            </a:r>
            <a:r>
              <a:rPr lang="en-IN" sz="2400" dirty="0">
                <a:latin typeface="Bodoni MT" panose="02070603080606020203" pitchFamily="18" charset="0"/>
              </a:rPr>
              <a:t>, Red, </a:t>
            </a:r>
            <a:r>
              <a:rPr lang="en-IN" sz="2400" dirty="0" err="1" smtClean="0">
                <a:latin typeface="Bodoni MT" panose="02070603080606020203" pitchFamily="18" charset="0"/>
              </a:rPr>
              <a:t>SilverGray</a:t>
            </a:r>
            <a:r>
              <a:rPr lang="en-IN" sz="2400" dirty="0" smtClean="0">
                <a:latin typeface="Bodoni MT" panose="02070603080606020203" pitchFamily="18" charset="0"/>
              </a:rPr>
              <a:t> </a:t>
            </a:r>
          </a:p>
          <a:p>
            <a:pPr marL="342900" indent="-342900">
              <a:lnSpc>
                <a:spcPct val="150000"/>
              </a:lnSpc>
              <a:buFont typeface="Wingdings" pitchFamily="2" charset="2"/>
              <a:buChar char="q"/>
            </a:pPr>
            <a:r>
              <a:rPr lang="en-IN" sz="2400" b="1" dirty="0" smtClean="0">
                <a:latin typeface="Bodoni MT" panose="02070603080606020203" pitchFamily="18" charset="0"/>
              </a:rPr>
              <a:t>3 </a:t>
            </a:r>
            <a:r>
              <a:rPr lang="en-IN" sz="2400" b="1" dirty="0">
                <a:latin typeface="Bodoni MT" panose="02070603080606020203" pitchFamily="18" charset="0"/>
              </a:rPr>
              <a:t>different kinds of glasses (</a:t>
            </a:r>
            <a:r>
              <a:rPr lang="en-IN" sz="2400" b="1" dirty="0" err="1">
                <a:latin typeface="Bodoni MT" panose="02070603080606020203" pitchFamily="18" charset="0"/>
              </a:rPr>
              <a:t>accessoriesType</a:t>
            </a:r>
            <a:r>
              <a:rPr lang="en-IN" sz="2400" b="1" dirty="0">
                <a:latin typeface="Bodoni MT" panose="02070603080606020203" pitchFamily="18" charset="0"/>
              </a:rPr>
              <a:t>): </a:t>
            </a:r>
            <a:r>
              <a:rPr lang="en-IN" sz="2400" dirty="0">
                <a:latin typeface="Bodoni MT" panose="02070603080606020203" pitchFamily="18" charset="0"/>
              </a:rPr>
              <a:t>—Blank, Round, Sunglasses </a:t>
            </a:r>
          </a:p>
          <a:p>
            <a:pPr marL="342900" indent="-342900">
              <a:lnSpc>
                <a:spcPct val="150000"/>
              </a:lnSpc>
              <a:buFont typeface="Wingdings" pitchFamily="2" charset="2"/>
              <a:buChar char="q"/>
            </a:pPr>
            <a:r>
              <a:rPr lang="en-IN" sz="2400" b="1" dirty="0" smtClean="0">
                <a:latin typeface="Bodoni MT" panose="02070603080606020203" pitchFamily="18" charset="0"/>
              </a:rPr>
              <a:t>4 </a:t>
            </a:r>
            <a:r>
              <a:rPr lang="en-IN" sz="2400" b="1" dirty="0">
                <a:latin typeface="Bodoni MT" panose="02070603080606020203" pitchFamily="18" charset="0"/>
              </a:rPr>
              <a:t>different kinds of clothing (</a:t>
            </a:r>
            <a:r>
              <a:rPr lang="en-IN" sz="2400" b="1" dirty="0" err="1">
                <a:latin typeface="Bodoni MT" panose="02070603080606020203" pitchFamily="18" charset="0"/>
              </a:rPr>
              <a:t>clothingType</a:t>
            </a:r>
            <a:r>
              <a:rPr lang="en-IN" sz="2400" b="1" dirty="0">
                <a:latin typeface="Bodoni MT" panose="02070603080606020203" pitchFamily="18" charset="0"/>
              </a:rPr>
              <a:t>):</a:t>
            </a:r>
            <a:r>
              <a:rPr lang="en-IN" sz="2400" dirty="0">
                <a:latin typeface="Bodoni MT" panose="02070603080606020203" pitchFamily="18" charset="0"/>
              </a:rPr>
              <a:t> —Hoodie, Overall, </a:t>
            </a:r>
            <a:r>
              <a:rPr lang="en-IN" sz="2400" dirty="0" err="1">
                <a:latin typeface="Bodoni MT" panose="02070603080606020203" pitchFamily="18" charset="0"/>
              </a:rPr>
              <a:t>ShirtScoopNeck</a:t>
            </a:r>
            <a:r>
              <a:rPr lang="en-IN" sz="2400" dirty="0">
                <a:latin typeface="Bodoni MT" panose="02070603080606020203" pitchFamily="18" charset="0"/>
              </a:rPr>
              <a:t>, </a:t>
            </a:r>
            <a:r>
              <a:rPr lang="en-IN" sz="2400" dirty="0" err="1">
                <a:latin typeface="Bodoni MT" panose="02070603080606020203" pitchFamily="18" charset="0"/>
              </a:rPr>
              <a:t>ShirtVNeck</a:t>
            </a:r>
            <a:r>
              <a:rPr lang="en-IN" sz="2400" dirty="0">
                <a:latin typeface="Bodoni MT" panose="02070603080606020203" pitchFamily="18" charset="0"/>
              </a:rPr>
              <a:t> </a:t>
            </a:r>
          </a:p>
          <a:p>
            <a:pPr marL="342900" indent="-342900">
              <a:lnSpc>
                <a:spcPct val="150000"/>
              </a:lnSpc>
              <a:buFont typeface="Wingdings" pitchFamily="2" charset="2"/>
              <a:buChar char="q"/>
            </a:pPr>
            <a:r>
              <a:rPr lang="en-IN" sz="2400" b="1" dirty="0" smtClean="0">
                <a:latin typeface="Bodoni MT" panose="02070603080606020203" pitchFamily="18" charset="0"/>
              </a:rPr>
              <a:t>8 </a:t>
            </a:r>
            <a:r>
              <a:rPr lang="en-IN" sz="2400" b="1" dirty="0">
                <a:latin typeface="Bodoni MT" panose="02070603080606020203" pitchFamily="18" charset="0"/>
              </a:rPr>
              <a:t>different clothing </a:t>
            </a:r>
            <a:r>
              <a:rPr lang="en-IN" sz="2400" b="1" dirty="0" err="1">
                <a:latin typeface="Bodoni MT" panose="02070603080606020203" pitchFamily="18" charset="0"/>
              </a:rPr>
              <a:t>colors</a:t>
            </a:r>
            <a:r>
              <a:rPr lang="en-IN" sz="2400" b="1" dirty="0">
                <a:latin typeface="Bodoni MT" panose="02070603080606020203" pitchFamily="18" charset="0"/>
              </a:rPr>
              <a:t> (</a:t>
            </a:r>
            <a:r>
              <a:rPr lang="en-IN" sz="2400" b="1" dirty="0" err="1">
                <a:latin typeface="Bodoni MT" panose="02070603080606020203" pitchFamily="18" charset="0"/>
              </a:rPr>
              <a:t>clothingColor</a:t>
            </a:r>
            <a:r>
              <a:rPr lang="en-IN" sz="2400" b="1" dirty="0">
                <a:latin typeface="Bodoni MT" panose="02070603080606020203" pitchFamily="18" charset="0"/>
              </a:rPr>
              <a:t>): </a:t>
            </a:r>
            <a:r>
              <a:rPr lang="en-IN" sz="2400" dirty="0">
                <a:latin typeface="Bodoni MT" panose="02070603080606020203" pitchFamily="18" charset="0"/>
              </a:rPr>
              <a:t>—Black, Blue01, Gray01, </a:t>
            </a:r>
            <a:r>
              <a:rPr lang="en-IN" sz="2400" dirty="0" err="1">
                <a:latin typeface="Bodoni MT" panose="02070603080606020203" pitchFamily="18" charset="0"/>
              </a:rPr>
              <a:t>PastelGreen</a:t>
            </a:r>
            <a:r>
              <a:rPr lang="en-IN" sz="2400" dirty="0">
                <a:latin typeface="Bodoni MT" panose="02070603080606020203" pitchFamily="18" charset="0"/>
              </a:rPr>
              <a:t>, </a:t>
            </a:r>
            <a:r>
              <a:rPr lang="en-IN" sz="2400" dirty="0" err="1">
                <a:latin typeface="Bodoni MT" panose="02070603080606020203" pitchFamily="18" charset="0"/>
              </a:rPr>
              <a:t>PastelOrange</a:t>
            </a:r>
            <a:r>
              <a:rPr lang="en-IN" sz="2400" dirty="0">
                <a:latin typeface="Bodoni MT" panose="02070603080606020203" pitchFamily="18" charset="0"/>
              </a:rPr>
              <a:t>, Pink, Red, </a:t>
            </a:r>
            <a:r>
              <a:rPr lang="en-IN" sz="2400" dirty="0" smtClean="0">
                <a:latin typeface="Bodoni MT" panose="02070603080606020203" pitchFamily="18" charset="0"/>
              </a:rPr>
              <a:t>White.</a:t>
            </a:r>
            <a:endParaRPr lang="en-IN" sz="2400" dirty="0">
              <a:latin typeface="Bodoni MT" panose="02070603080606020203" pitchFamily="18" charset="0"/>
            </a:endParaRPr>
          </a:p>
        </p:txBody>
      </p:sp>
    </p:spTree>
    <p:extLst>
      <p:ext uri="{BB962C8B-B14F-4D97-AF65-F5344CB8AC3E}">
        <p14:creationId xmlns:p14="http://schemas.microsoft.com/office/powerpoint/2010/main" val="38025261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a:p>
        </p:txBody>
      </p:sp>
      <p:sp>
        <p:nvSpPr>
          <p:cNvPr id="6" name="Rectangle 5"/>
          <p:cNvSpPr/>
          <p:nvPr/>
        </p:nvSpPr>
        <p:spPr>
          <a:xfrm>
            <a:off x="696684" y="1012018"/>
            <a:ext cx="10485121" cy="830997"/>
          </a:xfrm>
          <a:prstGeom prst="rect">
            <a:avLst/>
          </a:prstGeom>
          <a:solidFill>
            <a:schemeClr val="tx2">
              <a:lumMod val="90000"/>
            </a:schemeClr>
          </a:solidFill>
        </p:spPr>
        <p:txBody>
          <a:bodyPr wrap="square">
            <a:spAutoFit/>
          </a:bodyPr>
          <a:lstStyle/>
          <a:p>
            <a:pPr marL="342900" indent="-342900">
              <a:buFont typeface="Arial" pitchFamily="34" charset="0"/>
              <a:buChar char="•"/>
            </a:pPr>
            <a:r>
              <a:rPr lang="en-US" sz="2400" dirty="0">
                <a:solidFill>
                  <a:srgbClr val="FF0000"/>
                </a:solidFill>
                <a:latin typeface="Bodoni MT" panose="02070603080606020203" pitchFamily="18" charset="0"/>
              </a:rPr>
              <a:t>There are 7 × 6 × 3 × 4 × 8 = 4,032 different combinations of these features, so there are 4,032 points in the sample space.</a:t>
            </a:r>
            <a:endParaRPr lang="en-IN" sz="2400" dirty="0">
              <a:solidFill>
                <a:srgbClr val="FF0000"/>
              </a:solidFill>
              <a:latin typeface="Bodoni MT" panose="02070603080606020203" pitchFamily="18" charset="0"/>
            </a:endParaRPr>
          </a:p>
        </p:txBody>
      </p:sp>
      <p:sp>
        <p:nvSpPr>
          <p:cNvPr id="7" name="Rectangle 6"/>
          <p:cNvSpPr/>
          <p:nvPr/>
        </p:nvSpPr>
        <p:spPr>
          <a:xfrm>
            <a:off x="696682" y="2200739"/>
            <a:ext cx="10485121" cy="2256772"/>
          </a:xfrm>
          <a:prstGeom prst="rect">
            <a:avLst/>
          </a:prstGeom>
        </p:spPr>
        <p:txBody>
          <a:bodyPr wrap="square">
            <a:spAutoFit/>
          </a:bodyPr>
          <a:lstStyle/>
          <a:p>
            <a:pPr marL="342900" indent="-342900">
              <a:lnSpc>
                <a:spcPct val="150000"/>
              </a:lnSpc>
              <a:buFont typeface="Arial" pitchFamily="34" charset="0"/>
              <a:buChar char="•"/>
            </a:pPr>
            <a:r>
              <a:rPr lang="en-US" sz="2400" b="1" dirty="0">
                <a:latin typeface="Bodoni MT" pitchFamily="18" charset="0"/>
              </a:rPr>
              <a:t>The problem is that we do not know </a:t>
            </a:r>
            <a:r>
              <a:rPr lang="en-US" sz="2400" b="1" dirty="0" err="1" smtClean="0">
                <a:solidFill>
                  <a:srgbClr val="FF0000"/>
                </a:solidFill>
                <a:latin typeface="Bodoni MT" pitchFamily="18" charset="0"/>
              </a:rPr>
              <a:t>p</a:t>
            </a:r>
            <a:r>
              <a:rPr lang="en-US" sz="2400" b="1" baseline="-25000" dirty="0" err="1" smtClean="0">
                <a:solidFill>
                  <a:srgbClr val="FF0000"/>
                </a:solidFill>
                <a:latin typeface="Bodoni MT" pitchFamily="18" charset="0"/>
              </a:rPr>
              <a:t>data</a:t>
            </a:r>
            <a:r>
              <a:rPr lang="en-US" sz="2400" b="1" dirty="0" smtClean="0">
                <a:latin typeface="Bodoni MT" pitchFamily="18" charset="0"/>
              </a:rPr>
              <a:t> </a:t>
            </a:r>
            <a:r>
              <a:rPr lang="en-US" sz="2400" b="1" dirty="0">
                <a:latin typeface="Bodoni MT" pitchFamily="18" charset="0"/>
              </a:rPr>
              <a:t>explicitly—all we have to work with is the sample of observations X generated by </a:t>
            </a:r>
            <a:r>
              <a:rPr lang="en-US" sz="2400" b="1" dirty="0" err="1">
                <a:solidFill>
                  <a:srgbClr val="FF0000"/>
                </a:solidFill>
                <a:latin typeface="Bodoni MT" pitchFamily="18" charset="0"/>
              </a:rPr>
              <a:t>p</a:t>
            </a:r>
            <a:r>
              <a:rPr lang="en-US" sz="2400" b="1" baseline="-25000" dirty="0" err="1">
                <a:solidFill>
                  <a:srgbClr val="FF0000"/>
                </a:solidFill>
                <a:latin typeface="Bodoni MT" pitchFamily="18" charset="0"/>
              </a:rPr>
              <a:t>data</a:t>
            </a:r>
            <a:r>
              <a:rPr lang="en-US" sz="2400" b="1" dirty="0" smtClean="0">
                <a:latin typeface="Bodoni MT" pitchFamily="18" charset="0"/>
              </a:rPr>
              <a:t> </a:t>
            </a:r>
            <a:r>
              <a:rPr lang="en-US" sz="2400" b="1" dirty="0">
                <a:latin typeface="Bodoni MT" pitchFamily="18" charset="0"/>
              </a:rPr>
              <a:t>. </a:t>
            </a:r>
            <a:endParaRPr lang="en-US" sz="2400" b="1" dirty="0" smtClean="0">
              <a:latin typeface="Bodoni MT" pitchFamily="18" charset="0"/>
            </a:endParaRPr>
          </a:p>
          <a:p>
            <a:pPr marL="342900" indent="-342900">
              <a:lnSpc>
                <a:spcPct val="150000"/>
              </a:lnSpc>
              <a:buFont typeface="Arial" pitchFamily="34" charset="0"/>
              <a:buChar char="•"/>
            </a:pPr>
            <a:r>
              <a:rPr lang="en-US" sz="2400" b="1" dirty="0">
                <a:latin typeface="Bodoni MT" pitchFamily="18" charset="0"/>
              </a:rPr>
              <a:t>The goal of generative modeling is to use these observations to build a </a:t>
            </a:r>
            <a:r>
              <a:rPr lang="en-US" sz="2400" b="1" dirty="0" err="1" smtClean="0">
                <a:solidFill>
                  <a:srgbClr val="FF0000"/>
                </a:solidFill>
                <a:latin typeface="Bodoni MT" pitchFamily="18" charset="0"/>
              </a:rPr>
              <a:t>p</a:t>
            </a:r>
            <a:r>
              <a:rPr lang="en-US" sz="2400" b="1" baseline="-25000" dirty="0" err="1" smtClean="0">
                <a:solidFill>
                  <a:srgbClr val="FF0000"/>
                </a:solidFill>
                <a:latin typeface="Bodoni MT" pitchFamily="18" charset="0"/>
              </a:rPr>
              <a:t>model</a:t>
            </a:r>
            <a:r>
              <a:rPr lang="en-US" sz="2400" b="1" dirty="0" smtClean="0">
                <a:latin typeface="Bodoni MT" pitchFamily="18" charset="0"/>
              </a:rPr>
              <a:t> </a:t>
            </a:r>
            <a:r>
              <a:rPr lang="en-US" sz="2400" b="1" dirty="0">
                <a:latin typeface="Bodoni MT" pitchFamily="18" charset="0"/>
              </a:rPr>
              <a:t>that can accurately mimic the observations </a:t>
            </a:r>
            <a:r>
              <a:rPr lang="en-US" sz="2400" b="1" dirty="0" smtClean="0">
                <a:latin typeface="Bodoni MT" pitchFamily="18" charset="0"/>
              </a:rPr>
              <a:t>produced </a:t>
            </a:r>
            <a:r>
              <a:rPr lang="en-US" sz="2400" b="1" dirty="0">
                <a:latin typeface="Bodoni MT" pitchFamily="18" charset="0"/>
              </a:rPr>
              <a:t>by </a:t>
            </a:r>
            <a:r>
              <a:rPr lang="en-US" sz="2400" b="1" dirty="0" err="1" smtClean="0">
                <a:solidFill>
                  <a:srgbClr val="FF0000"/>
                </a:solidFill>
                <a:latin typeface="Bodoni MT" pitchFamily="18" charset="0"/>
              </a:rPr>
              <a:t>p</a:t>
            </a:r>
            <a:r>
              <a:rPr lang="en-US" sz="2400" b="1" baseline="-25000" dirty="0" err="1" smtClean="0">
                <a:solidFill>
                  <a:srgbClr val="FF0000"/>
                </a:solidFill>
                <a:latin typeface="Bodoni MT" pitchFamily="18" charset="0"/>
              </a:rPr>
              <a:t>data</a:t>
            </a:r>
            <a:r>
              <a:rPr lang="en-US" sz="2400" b="1" dirty="0" smtClean="0">
                <a:latin typeface="Bodoni MT" pitchFamily="18" charset="0"/>
              </a:rPr>
              <a:t> </a:t>
            </a:r>
            <a:r>
              <a:rPr lang="en-US" sz="2400" b="1" dirty="0">
                <a:latin typeface="Bodoni MT" pitchFamily="18" charset="0"/>
              </a:rPr>
              <a:t>.</a:t>
            </a:r>
            <a:endParaRPr lang="en-IN" sz="2400" b="1" dirty="0">
              <a:latin typeface="Bodoni MT" pitchFamily="18" charset="0"/>
            </a:endParaRPr>
          </a:p>
        </p:txBody>
      </p:sp>
    </p:spTree>
    <p:extLst>
      <p:ext uri="{BB962C8B-B14F-4D97-AF65-F5344CB8AC3E}">
        <p14:creationId xmlns:p14="http://schemas.microsoft.com/office/powerpoint/2010/main" val="428465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25</a:t>
            </a:fld>
            <a:endParaRPr lang="en-US"/>
          </a:p>
        </p:txBody>
      </p:sp>
      <p:sp>
        <p:nvSpPr>
          <p:cNvPr id="6" name="Rectangle 5"/>
          <p:cNvSpPr/>
          <p:nvPr/>
        </p:nvSpPr>
        <p:spPr>
          <a:xfrm>
            <a:off x="905690" y="868515"/>
            <a:ext cx="10903133" cy="5262979"/>
          </a:xfrm>
          <a:prstGeom prst="rect">
            <a:avLst/>
          </a:prstGeom>
        </p:spPr>
        <p:txBody>
          <a:bodyPr wrap="square">
            <a:spAutoFit/>
          </a:bodyPr>
          <a:lstStyle/>
          <a:p>
            <a:pPr marL="457200" indent="-457200" algn="just">
              <a:lnSpc>
                <a:spcPct val="150000"/>
              </a:lnSpc>
              <a:buFont typeface="Arial" pitchFamily="34" charset="0"/>
              <a:buChar char="•"/>
            </a:pPr>
            <a:r>
              <a:rPr lang="en-US" sz="2800" dirty="0">
                <a:latin typeface="Bodoni MT" pitchFamily="18" charset="0"/>
              </a:rPr>
              <a:t>To achieve this, we could simply assign a probability to each possible combination of features, based on the data we have seen. </a:t>
            </a:r>
            <a:endParaRPr lang="en-US" sz="2800" dirty="0" smtClean="0">
              <a:latin typeface="Bodoni MT" pitchFamily="18" charset="0"/>
            </a:endParaRPr>
          </a:p>
          <a:p>
            <a:pPr marL="457200" indent="-457200" algn="just">
              <a:lnSpc>
                <a:spcPct val="150000"/>
              </a:lnSpc>
              <a:buFont typeface="Arial" pitchFamily="34" charset="0"/>
              <a:buChar char="•"/>
            </a:pPr>
            <a:r>
              <a:rPr lang="en-US" sz="2800" dirty="0" smtClean="0">
                <a:latin typeface="Bodoni MT" pitchFamily="18" charset="0"/>
              </a:rPr>
              <a:t>Therefore</a:t>
            </a:r>
            <a:r>
              <a:rPr lang="en-US" sz="2800" dirty="0">
                <a:latin typeface="Bodoni MT" pitchFamily="18" charset="0"/>
              </a:rPr>
              <a:t>, this parametric model would have d = 4,031 parameters—one for each point in the sample space of possibilities, minus one since the value of the last parameter would be forced so that the total sums to 1. </a:t>
            </a:r>
            <a:endParaRPr lang="en-US" sz="2800" dirty="0" smtClean="0">
              <a:latin typeface="Bodoni MT" pitchFamily="18" charset="0"/>
            </a:endParaRPr>
          </a:p>
          <a:p>
            <a:pPr marL="457200" indent="-457200" algn="just">
              <a:lnSpc>
                <a:spcPct val="150000"/>
              </a:lnSpc>
              <a:buFont typeface="Arial" pitchFamily="34" charset="0"/>
              <a:buChar char="•"/>
            </a:pPr>
            <a:r>
              <a:rPr lang="en-US" sz="2800" dirty="0" smtClean="0">
                <a:latin typeface="Bodoni MT" pitchFamily="18" charset="0"/>
              </a:rPr>
              <a:t>Thus </a:t>
            </a:r>
            <a:r>
              <a:rPr lang="en-US" sz="2800" dirty="0">
                <a:latin typeface="Bodoni MT" pitchFamily="18" charset="0"/>
              </a:rPr>
              <a:t>the parameters of the model that we are trying to estimate are θ</a:t>
            </a:r>
            <a:r>
              <a:rPr lang="en-US" sz="2800" baseline="-25000" dirty="0">
                <a:latin typeface="Bodoni MT" pitchFamily="18" charset="0"/>
              </a:rPr>
              <a:t>1</a:t>
            </a:r>
            <a:r>
              <a:rPr lang="en-US" sz="2800" dirty="0">
                <a:latin typeface="Bodoni MT" pitchFamily="18" charset="0"/>
              </a:rPr>
              <a:t>, . . .,θ</a:t>
            </a:r>
            <a:r>
              <a:rPr lang="en-US" sz="2800" baseline="-25000" dirty="0">
                <a:latin typeface="Bodoni MT" pitchFamily="18" charset="0"/>
              </a:rPr>
              <a:t>4031</a:t>
            </a:r>
            <a:r>
              <a:rPr lang="en-US" sz="2800" dirty="0">
                <a:latin typeface="Bodoni MT" pitchFamily="18" charset="0"/>
              </a:rPr>
              <a:t> .</a:t>
            </a:r>
            <a:endParaRPr lang="en-IN" sz="2800" dirty="0">
              <a:latin typeface="Bodoni MT" pitchFamily="18" charset="0"/>
            </a:endParaRPr>
          </a:p>
        </p:txBody>
      </p:sp>
    </p:spTree>
    <p:extLst>
      <p:ext uri="{BB962C8B-B14F-4D97-AF65-F5344CB8AC3E}">
        <p14:creationId xmlns:p14="http://schemas.microsoft.com/office/powerpoint/2010/main" val="21750178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26</a:t>
            </a:fld>
            <a:endParaRPr lang="en-US"/>
          </a:p>
        </p:txBody>
      </p:sp>
      <mc:AlternateContent xmlns:mc="http://schemas.openxmlformats.org/markup-compatibility/2006" xmlns:a14="http://schemas.microsoft.com/office/drawing/2010/main">
        <mc:Choice Requires="a14">
          <p:sp>
            <p:nvSpPr>
              <p:cNvPr id="6" name="Rectangle 5"/>
              <p:cNvSpPr/>
              <p:nvPr/>
            </p:nvSpPr>
            <p:spPr>
              <a:xfrm>
                <a:off x="827313" y="1191679"/>
                <a:ext cx="10641875" cy="1399357"/>
              </a:xfrm>
              <a:prstGeom prst="rect">
                <a:avLst/>
              </a:prstGeom>
            </p:spPr>
            <p:txBody>
              <a:bodyPr wrap="square">
                <a:spAutoFit/>
              </a:bodyPr>
              <a:lstStyle/>
              <a:p>
                <a:pPr marL="457200" indent="-457200" algn="just">
                  <a:buFont typeface="Arial" pitchFamily="34" charset="0"/>
                  <a:buChar char="•"/>
                </a:pPr>
                <a:r>
                  <a:rPr lang="en-US" sz="2800" dirty="0" smtClean="0">
                    <a:latin typeface="Bodoni MT" pitchFamily="18" charset="0"/>
                  </a:rPr>
                  <a:t>This particular class of parametric model is known as a multinomial distribution, and the </a:t>
                </a:r>
                <a:r>
                  <a:rPr lang="en-US" sz="2800" dirty="0" smtClean="0">
                    <a:solidFill>
                      <a:srgbClr val="FF0000"/>
                    </a:solidFill>
                    <a:latin typeface="Bodoni MT" pitchFamily="18" charset="0"/>
                  </a:rPr>
                  <a:t>maximum likelihood estimate</a:t>
                </a:r>
                <a14:m>
                  <m:oMath xmlns:m="http://schemas.openxmlformats.org/officeDocument/2006/math">
                    <m:r>
                      <a:rPr lang="en-IN" sz="2800" b="0" i="0" smtClean="0">
                        <a:solidFill>
                          <a:srgbClr val="FF0000"/>
                        </a:solidFill>
                        <a:latin typeface="Cambria Math"/>
                      </a:rPr>
                      <m:t> </m:t>
                    </m:r>
                    <m:acc>
                      <m:accPr>
                        <m:chr m:val="̂"/>
                        <m:ctrlPr>
                          <a:rPr lang="en-US" sz="2800" i="1" smtClean="0">
                            <a:solidFill>
                              <a:srgbClr val="FF0000"/>
                            </a:solidFill>
                            <a:latin typeface="Cambria Math"/>
                          </a:rPr>
                        </m:ctrlPr>
                      </m:accPr>
                      <m:e>
                        <m:r>
                          <a:rPr lang="az-Cyrl-AZ" sz="2800" i="1" smtClean="0">
                            <a:solidFill>
                              <a:srgbClr val="FF0000"/>
                            </a:solidFill>
                            <a:latin typeface="Cambria Math"/>
                          </a:rPr>
                          <m:t>Ѳ</m:t>
                        </m:r>
                      </m:e>
                    </m:acc>
                  </m:oMath>
                </a14:m>
                <a:r>
                  <a:rPr lang="en-US" sz="2800" dirty="0" smtClean="0">
                    <a:latin typeface="Bodoni MT" pitchFamily="18" charset="0"/>
                  </a:rPr>
                  <a:t> of </a:t>
                </a:r>
                <a:r>
                  <a:rPr lang="en-US" sz="2800" dirty="0">
                    <a:latin typeface="Bodoni MT" pitchFamily="18" charset="0"/>
                  </a:rPr>
                  <a:t>each parameter is given by:</a:t>
                </a:r>
                <a:endParaRPr lang="en-IN" sz="2800" dirty="0">
                  <a:latin typeface="Bodoni MT"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827313" y="1191679"/>
                <a:ext cx="10641875" cy="1399357"/>
              </a:xfrm>
              <a:prstGeom prst="rect">
                <a:avLst/>
              </a:prstGeom>
              <a:blipFill rotWithShape="1">
                <a:blip r:embed="rId2"/>
                <a:stretch>
                  <a:fillRect l="-1032" t="-4348" r="-1203" b="-10870"/>
                </a:stretch>
              </a:blipFill>
            </p:spPr>
            <p:txBody>
              <a:bodyPr/>
              <a:lstStyle/>
              <a:p>
                <a:r>
                  <a:rPr lang="en-IN">
                    <a:noFill/>
                  </a:rPr>
                  <a:t> </a:t>
                </a:r>
              </a:p>
            </p:txBody>
          </p:sp>
        </mc:Fallback>
      </mc:AlternateContent>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5418" y="2908891"/>
            <a:ext cx="1403758" cy="120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2106" y="4327481"/>
            <a:ext cx="9880328" cy="1420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53007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27</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112" y="893445"/>
            <a:ext cx="9807937" cy="533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593669" y="2743200"/>
            <a:ext cx="2364377" cy="8190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1593669" y="5368834"/>
            <a:ext cx="1867988" cy="7315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0065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nodePh="1">
                                  <p:stCondLst>
                                    <p:cond delay="0"/>
                                  </p:stCondLst>
                                  <p:endCondLst>
                                    <p:cond evt="begin" delay="0">
                                      <p:tn val="9"/>
                                    </p:cond>
                                  </p:end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66502" y="1165553"/>
            <a:ext cx="10811692" cy="1200329"/>
          </a:xfrm>
          <a:prstGeom prst="rect">
            <a:avLst/>
          </a:prstGeom>
        </p:spPr>
        <p:txBody>
          <a:bodyPr wrap="square">
            <a:spAutoFit/>
          </a:bodyPr>
          <a:lstStyle/>
          <a:p>
            <a:pPr algn="just"/>
            <a:r>
              <a:rPr lang="en-US" sz="2400" dirty="0">
                <a:latin typeface="Bodoni MT" pitchFamily="18" charset="0"/>
              </a:rPr>
              <a:t>To address this, we could assign an additional </a:t>
            </a:r>
            <a:r>
              <a:rPr lang="en-US" sz="2400" dirty="0" smtClean="0">
                <a:latin typeface="Bodoni MT" pitchFamily="18" charset="0"/>
              </a:rPr>
              <a:t>pseudo count </a:t>
            </a:r>
            <a:r>
              <a:rPr lang="en-US" sz="2400" dirty="0">
                <a:latin typeface="Bodoni MT" pitchFamily="18" charset="0"/>
              </a:rPr>
              <a:t>of 1 to each possible </a:t>
            </a:r>
            <a:r>
              <a:rPr lang="en-US" sz="2400" dirty="0" smtClean="0">
                <a:latin typeface="Bodoni MT" pitchFamily="18" charset="0"/>
              </a:rPr>
              <a:t>combination </a:t>
            </a:r>
            <a:r>
              <a:rPr lang="en-US" sz="2400" dirty="0">
                <a:latin typeface="Bodoni MT" pitchFamily="18" charset="0"/>
              </a:rPr>
              <a:t>of features. This is known as </a:t>
            </a:r>
            <a:r>
              <a:rPr lang="en-US" sz="2400" u="sng" dirty="0">
                <a:solidFill>
                  <a:srgbClr val="FF0000"/>
                </a:solidFill>
                <a:latin typeface="Bodoni MT" pitchFamily="18" charset="0"/>
              </a:rPr>
              <a:t>additive smoothing</a:t>
            </a:r>
            <a:r>
              <a:rPr lang="en-US" sz="2400" dirty="0">
                <a:latin typeface="Bodoni MT" pitchFamily="18" charset="0"/>
              </a:rPr>
              <a:t>. Under this model, our MLE for the parameters would be:</a:t>
            </a:r>
            <a:endParaRPr lang="en-IN" sz="2400" dirty="0">
              <a:latin typeface="Bodoni MT"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9788" y="3124199"/>
            <a:ext cx="1553708" cy="1025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51626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29</a:t>
            </a:fld>
            <a:endParaRPr lang="en-US"/>
          </a:p>
        </p:txBody>
      </p:sp>
      <p:sp>
        <p:nvSpPr>
          <p:cNvPr id="6" name="Rectangle 5"/>
          <p:cNvSpPr/>
          <p:nvPr/>
        </p:nvSpPr>
        <p:spPr>
          <a:xfrm>
            <a:off x="866502" y="1025456"/>
            <a:ext cx="10563497" cy="5026761"/>
          </a:xfrm>
          <a:prstGeom prst="rect">
            <a:avLst/>
          </a:prstGeom>
        </p:spPr>
        <p:txBody>
          <a:bodyPr wrap="square">
            <a:spAutoFit/>
          </a:bodyPr>
          <a:lstStyle/>
          <a:p>
            <a:pPr marL="342900" indent="-342900" algn="just">
              <a:lnSpc>
                <a:spcPct val="150000"/>
              </a:lnSpc>
              <a:buFont typeface="Arial" pitchFamily="34" charset="0"/>
              <a:buChar char="•"/>
            </a:pPr>
            <a:r>
              <a:rPr lang="en-US" sz="2400" dirty="0" smtClean="0">
                <a:latin typeface="Bodoni MT" pitchFamily="18" charset="0"/>
              </a:rPr>
              <a:t>This </a:t>
            </a:r>
            <a:r>
              <a:rPr lang="en-US" sz="2400" dirty="0">
                <a:latin typeface="Bodoni MT" pitchFamily="18" charset="0"/>
              </a:rPr>
              <a:t>model allows every possible image to be generated, even images that were never in the original data. </a:t>
            </a:r>
            <a:endParaRPr lang="en-US" sz="2400" dirty="0" smtClean="0">
              <a:latin typeface="Bodoni MT" pitchFamily="18" charset="0"/>
            </a:endParaRPr>
          </a:p>
          <a:p>
            <a:pPr marL="342900" indent="-342900" algn="just">
              <a:lnSpc>
                <a:spcPct val="150000"/>
              </a:lnSpc>
              <a:buFont typeface="Arial" pitchFamily="34" charset="0"/>
              <a:buChar char="•"/>
            </a:pPr>
            <a:r>
              <a:rPr lang="en-US" sz="2400" dirty="0" smtClean="0">
                <a:latin typeface="Bodoni MT" pitchFamily="18" charset="0"/>
              </a:rPr>
              <a:t>But </a:t>
            </a:r>
            <a:r>
              <a:rPr lang="en-US" sz="2400" dirty="0">
                <a:latin typeface="Bodoni MT" pitchFamily="18" charset="0"/>
              </a:rPr>
              <a:t>the problem is that it treats all new images the same way. </a:t>
            </a:r>
            <a:endParaRPr lang="en-US" sz="2400" dirty="0" smtClean="0">
              <a:latin typeface="Bodoni MT" pitchFamily="18" charset="0"/>
            </a:endParaRPr>
          </a:p>
          <a:p>
            <a:pPr marL="342900" indent="-342900" algn="just">
              <a:lnSpc>
                <a:spcPct val="150000"/>
              </a:lnSpc>
              <a:buFont typeface="Arial" pitchFamily="34" charset="0"/>
              <a:buChar char="•"/>
            </a:pPr>
            <a:r>
              <a:rPr lang="en-US" sz="2400" dirty="0" smtClean="0">
                <a:latin typeface="Bodoni MT" pitchFamily="18" charset="0"/>
              </a:rPr>
              <a:t>It </a:t>
            </a:r>
            <a:r>
              <a:rPr lang="en-US" sz="2400" dirty="0">
                <a:latin typeface="Bodoni MT" pitchFamily="18" charset="0"/>
              </a:rPr>
              <a:t>cannot tell which images look real and which are just random noise.</a:t>
            </a:r>
          </a:p>
          <a:p>
            <a:pPr marL="342900" indent="-342900" algn="just">
              <a:lnSpc>
                <a:spcPct val="150000"/>
              </a:lnSpc>
              <a:buFont typeface="Arial" pitchFamily="34" charset="0"/>
              <a:buChar char="•"/>
            </a:pPr>
            <a:r>
              <a:rPr lang="en-US" sz="2400" dirty="0">
                <a:latin typeface="Bodoni MT" pitchFamily="18" charset="0"/>
              </a:rPr>
              <a:t>For example, if we use this model to generate Picasso paintings, it will give the same importance to:</a:t>
            </a:r>
          </a:p>
          <a:p>
            <a:pPr marL="342900" indent="-342900" algn="just">
              <a:lnSpc>
                <a:spcPct val="150000"/>
              </a:lnSpc>
              <a:buFont typeface="Arial" pitchFamily="34" charset="0"/>
              <a:buChar char="•"/>
            </a:pPr>
            <a:r>
              <a:rPr lang="en-US" sz="2400" dirty="0">
                <a:latin typeface="Bodoni MT" pitchFamily="18" charset="0"/>
              </a:rPr>
              <a:t>a random picture made of colorful pixels, and</a:t>
            </a:r>
          </a:p>
          <a:p>
            <a:pPr marL="342900" indent="-342900" algn="just">
              <a:lnSpc>
                <a:spcPct val="150000"/>
              </a:lnSpc>
              <a:buFont typeface="Arial" pitchFamily="34" charset="0"/>
              <a:buChar char="•"/>
            </a:pPr>
            <a:r>
              <a:rPr lang="en-US" sz="2400" dirty="0">
                <a:latin typeface="Bodoni MT" pitchFamily="18" charset="0"/>
              </a:rPr>
              <a:t>a painting that looks almost exactly like a real Picasso painting.</a:t>
            </a:r>
          </a:p>
          <a:p>
            <a:pPr marL="342900" indent="-342900" algn="just">
              <a:lnSpc>
                <a:spcPct val="150000"/>
              </a:lnSpc>
              <a:buFont typeface="Arial" pitchFamily="34" charset="0"/>
              <a:buChar char="•"/>
            </a:pPr>
            <a:r>
              <a:rPr lang="en-US" sz="2400" dirty="0">
                <a:latin typeface="Bodoni MT" pitchFamily="18" charset="0"/>
              </a:rPr>
              <a:t>Because of this, the model is not good at generating realistic data.</a:t>
            </a:r>
          </a:p>
        </p:txBody>
      </p:sp>
    </p:spTree>
    <p:extLst>
      <p:ext uri="{BB962C8B-B14F-4D97-AF65-F5344CB8AC3E}">
        <p14:creationId xmlns:p14="http://schemas.microsoft.com/office/powerpoint/2010/main" val="24468290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30</a:t>
            </a:fld>
            <a:endParaRPr lang="en-US"/>
          </a:p>
        </p:txBody>
      </p:sp>
      <p:sp>
        <p:nvSpPr>
          <p:cNvPr id="6" name="Rectangle 5"/>
          <p:cNvSpPr/>
          <p:nvPr/>
        </p:nvSpPr>
        <p:spPr>
          <a:xfrm>
            <a:off x="876072" y="1015238"/>
            <a:ext cx="2226892" cy="584775"/>
          </a:xfrm>
          <a:prstGeom prst="rect">
            <a:avLst/>
          </a:prstGeom>
        </p:spPr>
        <p:txBody>
          <a:bodyPr wrap="none">
            <a:spAutoFit/>
          </a:bodyPr>
          <a:lstStyle/>
          <a:p>
            <a:r>
              <a:rPr lang="en-IN" sz="3200" b="1" u="sng" dirty="0">
                <a:latin typeface="Bodoni MT" pitchFamily="18" charset="0"/>
              </a:rPr>
              <a:t>Naive Bayes</a:t>
            </a:r>
          </a:p>
        </p:txBody>
      </p:sp>
      <p:sp>
        <p:nvSpPr>
          <p:cNvPr id="7" name="Rectangle 6"/>
          <p:cNvSpPr/>
          <p:nvPr/>
        </p:nvSpPr>
        <p:spPr>
          <a:xfrm>
            <a:off x="1023257" y="1815478"/>
            <a:ext cx="10367554" cy="2677656"/>
          </a:xfrm>
          <a:prstGeom prst="rect">
            <a:avLst/>
          </a:prstGeom>
        </p:spPr>
        <p:txBody>
          <a:bodyPr wrap="square">
            <a:spAutoFit/>
          </a:bodyPr>
          <a:lstStyle/>
          <a:p>
            <a:pPr marL="342900" indent="-342900" algn="just">
              <a:buFont typeface="Arial" pitchFamily="34" charset="0"/>
              <a:buChar char="•"/>
            </a:pPr>
            <a:r>
              <a:rPr lang="en-US" sz="2400" dirty="0">
                <a:latin typeface="Bodoni MT" pitchFamily="18" charset="0"/>
              </a:rPr>
              <a:t>The Naive Bayes parametric model makes use of a simple assumption that drastically reduces the number of parameters we need to estimate. We make the naive assumption that each feature </a:t>
            </a:r>
            <a:r>
              <a:rPr lang="en-US" sz="2400" dirty="0" err="1">
                <a:latin typeface="Bodoni MT" pitchFamily="18" charset="0"/>
              </a:rPr>
              <a:t>x</a:t>
            </a:r>
            <a:r>
              <a:rPr lang="en-US" sz="2400" baseline="-25000" dirty="0" err="1">
                <a:latin typeface="Bodoni MT" pitchFamily="18" charset="0"/>
              </a:rPr>
              <a:t>j</a:t>
            </a:r>
            <a:r>
              <a:rPr lang="en-US" sz="2400" dirty="0">
                <a:latin typeface="Bodoni MT" pitchFamily="18" charset="0"/>
              </a:rPr>
              <a:t> is independent of every other </a:t>
            </a:r>
            <a:r>
              <a:rPr lang="en-US" sz="2400" dirty="0" smtClean="0">
                <a:latin typeface="Bodoni MT" pitchFamily="18" charset="0"/>
              </a:rPr>
              <a:t>feature </a:t>
            </a:r>
            <a:r>
              <a:rPr lang="en-US" sz="2400" dirty="0" err="1">
                <a:latin typeface="Bodoni MT" pitchFamily="18" charset="0"/>
              </a:rPr>
              <a:t>x</a:t>
            </a:r>
            <a:r>
              <a:rPr lang="en-US" sz="2400" baseline="-25000" dirty="0" err="1">
                <a:latin typeface="Bodoni MT" pitchFamily="18" charset="0"/>
              </a:rPr>
              <a:t>k</a:t>
            </a:r>
            <a:r>
              <a:rPr lang="en-US" sz="2400" dirty="0">
                <a:latin typeface="Bodoni MT" pitchFamily="18" charset="0"/>
              </a:rPr>
              <a:t> </a:t>
            </a:r>
            <a:r>
              <a:rPr lang="en-US" sz="2400" dirty="0" smtClean="0">
                <a:latin typeface="Bodoni MT" pitchFamily="18" charset="0"/>
              </a:rPr>
              <a:t>.</a:t>
            </a:r>
          </a:p>
          <a:p>
            <a:pPr algn="just"/>
            <a:endParaRPr lang="en-US" sz="2400" dirty="0" smtClean="0">
              <a:latin typeface="Bodoni MT" pitchFamily="18" charset="0"/>
            </a:endParaRPr>
          </a:p>
          <a:p>
            <a:pPr marL="342900" indent="-342900" algn="just">
              <a:buFont typeface="Arial" pitchFamily="34" charset="0"/>
              <a:buChar char="•"/>
            </a:pPr>
            <a:r>
              <a:rPr lang="en-US" sz="2400" dirty="0">
                <a:latin typeface="Bodoni MT" pitchFamily="18" charset="0"/>
              </a:rPr>
              <a:t>To apply this assumption, we first make use of the chain rule of probability to write the density function as a product of </a:t>
            </a:r>
            <a:r>
              <a:rPr lang="en-US" sz="2400" dirty="0" smtClean="0">
                <a:latin typeface="Bodoni MT" pitchFamily="18" charset="0"/>
              </a:rPr>
              <a:t>conditional </a:t>
            </a:r>
            <a:r>
              <a:rPr lang="en-US" sz="2400" dirty="0">
                <a:latin typeface="Bodoni MT" pitchFamily="18" charset="0"/>
              </a:rPr>
              <a:t>probabilities:</a:t>
            </a:r>
            <a:endParaRPr lang="en-IN" sz="2400" dirty="0">
              <a:latin typeface="Bodoni MT"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2607" y="4607515"/>
            <a:ext cx="4753564" cy="1584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53398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31</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025" y="903651"/>
            <a:ext cx="10386786" cy="506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14001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880" y="1028427"/>
            <a:ext cx="9762353" cy="4954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63133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33</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851" y="1166948"/>
            <a:ext cx="10305143" cy="2647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86207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34</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1502" y="1019039"/>
            <a:ext cx="7526923" cy="406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97849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35</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550" y="1257165"/>
            <a:ext cx="9090066" cy="3576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794114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816" y="1055235"/>
            <a:ext cx="10464618" cy="4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188720" y="3004457"/>
            <a:ext cx="6858000" cy="966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28967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82345" y="993826"/>
            <a:ext cx="5256567" cy="461665"/>
          </a:xfrm>
          <a:prstGeom prst="rect">
            <a:avLst/>
          </a:prstGeom>
          <a:solidFill>
            <a:schemeClr val="accent2">
              <a:lumMod val="40000"/>
              <a:lumOff val="60000"/>
            </a:schemeClr>
          </a:solidFill>
        </p:spPr>
        <p:txBody>
          <a:bodyPr wrap="none">
            <a:spAutoFit/>
          </a:bodyPr>
          <a:lstStyle/>
          <a:p>
            <a:pPr marL="342900" indent="-342900">
              <a:buFont typeface="Wingdings" panose="05000000000000000000" pitchFamily="2" charset="2"/>
              <a:buChar char="q"/>
            </a:pPr>
            <a:r>
              <a:rPr lang="en-US" sz="2400" u="sng" dirty="0">
                <a:latin typeface="Arial Rounded MT Bold" panose="020F0704030504030204" pitchFamily="34" charset="0"/>
                <a:cs typeface="Alef" panose="00000500000000000000" pitchFamily="2" charset="-79"/>
              </a:rPr>
              <a:t>Loss Functions in Generative AI</a:t>
            </a:r>
          </a:p>
        </p:txBody>
      </p:sp>
      <p:sp>
        <p:nvSpPr>
          <p:cNvPr id="8" name="Rectangle 7"/>
          <p:cNvSpPr/>
          <p:nvPr/>
        </p:nvSpPr>
        <p:spPr>
          <a:xfrm>
            <a:off x="681872" y="1535272"/>
            <a:ext cx="10781122" cy="3026213"/>
          </a:xfrm>
          <a:prstGeom prst="rect">
            <a:avLst/>
          </a:prstGeom>
        </p:spPr>
        <p:txBody>
          <a:bodyPr wrap="square">
            <a:spAutoFit/>
          </a:bodyPr>
          <a:lstStyle/>
          <a:p>
            <a:endParaRPr lang="en-US" b="1" dirty="0">
              <a:solidFill>
                <a:srgbClr val="222222"/>
              </a:solidFill>
              <a:latin typeface="inter var"/>
            </a:endParaRPr>
          </a:p>
          <a:p>
            <a:pPr marL="342900" indent="-342900" algn="just">
              <a:lnSpc>
                <a:spcPct val="150000"/>
              </a:lnSpc>
              <a:buFont typeface="Arial" panose="020B0604020202020204" pitchFamily="34" charset="0"/>
              <a:buChar char="•"/>
            </a:pPr>
            <a:r>
              <a:rPr lang="en-US" sz="2400" dirty="0">
                <a:latin typeface="Bodoni MT" panose="02070603080606020203" pitchFamily="18" charset="0"/>
                <a:hlinkClick r:id="rId2"/>
              </a:rPr>
              <a:t>Loss functions</a:t>
            </a:r>
            <a:r>
              <a:rPr lang="en-US" sz="2400" dirty="0">
                <a:latin typeface="Bodoni MT" panose="02070603080606020203" pitchFamily="18" charset="0"/>
              </a:rPr>
              <a:t> are a crucial component in the training process of generative models, as they quantify the difference between the model’s predictions and the ground truth. </a:t>
            </a:r>
          </a:p>
          <a:p>
            <a:pPr marL="342900" indent="-342900" algn="just">
              <a:lnSpc>
                <a:spcPct val="150000"/>
              </a:lnSpc>
              <a:buFont typeface="Arial" panose="020B0604020202020204" pitchFamily="34" charset="0"/>
              <a:buChar char="•"/>
            </a:pPr>
            <a:r>
              <a:rPr lang="en-US" sz="2400" dirty="0">
                <a:latin typeface="Bodoni MT" panose="02070603080606020203" pitchFamily="18" charset="0"/>
              </a:rPr>
              <a:t>In the context of </a:t>
            </a:r>
            <a:r>
              <a:rPr lang="en-US" sz="2400" dirty="0">
                <a:latin typeface="Bodoni MT" panose="02070603080606020203" pitchFamily="18" charset="0"/>
                <a:hlinkClick r:id="rId3"/>
              </a:rPr>
              <a:t>generative AI</a:t>
            </a:r>
            <a:r>
              <a:rPr lang="en-US" sz="2400" dirty="0">
                <a:latin typeface="Bodoni MT" panose="02070603080606020203" pitchFamily="18" charset="0"/>
              </a:rPr>
              <a:t>, these functions help guide the optimization process, enabling the model to generate realistic and diverse samples.</a:t>
            </a:r>
          </a:p>
        </p:txBody>
      </p:sp>
    </p:spTree>
    <p:extLst>
      <p:ext uri="{BB962C8B-B14F-4D97-AF65-F5344CB8AC3E}">
        <p14:creationId xmlns:p14="http://schemas.microsoft.com/office/powerpoint/2010/main" val="41409062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13121" y="817554"/>
            <a:ext cx="12191999" cy="4339650"/>
          </a:xfrm>
          <a:prstGeom prst="rect">
            <a:avLst/>
          </a:prstGeom>
        </p:spPr>
        <p:txBody>
          <a:bodyPr wrap="square">
            <a:spAutoFit/>
          </a:bodyPr>
          <a:lstStyle/>
          <a:p>
            <a:pPr>
              <a:lnSpc>
                <a:spcPct val="150000"/>
              </a:lnSpc>
            </a:pPr>
            <a:r>
              <a:rPr lang="en-US" sz="2400" b="1" u="sng" dirty="0">
                <a:latin typeface="Bodoni MT" panose="02070603080606020203" pitchFamily="18" charset="0"/>
              </a:rPr>
              <a:t>Role of Loss Functions in Generative AI</a:t>
            </a:r>
          </a:p>
          <a:p>
            <a:pPr>
              <a:lnSpc>
                <a:spcPct val="150000"/>
              </a:lnSpc>
            </a:pPr>
            <a:r>
              <a:rPr lang="en-US" sz="2000" dirty="0">
                <a:latin typeface="Bodoni MT" panose="02070603080606020203" pitchFamily="18" charset="0"/>
              </a:rPr>
              <a:t>In generative AI, the primary goal is to learn a model that can generate new data samples that resemble the training data. </a:t>
            </a:r>
          </a:p>
          <a:p>
            <a:pPr>
              <a:lnSpc>
                <a:spcPct val="150000"/>
              </a:lnSpc>
              <a:buFont typeface="+mj-lt"/>
              <a:buAutoNum type="arabicPeriod"/>
            </a:pPr>
            <a:r>
              <a:rPr lang="en-US" sz="2000" dirty="0">
                <a:latin typeface="Bodoni MT" panose="02070603080606020203" pitchFamily="18" charset="0"/>
              </a:rPr>
              <a:t>Quantifying the discrepancy: Loss functions measure the difference between the model’s predictions and the actual data, providing a numerical value that represents the model’s performance.</a:t>
            </a:r>
          </a:p>
          <a:p>
            <a:pPr>
              <a:lnSpc>
                <a:spcPct val="150000"/>
              </a:lnSpc>
              <a:buFont typeface="+mj-lt"/>
              <a:buAutoNum type="arabicPeriod"/>
            </a:pPr>
            <a:r>
              <a:rPr lang="en-US" sz="2000" dirty="0">
                <a:latin typeface="Bodoni MT" panose="02070603080606020203" pitchFamily="18" charset="0"/>
              </a:rPr>
              <a:t>Guiding optimization: By minimizing the loss function, the model’s parameters are updated to generate more accurate and realistic samples.</a:t>
            </a:r>
          </a:p>
          <a:p>
            <a:pPr>
              <a:lnSpc>
                <a:spcPct val="150000"/>
              </a:lnSpc>
              <a:buFont typeface="+mj-lt"/>
              <a:buAutoNum type="arabicPeriod"/>
            </a:pPr>
            <a:r>
              <a:rPr lang="en-US" sz="2000" dirty="0">
                <a:latin typeface="Bodoni MT" panose="02070603080606020203" pitchFamily="18" charset="0"/>
              </a:rPr>
              <a:t>Balancing objectives: In some generative models, multiple loss functions are combined to balance different objectives, such as generating realistic samples while maintaining diversity.</a:t>
            </a:r>
          </a:p>
        </p:txBody>
      </p:sp>
    </p:spTree>
    <p:extLst>
      <p:ext uri="{BB962C8B-B14F-4D97-AF65-F5344CB8AC3E}">
        <p14:creationId xmlns:p14="http://schemas.microsoft.com/office/powerpoint/2010/main" val="27743388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03407" y="1012679"/>
            <a:ext cx="5428089" cy="461665"/>
          </a:xfrm>
          <a:prstGeom prst="rect">
            <a:avLst/>
          </a:prstGeom>
        </p:spPr>
        <p:txBody>
          <a:bodyPr wrap="none">
            <a:spAutoFit/>
          </a:bodyPr>
          <a:lstStyle/>
          <a:p>
            <a:r>
              <a:rPr lang="en-US" sz="2400" b="1" u="sng" dirty="0">
                <a:latin typeface="Bodoni MT" panose="02070603080606020203" pitchFamily="18" charset="0"/>
              </a:rPr>
              <a:t>Types of Loss Functions in Generative AI</a:t>
            </a:r>
            <a:r>
              <a:rPr lang="en-US" dirty="0">
                <a:solidFill>
                  <a:srgbClr val="014166"/>
                </a:solidFill>
                <a:latin typeface="inter var"/>
                <a:hlinkClick r:id="rId2"/>
              </a:rPr>
              <a:t> </a:t>
            </a:r>
            <a:endParaRPr lang="en-US" dirty="0">
              <a:solidFill>
                <a:srgbClr val="222222"/>
              </a:solidFill>
              <a:latin typeface="inter var"/>
            </a:endParaRPr>
          </a:p>
        </p:txBody>
      </p:sp>
      <p:sp>
        <p:nvSpPr>
          <p:cNvPr id="7" name="Rectangle 6"/>
          <p:cNvSpPr/>
          <p:nvPr/>
        </p:nvSpPr>
        <p:spPr>
          <a:xfrm>
            <a:off x="703406" y="1717035"/>
            <a:ext cx="10835001" cy="1846659"/>
          </a:xfrm>
          <a:prstGeom prst="rect">
            <a:avLst/>
          </a:prstGeom>
        </p:spPr>
        <p:txBody>
          <a:bodyPr wrap="square">
            <a:spAutoFit/>
          </a:bodyPr>
          <a:lstStyle/>
          <a:p>
            <a:r>
              <a:rPr lang="en-US" sz="2400" b="1" dirty="0">
                <a:solidFill>
                  <a:srgbClr val="FF0000"/>
                </a:solidFill>
                <a:effectLst>
                  <a:outerShdw blurRad="38100" dist="38100" dir="2700000" algn="tl">
                    <a:srgbClr val="000000">
                      <a:alpha val="43137"/>
                    </a:srgbClr>
                  </a:outerShdw>
                </a:effectLst>
                <a:latin typeface="Bodoni MT" panose="02070603080606020203" pitchFamily="18" charset="0"/>
              </a:rPr>
              <a:t>Mean Squared Error (MSE</a:t>
            </a:r>
            <a:r>
              <a:rPr lang="en-US" sz="2400" b="1" dirty="0" smtClean="0">
                <a:solidFill>
                  <a:srgbClr val="FF0000"/>
                </a:solidFill>
                <a:effectLst>
                  <a:outerShdw blurRad="38100" dist="38100" dir="2700000" algn="tl">
                    <a:srgbClr val="000000">
                      <a:alpha val="43137"/>
                    </a:srgbClr>
                  </a:outerShdw>
                </a:effectLst>
                <a:latin typeface="Bodoni MT" panose="02070603080606020203" pitchFamily="18" charset="0"/>
              </a:rPr>
              <a:t>):</a:t>
            </a:r>
          </a:p>
          <a:p>
            <a:pPr algn="just">
              <a:lnSpc>
                <a:spcPct val="150000"/>
              </a:lnSpc>
            </a:pPr>
            <a:r>
              <a:rPr lang="en-US" sz="2000" dirty="0" smtClean="0">
                <a:latin typeface="Bodoni MT" panose="02070603080606020203" pitchFamily="18" charset="0"/>
              </a:rPr>
              <a:t>Mean </a:t>
            </a:r>
            <a:r>
              <a:rPr lang="en-US" sz="2000" dirty="0">
                <a:latin typeface="Bodoni MT" panose="02070603080606020203" pitchFamily="18" charset="0"/>
              </a:rPr>
              <a:t>Squared Error (MSE) is one of the most commonly used loss functions in machine learning and generative modeling. It measures the average of the squared differences between the predicted values produced by a model and the corresponding ground-truth values.</a:t>
            </a:r>
            <a:endParaRPr lang="en-IN" sz="2000" dirty="0">
              <a:latin typeface="Bodoni MT" panose="02070603080606020203" pitchFamily="18" charset="0"/>
            </a:endParaRPr>
          </a:p>
        </p:txBody>
      </p:sp>
      <p:pic>
        <p:nvPicPr>
          <p:cNvPr id="8" name="Picture 7"/>
          <p:cNvPicPr>
            <a:picLocks noChangeAspect="1"/>
          </p:cNvPicPr>
          <p:nvPr/>
        </p:nvPicPr>
        <p:blipFill>
          <a:blip r:embed="rId3"/>
          <a:stretch>
            <a:fillRect/>
          </a:stretch>
        </p:blipFill>
        <p:spPr>
          <a:xfrm>
            <a:off x="1341279" y="3706783"/>
            <a:ext cx="10197128" cy="2496054"/>
          </a:xfrm>
          <a:prstGeom prst="rect">
            <a:avLst/>
          </a:prstGeom>
        </p:spPr>
      </p:pic>
    </p:spTree>
    <p:extLst>
      <p:ext uri="{BB962C8B-B14F-4D97-AF65-F5344CB8AC3E}">
        <p14:creationId xmlns:p14="http://schemas.microsoft.com/office/powerpoint/2010/main" val="20797141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04420" y="1100267"/>
            <a:ext cx="10686854" cy="2400657"/>
          </a:xfrm>
          <a:prstGeom prst="rect">
            <a:avLst/>
          </a:prstGeom>
        </p:spPr>
        <p:txBody>
          <a:bodyPr wrap="square">
            <a:spAutoFit/>
          </a:bodyPr>
          <a:lstStyle/>
          <a:p>
            <a:pPr algn="just">
              <a:lnSpc>
                <a:spcPct val="150000"/>
              </a:lnSpc>
            </a:pPr>
            <a:r>
              <a:rPr lang="en-US" sz="2000" b="1" u="sng" dirty="0" smtClean="0">
                <a:latin typeface="Bodoni MT" panose="02070603080606020203" pitchFamily="18" charset="0"/>
              </a:rPr>
              <a:t>Role of MSE in Generative AI</a:t>
            </a:r>
            <a:endParaRPr lang="en-US" sz="2000" b="1" u="sng" dirty="0">
              <a:latin typeface="Bodoni MT" panose="02070603080606020203" pitchFamily="18" charset="0"/>
            </a:endParaRPr>
          </a:p>
          <a:p>
            <a:pPr marL="342900" indent="-342900" algn="just">
              <a:lnSpc>
                <a:spcPct val="150000"/>
              </a:lnSpc>
              <a:buFont typeface="Arial" panose="020B0604020202020204" pitchFamily="34" charset="0"/>
              <a:buChar char="•"/>
            </a:pPr>
            <a:r>
              <a:rPr lang="en-US" sz="2000" dirty="0">
                <a:latin typeface="Bodoni MT" panose="02070603080606020203" pitchFamily="18" charset="0"/>
              </a:rPr>
              <a:t>In generative AI, particularly in image generation and reconstruction tasks, MSE is commonly used as a </a:t>
            </a:r>
            <a:r>
              <a:rPr lang="en-US" sz="2000" b="1" dirty="0">
                <a:solidFill>
                  <a:srgbClr val="FF0000"/>
                </a:solidFill>
                <a:effectLst>
                  <a:outerShdw blurRad="38100" dist="38100" dir="2700000" algn="tl">
                    <a:srgbClr val="000000">
                      <a:alpha val="43137"/>
                    </a:srgbClr>
                  </a:outerShdw>
                </a:effectLst>
                <a:latin typeface="Bodoni MT" panose="02070603080606020203" pitchFamily="18" charset="0"/>
              </a:rPr>
              <a:t>pixel-wise reconstruction loss</a:t>
            </a:r>
            <a:r>
              <a:rPr lang="en-US" sz="2000" dirty="0">
                <a:latin typeface="Bodoni MT" panose="02070603080606020203" pitchFamily="18" charset="0"/>
              </a:rPr>
              <a:t>. </a:t>
            </a:r>
            <a:endParaRPr lang="en-US" sz="2000" dirty="0" smtClean="0">
              <a:latin typeface="Bodoni MT" panose="02070603080606020203" pitchFamily="18" charset="0"/>
            </a:endParaRPr>
          </a:p>
          <a:p>
            <a:pPr marL="342900" indent="-342900" algn="just">
              <a:lnSpc>
                <a:spcPct val="150000"/>
              </a:lnSpc>
              <a:buFont typeface="Arial" panose="020B0604020202020204" pitchFamily="34" charset="0"/>
              <a:buChar char="•"/>
            </a:pPr>
            <a:r>
              <a:rPr lang="en-US" sz="2000" dirty="0" smtClean="0">
                <a:latin typeface="Bodoni MT" panose="02070603080606020203" pitchFamily="18" charset="0"/>
              </a:rPr>
              <a:t>The </a:t>
            </a:r>
            <a:r>
              <a:rPr lang="en-US" sz="2000" dirty="0">
                <a:latin typeface="Bodoni MT" panose="02070603080606020203" pitchFamily="18" charset="0"/>
              </a:rPr>
              <a:t>loss compares each pixel of the generated image with the corresponding pixel in the ground-truth image and penalizes differences between them.</a:t>
            </a:r>
          </a:p>
        </p:txBody>
      </p:sp>
      <p:pic>
        <p:nvPicPr>
          <p:cNvPr id="9" name="Picture 8"/>
          <p:cNvPicPr>
            <a:picLocks noChangeAspect="1"/>
          </p:cNvPicPr>
          <p:nvPr/>
        </p:nvPicPr>
        <p:blipFill>
          <a:blip r:embed="rId2"/>
          <a:stretch>
            <a:fillRect/>
          </a:stretch>
        </p:blipFill>
        <p:spPr>
          <a:xfrm>
            <a:off x="1529217" y="3728028"/>
            <a:ext cx="2722271" cy="2312650"/>
          </a:xfrm>
          <a:prstGeom prst="rect">
            <a:avLst/>
          </a:prstGeom>
        </p:spPr>
      </p:pic>
    </p:spTree>
    <p:extLst>
      <p:ext uri="{BB962C8B-B14F-4D97-AF65-F5344CB8AC3E}">
        <p14:creationId xmlns:p14="http://schemas.microsoft.com/office/powerpoint/2010/main" val="27244471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27010" y="1135227"/>
            <a:ext cx="3621504" cy="461665"/>
          </a:xfrm>
          <a:prstGeom prst="rect">
            <a:avLst/>
          </a:prstGeom>
        </p:spPr>
        <p:txBody>
          <a:bodyPr wrap="none">
            <a:spAutoFit/>
          </a:bodyPr>
          <a:lstStyle/>
          <a:p>
            <a:r>
              <a:rPr lang="en-US" sz="2400" b="1" u="sng" dirty="0">
                <a:latin typeface="Bodoni MT" panose="02070603080606020203" pitchFamily="18" charset="0"/>
              </a:rPr>
              <a:t>Assume a very small image</a:t>
            </a:r>
            <a:endParaRPr lang="en-IN" sz="2400" b="1" u="sng" dirty="0">
              <a:latin typeface="Bodoni MT" panose="02070603080606020203" pitchFamily="18" charset="0"/>
            </a:endParaRPr>
          </a:p>
        </p:txBody>
      </p:sp>
      <p:sp>
        <p:nvSpPr>
          <p:cNvPr id="7" name="Rectangle 6"/>
          <p:cNvSpPr/>
          <p:nvPr/>
        </p:nvSpPr>
        <p:spPr>
          <a:xfrm>
            <a:off x="827009" y="1857064"/>
            <a:ext cx="10881081" cy="400110"/>
          </a:xfrm>
          <a:prstGeom prst="rect">
            <a:avLst/>
          </a:prstGeom>
        </p:spPr>
        <p:txBody>
          <a:bodyPr wrap="square">
            <a:spAutoFit/>
          </a:bodyPr>
          <a:lstStyle/>
          <a:p>
            <a:r>
              <a:rPr lang="en-US" sz="2000" dirty="0">
                <a:latin typeface="Bodoni MT" panose="02070603080606020203" pitchFamily="18" charset="0"/>
              </a:rPr>
              <a:t>For easy understanding, consider a 2 × 2 grayscale image (pixel values range from 0 to 255).</a:t>
            </a:r>
            <a:endParaRPr lang="en-IN" sz="2000" dirty="0">
              <a:latin typeface="Bodoni MT" panose="02070603080606020203" pitchFamily="18" charset="0"/>
            </a:endParaRPr>
          </a:p>
        </p:txBody>
      </p:sp>
      <p:pic>
        <p:nvPicPr>
          <p:cNvPr id="8" name="Picture 7"/>
          <p:cNvPicPr>
            <a:picLocks noChangeAspect="1"/>
          </p:cNvPicPr>
          <p:nvPr/>
        </p:nvPicPr>
        <p:blipFill>
          <a:blip r:embed="rId2"/>
          <a:stretch>
            <a:fillRect/>
          </a:stretch>
        </p:blipFill>
        <p:spPr>
          <a:xfrm>
            <a:off x="2444557" y="2870976"/>
            <a:ext cx="6241839" cy="2671984"/>
          </a:xfrm>
          <a:prstGeom prst="rect">
            <a:avLst/>
          </a:prstGeom>
        </p:spPr>
      </p:pic>
    </p:spTree>
    <p:extLst>
      <p:ext uri="{BB962C8B-B14F-4D97-AF65-F5344CB8AC3E}">
        <p14:creationId xmlns:p14="http://schemas.microsoft.com/office/powerpoint/2010/main" val="30620244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91299" y="1174308"/>
            <a:ext cx="10950804" cy="1077218"/>
          </a:xfrm>
          <a:prstGeom prst="rect">
            <a:avLst/>
          </a:prstGeom>
        </p:spPr>
        <p:txBody>
          <a:bodyPr wrap="square">
            <a:spAutoFit/>
          </a:bodyPr>
          <a:lstStyle/>
          <a:p>
            <a:r>
              <a:rPr lang="en-US" sz="2400" b="1" u="sng" dirty="0">
                <a:latin typeface="Bodoni MT" panose="02070603080606020203" pitchFamily="18" charset="0"/>
              </a:rPr>
              <a:t>Calculate pixel-wise error</a:t>
            </a:r>
          </a:p>
          <a:p>
            <a:endParaRPr lang="en-US" sz="2000" dirty="0" smtClean="0">
              <a:latin typeface="Bodoni MT" panose="02070603080606020203" pitchFamily="18" charset="0"/>
            </a:endParaRPr>
          </a:p>
          <a:p>
            <a:r>
              <a:rPr lang="en-US" sz="2000" dirty="0" smtClean="0">
                <a:latin typeface="Bodoni MT" panose="02070603080606020203" pitchFamily="18" charset="0"/>
              </a:rPr>
              <a:t>Subtract </a:t>
            </a:r>
            <a:r>
              <a:rPr lang="en-US" sz="2000" dirty="0">
                <a:latin typeface="Bodoni MT" panose="02070603080606020203" pitchFamily="18" charset="0"/>
              </a:rPr>
              <a:t>each generated pixel from the corresponding true pixel and square it:</a:t>
            </a:r>
          </a:p>
        </p:txBody>
      </p:sp>
      <p:graphicFrame>
        <p:nvGraphicFramePr>
          <p:cNvPr id="7" name="Table 6"/>
          <p:cNvGraphicFramePr>
            <a:graphicFrameLocks noGrp="1"/>
          </p:cNvGraphicFramePr>
          <p:nvPr>
            <p:extLst>
              <p:ext uri="{D42A27DB-BD31-4B8C-83A1-F6EECF244321}">
                <p14:modId xmlns:p14="http://schemas.microsoft.com/office/powerpoint/2010/main" val="2003854975"/>
              </p:ext>
            </p:extLst>
          </p:nvPr>
        </p:nvGraphicFramePr>
        <p:xfrm>
          <a:off x="2289928" y="2664259"/>
          <a:ext cx="7400826" cy="1737360"/>
        </p:xfrm>
        <a:graphic>
          <a:graphicData uri="http://schemas.openxmlformats.org/drawingml/2006/table">
            <a:tbl>
              <a:tblPr>
                <a:tableStyleId>{10AB5134-79C5-4A78-93EA-4AE2E9C41042}</a:tableStyleId>
              </a:tblPr>
              <a:tblGrid>
                <a:gridCol w="1075348">
                  <a:extLst>
                    <a:ext uri="{9D8B030D-6E8A-4147-A177-3AD203B41FA5}">
                      <a16:colId xmlns:a16="http://schemas.microsoft.com/office/drawing/2014/main" xmlns="" val="1334589442"/>
                    </a:ext>
                  </a:extLst>
                </a:gridCol>
                <a:gridCol w="723164">
                  <a:extLst>
                    <a:ext uri="{9D8B030D-6E8A-4147-A177-3AD203B41FA5}">
                      <a16:colId xmlns:a16="http://schemas.microsoft.com/office/drawing/2014/main" xmlns="" val="12645551"/>
                    </a:ext>
                  </a:extLst>
                </a:gridCol>
                <a:gridCol w="1088064">
                  <a:extLst>
                    <a:ext uri="{9D8B030D-6E8A-4147-A177-3AD203B41FA5}">
                      <a16:colId xmlns:a16="http://schemas.microsoft.com/office/drawing/2014/main" xmlns="" val="3604928750"/>
                    </a:ext>
                  </a:extLst>
                </a:gridCol>
                <a:gridCol w="1243150">
                  <a:extLst>
                    <a:ext uri="{9D8B030D-6E8A-4147-A177-3AD203B41FA5}">
                      <a16:colId xmlns:a16="http://schemas.microsoft.com/office/drawing/2014/main" xmlns="" val="409493184"/>
                    </a:ext>
                  </a:extLst>
                </a:gridCol>
                <a:gridCol w="3271100">
                  <a:extLst>
                    <a:ext uri="{9D8B030D-6E8A-4147-A177-3AD203B41FA5}">
                      <a16:colId xmlns:a16="http://schemas.microsoft.com/office/drawing/2014/main" xmlns="" val="51069752"/>
                    </a:ext>
                  </a:extLst>
                </a:gridCol>
              </a:tblGrid>
              <a:tr h="0">
                <a:tc>
                  <a:txBody>
                    <a:bodyPr/>
                    <a:lstStyle/>
                    <a:p>
                      <a:r>
                        <a:rPr lang="en-IN" b="1" dirty="0">
                          <a:solidFill>
                            <a:srgbClr val="C00000"/>
                          </a:solidFill>
                        </a:rPr>
                        <a:t>Pixel position</a:t>
                      </a:r>
                    </a:p>
                  </a:txBody>
                  <a:tcPr anchor="ctr">
                    <a:solidFill>
                      <a:schemeClr val="accent4">
                        <a:alpha val="0"/>
                      </a:schemeClr>
                    </a:solidFill>
                  </a:tcPr>
                </a:tc>
                <a:tc>
                  <a:txBody>
                    <a:bodyPr/>
                    <a:lstStyle/>
                    <a:p>
                      <a:r>
                        <a:rPr lang="en-IN" b="1" dirty="0">
                          <a:solidFill>
                            <a:srgbClr val="C00000"/>
                          </a:solidFill>
                        </a:rPr>
                        <a:t>True</a:t>
                      </a:r>
                    </a:p>
                  </a:txBody>
                  <a:tcPr anchor="ctr">
                    <a:solidFill>
                      <a:schemeClr val="accent4">
                        <a:alpha val="0"/>
                      </a:schemeClr>
                    </a:solidFill>
                  </a:tcPr>
                </a:tc>
                <a:tc>
                  <a:txBody>
                    <a:bodyPr/>
                    <a:lstStyle/>
                    <a:p>
                      <a:r>
                        <a:rPr lang="en-IN" b="1" dirty="0">
                          <a:solidFill>
                            <a:srgbClr val="C00000"/>
                          </a:solidFill>
                        </a:rPr>
                        <a:t>Generated</a:t>
                      </a:r>
                    </a:p>
                  </a:txBody>
                  <a:tcPr anchor="ctr">
                    <a:solidFill>
                      <a:schemeClr val="accent4">
                        <a:alpha val="0"/>
                      </a:schemeClr>
                    </a:solidFill>
                  </a:tcPr>
                </a:tc>
                <a:tc>
                  <a:txBody>
                    <a:bodyPr/>
                    <a:lstStyle/>
                    <a:p>
                      <a:r>
                        <a:rPr lang="en-IN" b="1" dirty="0">
                          <a:solidFill>
                            <a:srgbClr val="C00000"/>
                          </a:solidFill>
                        </a:rPr>
                        <a:t>Difference</a:t>
                      </a:r>
                    </a:p>
                  </a:txBody>
                  <a:tcPr anchor="ctr">
                    <a:solidFill>
                      <a:schemeClr val="accent4">
                        <a:alpha val="0"/>
                      </a:schemeClr>
                    </a:solidFill>
                  </a:tcPr>
                </a:tc>
                <a:tc>
                  <a:txBody>
                    <a:bodyPr/>
                    <a:lstStyle/>
                    <a:p>
                      <a:r>
                        <a:rPr lang="en-IN" b="1" dirty="0">
                          <a:solidFill>
                            <a:srgbClr val="C00000"/>
                          </a:solidFill>
                        </a:rPr>
                        <a:t>Squared Error</a:t>
                      </a:r>
                    </a:p>
                  </a:txBody>
                  <a:tcPr anchor="ctr">
                    <a:solidFill>
                      <a:schemeClr val="accent4">
                        <a:alpha val="0"/>
                      </a:schemeClr>
                    </a:solidFill>
                  </a:tcPr>
                </a:tc>
                <a:extLst>
                  <a:ext uri="{0D108BD9-81ED-4DB2-BD59-A6C34878D82A}">
                    <a16:rowId xmlns:a16="http://schemas.microsoft.com/office/drawing/2014/main" xmlns="" val="3943451569"/>
                  </a:ext>
                </a:extLst>
              </a:tr>
              <a:tr h="0">
                <a:tc>
                  <a:txBody>
                    <a:bodyPr/>
                    <a:lstStyle/>
                    <a:p>
                      <a:r>
                        <a:rPr lang="en-IN"/>
                        <a:t>(1,1)</a:t>
                      </a:r>
                    </a:p>
                  </a:txBody>
                  <a:tcPr anchor="ctr"/>
                </a:tc>
                <a:tc>
                  <a:txBody>
                    <a:bodyPr/>
                    <a:lstStyle/>
                    <a:p>
                      <a:r>
                        <a:rPr lang="en-IN"/>
                        <a:t>100</a:t>
                      </a:r>
                    </a:p>
                  </a:txBody>
                  <a:tcPr anchor="ctr"/>
                </a:tc>
                <a:tc>
                  <a:txBody>
                    <a:bodyPr/>
                    <a:lstStyle/>
                    <a:p>
                      <a:r>
                        <a:rPr lang="en-IN"/>
                        <a:t>90</a:t>
                      </a:r>
                    </a:p>
                  </a:txBody>
                  <a:tcPr anchor="ctr"/>
                </a:tc>
                <a:tc>
                  <a:txBody>
                    <a:bodyPr/>
                    <a:lstStyle/>
                    <a:p>
                      <a:r>
                        <a:rPr lang="en-IN"/>
                        <a:t>10</a:t>
                      </a:r>
                    </a:p>
                  </a:txBody>
                  <a:tcPr anchor="ctr"/>
                </a:tc>
                <a:tc>
                  <a:txBody>
                    <a:bodyPr/>
                    <a:lstStyle/>
                    <a:p>
                      <a:r>
                        <a:rPr lang="en-IN" dirty="0"/>
                        <a:t>(</a:t>
                      </a:r>
                      <a:r>
                        <a:rPr lang="en-IN" dirty="0" smtClean="0"/>
                        <a:t>10</a:t>
                      </a:r>
                      <a:r>
                        <a:rPr lang="en-IN" baseline="30000" dirty="0" smtClean="0"/>
                        <a:t>2</a:t>
                      </a:r>
                      <a:r>
                        <a:rPr lang="en-IN" dirty="0" smtClean="0"/>
                        <a:t> </a:t>
                      </a:r>
                      <a:r>
                        <a:rPr lang="en-IN" dirty="0"/>
                        <a:t>= 100)</a:t>
                      </a:r>
                    </a:p>
                  </a:txBody>
                  <a:tcPr anchor="ctr"/>
                </a:tc>
                <a:extLst>
                  <a:ext uri="{0D108BD9-81ED-4DB2-BD59-A6C34878D82A}">
                    <a16:rowId xmlns:a16="http://schemas.microsoft.com/office/drawing/2014/main" xmlns="" val="161112449"/>
                  </a:ext>
                </a:extLst>
              </a:tr>
              <a:tr h="0">
                <a:tc>
                  <a:txBody>
                    <a:bodyPr/>
                    <a:lstStyle/>
                    <a:p>
                      <a:r>
                        <a:rPr lang="en-IN"/>
                        <a:t>(1,2)</a:t>
                      </a:r>
                    </a:p>
                  </a:txBody>
                  <a:tcPr anchor="ctr"/>
                </a:tc>
                <a:tc>
                  <a:txBody>
                    <a:bodyPr/>
                    <a:lstStyle/>
                    <a:p>
                      <a:r>
                        <a:rPr lang="en-IN"/>
                        <a:t>150</a:t>
                      </a:r>
                    </a:p>
                  </a:txBody>
                  <a:tcPr anchor="ctr"/>
                </a:tc>
                <a:tc>
                  <a:txBody>
                    <a:bodyPr/>
                    <a:lstStyle/>
                    <a:p>
                      <a:r>
                        <a:rPr lang="en-IN"/>
                        <a:t>140</a:t>
                      </a:r>
                    </a:p>
                  </a:txBody>
                  <a:tcPr anchor="ctr"/>
                </a:tc>
                <a:tc>
                  <a:txBody>
                    <a:bodyPr/>
                    <a:lstStyle/>
                    <a:p>
                      <a:r>
                        <a:rPr lang="en-IN"/>
                        <a:t>10</a:t>
                      </a:r>
                    </a:p>
                  </a:txBody>
                  <a:tcPr anchor="ctr"/>
                </a:tc>
                <a:tc>
                  <a:txBody>
                    <a:bodyPr/>
                    <a:lstStyle/>
                    <a:p>
                      <a:r>
                        <a:rPr lang="en-IN" dirty="0"/>
                        <a:t>(</a:t>
                      </a:r>
                      <a:r>
                        <a:rPr lang="en-IN" dirty="0" smtClean="0"/>
                        <a:t>10</a:t>
                      </a:r>
                      <a:r>
                        <a:rPr lang="en-IN" baseline="30000" dirty="0" smtClean="0"/>
                        <a:t>2</a:t>
                      </a:r>
                      <a:r>
                        <a:rPr lang="en-IN" dirty="0" smtClean="0"/>
                        <a:t> </a:t>
                      </a:r>
                      <a:r>
                        <a:rPr lang="en-IN" dirty="0"/>
                        <a:t>= 100)</a:t>
                      </a:r>
                    </a:p>
                  </a:txBody>
                  <a:tcPr anchor="ctr"/>
                </a:tc>
                <a:extLst>
                  <a:ext uri="{0D108BD9-81ED-4DB2-BD59-A6C34878D82A}">
                    <a16:rowId xmlns:a16="http://schemas.microsoft.com/office/drawing/2014/main" xmlns="" val="818875712"/>
                  </a:ext>
                </a:extLst>
              </a:tr>
              <a:tr h="0">
                <a:tc>
                  <a:txBody>
                    <a:bodyPr/>
                    <a:lstStyle/>
                    <a:p>
                      <a:r>
                        <a:rPr lang="en-IN"/>
                        <a:t>(2,1)</a:t>
                      </a:r>
                    </a:p>
                  </a:txBody>
                  <a:tcPr anchor="ctr"/>
                </a:tc>
                <a:tc>
                  <a:txBody>
                    <a:bodyPr/>
                    <a:lstStyle/>
                    <a:p>
                      <a:r>
                        <a:rPr lang="en-IN"/>
                        <a:t>200</a:t>
                      </a:r>
                    </a:p>
                  </a:txBody>
                  <a:tcPr anchor="ctr"/>
                </a:tc>
                <a:tc>
                  <a:txBody>
                    <a:bodyPr/>
                    <a:lstStyle/>
                    <a:p>
                      <a:r>
                        <a:rPr lang="en-IN"/>
                        <a:t>210</a:t>
                      </a:r>
                    </a:p>
                  </a:txBody>
                  <a:tcPr anchor="ctr"/>
                </a:tc>
                <a:tc>
                  <a:txBody>
                    <a:bodyPr/>
                    <a:lstStyle/>
                    <a:p>
                      <a:r>
                        <a:rPr lang="en-IN"/>
                        <a:t>−10</a:t>
                      </a:r>
                    </a:p>
                  </a:txBody>
                  <a:tcPr anchor="ctr"/>
                </a:tc>
                <a:tc>
                  <a:txBody>
                    <a:bodyPr/>
                    <a:lstStyle/>
                    <a:p>
                      <a:r>
                        <a:rPr lang="en-IN" dirty="0" smtClean="0"/>
                        <a:t>(-10)</a:t>
                      </a:r>
                      <a:r>
                        <a:rPr lang="en-IN" baseline="30000" dirty="0" smtClean="0"/>
                        <a:t>2</a:t>
                      </a:r>
                      <a:r>
                        <a:rPr lang="en-IN" dirty="0" smtClean="0"/>
                        <a:t> </a:t>
                      </a:r>
                      <a:r>
                        <a:rPr lang="en-IN" dirty="0"/>
                        <a:t>= 100 </a:t>
                      </a:r>
                      <a:r>
                        <a:rPr lang="en-IN" dirty="0" smtClean="0"/>
                        <a:t>)</a:t>
                      </a:r>
                      <a:endParaRPr lang="en-IN" dirty="0"/>
                    </a:p>
                  </a:txBody>
                  <a:tcPr anchor="ctr"/>
                </a:tc>
                <a:extLst>
                  <a:ext uri="{0D108BD9-81ED-4DB2-BD59-A6C34878D82A}">
                    <a16:rowId xmlns:a16="http://schemas.microsoft.com/office/drawing/2014/main" xmlns="" val="3683249559"/>
                  </a:ext>
                </a:extLst>
              </a:tr>
              <a:tr h="0">
                <a:tc>
                  <a:txBody>
                    <a:bodyPr/>
                    <a:lstStyle/>
                    <a:p>
                      <a:r>
                        <a:rPr lang="en-IN" dirty="0"/>
                        <a:t>(2,2)</a:t>
                      </a:r>
                    </a:p>
                  </a:txBody>
                  <a:tcPr anchor="ctr"/>
                </a:tc>
                <a:tc>
                  <a:txBody>
                    <a:bodyPr/>
                    <a:lstStyle/>
                    <a:p>
                      <a:r>
                        <a:rPr lang="en-IN"/>
                        <a:t>250</a:t>
                      </a:r>
                    </a:p>
                  </a:txBody>
                  <a:tcPr anchor="ctr"/>
                </a:tc>
                <a:tc>
                  <a:txBody>
                    <a:bodyPr/>
                    <a:lstStyle/>
                    <a:p>
                      <a:r>
                        <a:rPr lang="en-IN"/>
                        <a:t>240</a:t>
                      </a:r>
                    </a:p>
                  </a:txBody>
                  <a:tcPr anchor="ctr"/>
                </a:tc>
                <a:tc>
                  <a:txBody>
                    <a:bodyPr/>
                    <a:lstStyle/>
                    <a:p>
                      <a:r>
                        <a:rPr lang="en-IN"/>
                        <a:t>10</a:t>
                      </a:r>
                    </a:p>
                  </a:txBody>
                  <a:tcPr anchor="ctr"/>
                </a:tc>
                <a:tc>
                  <a:txBody>
                    <a:bodyPr/>
                    <a:lstStyle/>
                    <a:p>
                      <a:r>
                        <a:rPr lang="en-IN" dirty="0"/>
                        <a:t>(</a:t>
                      </a:r>
                      <a:r>
                        <a:rPr lang="en-IN" dirty="0" smtClean="0"/>
                        <a:t>10</a:t>
                      </a:r>
                      <a:r>
                        <a:rPr lang="en-IN" baseline="30000" dirty="0" smtClean="0"/>
                        <a:t>2</a:t>
                      </a:r>
                      <a:r>
                        <a:rPr lang="en-IN" dirty="0" smtClean="0"/>
                        <a:t> </a:t>
                      </a:r>
                      <a:r>
                        <a:rPr lang="en-IN" dirty="0"/>
                        <a:t>= 100)</a:t>
                      </a:r>
                    </a:p>
                  </a:txBody>
                  <a:tcPr anchor="ctr"/>
                </a:tc>
                <a:extLst>
                  <a:ext uri="{0D108BD9-81ED-4DB2-BD59-A6C34878D82A}">
                    <a16:rowId xmlns:a16="http://schemas.microsoft.com/office/drawing/2014/main" xmlns="" val="1975843667"/>
                  </a:ext>
                </a:extLst>
              </a:tr>
            </a:tbl>
          </a:graphicData>
        </a:graphic>
      </p:graphicFrame>
    </p:spTree>
    <p:extLst>
      <p:ext uri="{BB962C8B-B14F-4D97-AF65-F5344CB8AC3E}">
        <p14:creationId xmlns:p14="http://schemas.microsoft.com/office/powerpoint/2010/main" val="10776148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914679" y="1179482"/>
            <a:ext cx="5905306" cy="1186646"/>
          </a:xfrm>
          <a:prstGeom prst="rect">
            <a:avLst/>
          </a:prstGeom>
        </p:spPr>
      </p:pic>
      <p:sp>
        <p:nvSpPr>
          <p:cNvPr id="7" name="Rectangle 1"/>
          <p:cNvSpPr>
            <a:spLocks noChangeArrowheads="1"/>
          </p:cNvSpPr>
          <p:nvPr/>
        </p:nvSpPr>
        <p:spPr bwMode="auto">
          <a:xfrm>
            <a:off x="1027522" y="2636403"/>
            <a:ext cx="8606672"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Each pixel is compared </a:t>
            </a:r>
            <a:r>
              <a:rPr kumimoji="0" lang="en-US" altLang="en-US" sz="1800" b="1" i="0" u="none" strike="noStrike" cap="none" normalizeH="0" baseline="0" dirty="0" smtClean="0">
                <a:ln>
                  <a:noFill/>
                </a:ln>
                <a:solidFill>
                  <a:schemeClr val="tx1"/>
                </a:solidFill>
                <a:effectLst/>
                <a:latin typeface="Arial" panose="020B0604020202020204" pitchFamily="34" charset="0"/>
              </a:rPr>
              <a:t>independently</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Bigger pixel differences → </a:t>
            </a:r>
            <a:r>
              <a:rPr kumimoji="0" lang="en-US" altLang="en-US" sz="1800" b="1" i="0" u="none" strike="noStrike" cap="none" normalizeH="0" baseline="0" dirty="0" smtClean="0">
                <a:ln>
                  <a:noFill/>
                </a:ln>
                <a:solidFill>
                  <a:schemeClr val="tx1"/>
                </a:solidFill>
                <a:effectLst/>
                <a:latin typeface="Arial" panose="020B0604020202020204" pitchFamily="34" charset="0"/>
              </a:rPr>
              <a:t>larger penalty</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model is encouraged to make generated pixels </a:t>
            </a:r>
            <a:r>
              <a:rPr kumimoji="0" lang="en-US" altLang="en-US" sz="1800" b="1" i="0" u="none" strike="noStrike" cap="none" normalizeH="0" baseline="0" dirty="0" smtClean="0">
                <a:ln>
                  <a:noFill/>
                </a:ln>
                <a:solidFill>
                  <a:schemeClr val="tx1"/>
                </a:solidFill>
                <a:effectLst/>
                <a:latin typeface="Arial" panose="020B0604020202020204" pitchFamily="34" charset="0"/>
              </a:rPr>
              <a:t>numerically close</a:t>
            </a:r>
            <a:r>
              <a:rPr kumimoji="0" lang="en-US" altLang="en-US" sz="1800" b="0" i="0" u="none" strike="noStrike" cap="none" normalizeH="0" baseline="0" dirty="0" smtClean="0">
                <a:ln>
                  <a:noFill/>
                </a:ln>
                <a:solidFill>
                  <a:schemeClr val="tx1"/>
                </a:solidFill>
                <a:effectLst/>
                <a:latin typeface="Arial" panose="020B0604020202020204" pitchFamily="34" charset="0"/>
              </a:rPr>
              <a:t> to the original image</a:t>
            </a:r>
          </a:p>
        </p:txBody>
      </p:sp>
    </p:spTree>
    <p:extLst>
      <p:ext uri="{BB962C8B-B14F-4D97-AF65-F5344CB8AC3E}">
        <p14:creationId xmlns:p14="http://schemas.microsoft.com/office/powerpoint/2010/main" val="39027289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43356" y="1069240"/>
            <a:ext cx="4482787" cy="461665"/>
          </a:xfrm>
          <a:prstGeom prst="rect">
            <a:avLst/>
          </a:prstGeom>
        </p:spPr>
        <p:txBody>
          <a:bodyPr wrap="square">
            <a:spAutoFit/>
          </a:bodyPr>
          <a:lstStyle/>
          <a:p>
            <a:r>
              <a:rPr lang="en-IN" sz="2400" b="1" dirty="0">
                <a:solidFill>
                  <a:srgbClr val="FF0000"/>
                </a:solidFill>
                <a:effectLst>
                  <a:outerShdw blurRad="38100" dist="38100" dir="2700000" algn="tl">
                    <a:srgbClr val="000000">
                      <a:alpha val="43137"/>
                    </a:srgbClr>
                  </a:outerShdw>
                </a:effectLst>
                <a:latin typeface="Bodoni MT" panose="02070603080606020203" pitchFamily="18" charset="0"/>
              </a:rPr>
              <a:t>Binary Cross-Entropy Loss</a:t>
            </a:r>
          </a:p>
        </p:txBody>
      </p:sp>
      <p:sp>
        <p:nvSpPr>
          <p:cNvPr id="7" name="Rectangle 6"/>
          <p:cNvSpPr/>
          <p:nvPr/>
        </p:nvSpPr>
        <p:spPr>
          <a:xfrm>
            <a:off x="843356" y="1660475"/>
            <a:ext cx="10299125" cy="193899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Bodoni MT" panose="02070603080606020203" pitchFamily="18" charset="0"/>
              </a:rPr>
              <a:t>Cross-entropy loss measures the dissimilarity between two probability distributions, making it suitable for classification tasks. </a:t>
            </a:r>
          </a:p>
          <a:p>
            <a:pPr marL="342900" indent="-342900" algn="just">
              <a:lnSpc>
                <a:spcPct val="150000"/>
              </a:lnSpc>
              <a:buFont typeface="Arial" panose="020B0604020202020204" pitchFamily="34" charset="0"/>
              <a:buChar char="•"/>
            </a:pPr>
            <a:r>
              <a:rPr lang="en-US" sz="2000" dirty="0">
                <a:latin typeface="Bodoni MT" panose="02070603080606020203" pitchFamily="18" charset="0"/>
              </a:rPr>
              <a:t>In generative AI, cross-entropy loss is often used in GANs, where the generator tries to generate samples that the discriminator cannot distinguish from real data.</a:t>
            </a:r>
            <a:endParaRPr lang="en-IN" sz="2000" dirty="0">
              <a:latin typeface="Bodoni MT" panose="02070603080606020203" pitchFamily="18" charset="0"/>
            </a:endParaRPr>
          </a:p>
        </p:txBody>
      </p:sp>
      <p:pic>
        <p:nvPicPr>
          <p:cNvPr id="3074" name="Picture 2" descr="Discover why GANs are aweso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0008" y="3729037"/>
            <a:ext cx="2786422" cy="24642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3"/>
          <a:stretch>
            <a:fillRect/>
          </a:stretch>
        </p:blipFill>
        <p:spPr>
          <a:xfrm>
            <a:off x="4919825" y="3729037"/>
            <a:ext cx="4506979" cy="2379308"/>
          </a:xfrm>
          <a:prstGeom prst="rect">
            <a:avLst/>
          </a:prstGeom>
        </p:spPr>
      </p:pic>
    </p:spTree>
    <p:extLst>
      <p:ext uri="{BB962C8B-B14F-4D97-AF65-F5344CB8AC3E}">
        <p14:creationId xmlns:p14="http://schemas.microsoft.com/office/powerpoint/2010/main" val="28267073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470950" y="1399409"/>
            <a:ext cx="8957546" cy="3295139"/>
          </a:xfrm>
          <a:prstGeom prst="rect">
            <a:avLst/>
          </a:prstGeom>
        </p:spPr>
      </p:pic>
    </p:spTree>
    <p:extLst>
      <p:ext uri="{BB962C8B-B14F-4D97-AF65-F5344CB8AC3E}">
        <p14:creationId xmlns:p14="http://schemas.microsoft.com/office/powerpoint/2010/main" val="42816428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38991" y="1210642"/>
            <a:ext cx="4639412" cy="461665"/>
          </a:xfrm>
          <a:prstGeom prst="rect">
            <a:avLst/>
          </a:prstGeom>
        </p:spPr>
        <p:txBody>
          <a:bodyPr wrap="none">
            <a:spAutoFit/>
          </a:bodyPr>
          <a:lstStyle/>
          <a:p>
            <a:r>
              <a:rPr lang="en-IN" sz="2400" b="1" dirty="0" err="1">
                <a:solidFill>
                  <a:srgbClr val="FF0000"/>
                </a:solidFill>
                <a:effectLst>
                  <a:outerShdw blurRad="38100" dist="38100" dir="2700000" algn="tl">
                    <a:srgbClr val="000000">
                      <a:alpha val="43137"/>
                    </a:srgbClr>
                  </a:outerShdw>
                </a:effectLst>
                <a:latin typeface="Bodoni MT" panose="02070603080606020203" pitchFamily="18" charset="0"/>
              </a:rPr>
              <a:t>Kullback-Leibler</a:t>
            </a:r>
            <a:r>
              <a:rPr lang="en-IN" sz="2400" b="1" dirty="0">
                <a:solidFill>
                  <a:srgbClr val="FF0000"/>
                </a:solidFill>
                <a:effectLst>
                  <a:outerShdw blurRad="38100" dist="38100" dir="2700000" algn="tl">
                    <a:srgbClr val="000000">
                      <a:alpha val="43137"/>
                    </a:srgbClr>
                  </a:outerShdw>
                </a:effectLst>
                <a:latin typeface="Bodoni MT" panose="02070603080606020203" pitchFamily="18" charset="0"/>
              </a:rPr>
              <a:t> (KL) Divergence </a:t>
            </a:r>
          </a:p>
        </p:txBody>
      </p:sp>
      <p:sp>
        <p:nvSpPr>
          <p:cNvPr id="7" name="Rectangle 6"/>
          <p:cNvSpPr/>
          <p:nvPr/>
        </p:nvSpPr>
        <p:spPr>
          <a:xfrm>
            <a:off x="738990" y="1882691"/>
            <a:ext cx="10846551" cy="235769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Bodoni MT" panose="02070603080606020203" pitchFamily="18" charset="0"/>
              </a:rPr>
              <a:t>KL divergence is a measure of how one probability distribution differs from a reference distribution. </a:t>
            </a:r>
          </a:p>
          <a:p>
            <a:pPr marL="342900" indent="-342900" algn="just">
              <a:lnSpc>
                <a:spcPct val="150000"/>
              </a:lnSpc>
              <a:buFont typeface="Arial" panose="020B0604020202020204" pitchFamily="34" charset="0"/>
              <a:buChar char="•"/>
            </a:pPr>
            <a:r>
              <a:rPr lang="en-US" sz="2000" dirty="0">
                <a:latin typeface="Bodoni MT" panose="02070603080606020203" pitchFamily="18" charset="0"/>
              </a:rPr>
              <a:t>In generative AI, KL divergence is often used in VAEs as a </a:t>
            </a:r>
            <a:r>
              <a:rPr lang="en-US" sz="2000" dirty="0">
                <a:latin typeface="Bodoni MT" panose="02070603080606020203" pitchFamily="18" charset="0"/>
                <a:hlinkClick r:id="rId2"/>
              </a:rPr>
              <a:t>regularization</a:t>
            </a:r>
            <a:r>
              <a:rPr lang="en-US" sz="2000" dirty="0">
                <a:latin typeface="Bodoni MT" panose="02070603080606020203" pitchFamily="18" charset="0"/>
              </a:rPr>
              <a:t> term to ensure that the learned latent distribution is close to a predefined prior distribution, such as a standard normal distribution.</a:t>
            </a:r>
            <a:endParaRPr lang="en-IN" sz="2000" dirty="0">
              <a:latin typeface="Bodoni MT" panose="02070603080606020203" pitchFamily="18" charset="0"/>
            </a:endParaRPr>
          </a:p>
        </p:txBody>
      </p:sp>
      <p:pic>
        <p:nvPicPr>
          <p:cNvPr id="8" name="Picture 7"/>
          <p:cNvPicPr>
            <a:picLocks noChangeAspect="1"/>
          </p:cNvPicPr>
          <p:nvPr/>
        </p:nvPicPr>
        <p:blipFill>
          <a:blip r:embed="rId3"/>
          <a:stretch>
            <a:fillRect/>
          </a:stretch>
        </p:blipFill>
        <p:spPr>
          <a:xfrm>
            <a:off x="3544039" y="4240388"/>
            <a:ext cx="4330923" cy="1847945"/>
          </a:xfrm>
          <a:prstGeom prst="rect">
            <a:avLst/>
          </a:prstGeom>
        </p:spPr>
      </p:pic>
    </p:spTree>
    <p:extLst>
      <p:ext uri="{BB962C8B-B14F-4D97-AF65-F5344CB8AC3E}">
        <p14:creationId xmlns:p14="http://schemas.microsoft.com/office/powerpoint/2010/main" val="17573935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00913" y="1144654"/>
            <a:ext cx="2876108" cy="461665"/>
          </a:xfrm>
          <a:prstGeom prst="rect">
            <a:avLst/>
          </a:prstGeom>
        </p:spPr>
        <p:txBody>
          <a:bodyPr wrap="none">
            <a:spAutoFit/>
          </a:bodyPr>
          <a:lstStyle/>
          <a:p>
            <a:r>
              <a:rPr lang="en-IN" sz="2400" b="1" dirty="0">
                <a:solidFill>
                  <a:srgbClr val="FF0000"/>
                </a:solidFill>
                <a:effectLst>
                  <a:outerShdw blurRad="38100" dist="38100" dir="2700000" algn="tl">
                    <a:srgbClr val="000000">
                      <a:alpha val="43137"/>
                    </a:srgbClr>
                  </a:outerShdw>
                </a:effectLst>
                <a:latin typeface="Bodoni MT" panose="02070603080606020203" pitchFamily="18" charset="0"/>
              </a:rPr>
              <a:t>Wasserstein Distance</a:t>
            </a:r>
          </a:p>
        </p:txBody>
      </p:sp>
      <p:sp>
        <p:nvSpPr>
          <p:cNvPr id="7" name="Rectangle 6"/>
          <p:cNvSpPr/>
          <p:nvPr/>
        </p:nvSpPr>
        <p:spPr>
          <a:xfrm>
            <a:off x="879835" y="1750716"/>
            <a:ext cx="10290928" cy="1631216"/>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Bodoni MT" panose="02070603080606020203" pitchFamily="18" charset="0"/>
              </a:rPr>
              <a:t>Wasserstein distance, also known as the Earth Mover’s distance, measures the minimum cost of transporting mass to transform one probability distribution into another. </a:t>
            </a:r>
            <a:endParaRPr lang="en-US" sz="2000" dirty="0" smtClean="0">
              <a:latin typeface="Bodoni MT" panose="02070603080606020203" pitchFamily="18" charset="0"/>
            </a:endParaRPr>
          </a:p>
          <a:p>
            <a:pPr marL="342900" indent="-342900" algn="just">
              <a:buFont typeface="Arial" panose="020B0604020202020204" pitchFamily="34" charset="0"/>
              <a:buChar char="•"/>
            </a:pPr>
            <a:r>
              <a:rPr lang="en-US" sz="2000" dirty="0" smtClean="0">
                <a:latin typeface="Bodoni MT" panose="02070603080606020203" pitchFamily="18" charset="0"/>
              </a:rPr>
              <a:t>It </a:t>
            </a:r>
            <a:r>
              <a:rPr lang="en-US" sz="2000" dirty="0">
                <a:latin typeface="Bodoni MT" panose="02070603080606020203" pitchFamily="18" charset="0"/>
              </a:rPr>
              <a:t>has gained popularity in generative AI due to its use in Wasserstein GANs (WGANs), which provide more stable training and better convergence properties compared to traditional GANs.</a:t>
            </a:r>
            <a:endParaRPr lang="en-IN" sz="2000" dirty="0">
              <a:latin typeface="Bodoni MT" panose="02070603080606020203" pitchFamily="18" charset="0"/>
            </a:endParaRPr>
          </a:p>
        </p:txBody>
      </p:sp>
      <p:pic>
        <p:nvPicPr>
          <p:cNvPr id="8" name="Picture 7"/>
          <p:cNvPicPr>
            <a:picLocks noChangeAspect="1"/>
          </p:cNvPicPr>
          <p:nvPr/>
        </p:nvPicPr>
        <p:blipFill>
          <a:blip r:embed="rId2"/>
          <a:stretch>
            <a:fillRect/>
          </a:stretch>
        </p:blipFill>
        <p:spPr>
          <a:xfrm>
            <a:off x="1451479" y="3970349"/>
            <a:ext cx="4788146" cy="1320868"/>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5299" y="4178617"/>
            <a:ext cx="5410200"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191152"/>
      </p:ext>
    </p:extLst>
  </p:cSld>
  <p:clrMapOvr>
    <a:masterClrMapping/>
  </p:clrMapOvr>
</p:sld>
</file>

<file path=ppt/theme/theme1.xml><?xml version="1.0" encoding="utf-8"?>
<a:theme xmlns:a="http://schemas.openxmlformats.org/drawingml/2006/main"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4274</TotalTime>
  <Words>1508</Words>
  <Application>Microsoft Office PowerPoint</Application>
  <PresentationFormat>Custom</PresentationFormat>
  <Paragraphs>169</Paragraphs>
  <Slides>47</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47</vt:i4>
      </vt:variant>
    </vt:vector>
  </HeadingPairs>
  <TitlesOfParts>
    <vt:vector size="59" baseType="lpstr">
      <vt:lpstr>Arial</vt:lpstr>
      <vt:lpstr>inter var</vt:lpstr>
      <vt:lpstr>Calibri</vt:lpstr>
      <vt:lpstr>Arial Rounded MT Bold</vt:lpstr>
      <vt:lpstr>Alef</vt:lpstr>
      <vt:lpstr>Times New Roman</vt:lpstr>
      <vt:lpstr>Cambria Math</vt:lpstr>
      <vt:lpstr>Wingdings</vt:lpstr>
      <vt:lpstr>Fira Sans</vt:lpstr>
      <vt:lpstr>Bodoni MT</vt:lpstr>
      <vt:lpstr>Marcellus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Somaiya Vidyavihar University, MUMBAI   K J Somaiya School of Engineering    Department of Electronics engineering</dc:title>
  <dc:creator>etrx_pcb</dc:creator>
  <cp:lastModifiedBy>Admin</cp:lastModifiedBy>
  <cp:revision>421</cp:revision>
  <dcterms:modified xsi:type="dcterms:W3CDTF">2026-02-11T12:10:02Z</dcterms:modified>
</cp:coreProperties>
</file>