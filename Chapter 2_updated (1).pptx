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1" r:id="rId17"/>
    <p:sldId id="283" r:id="rId18"/>
    <p:sldId id="285" r:id="rId19"/>
    <p:sldId id="284" r:id="rId20"/>
    <p:sldId id="286" r:id="rId21"/>
    <p:sldId id="287" r:id="rId22"/>
    <p:sldId id="288" r:id="rId23"/>
    <p:sldId id="289" r:id="rId24"/>
    <p:sldId id="282" r:id="rId25"/>
    <p:sldId id="290" r:id="rId26"/>
    <p:sldId id="292" r:id="rId27"/>
    <p:sldId id="293" r:id="rId28"/>
    <p:sldId id="299" r:id="rId29"/>
    <p:sldId id="294" r:id="rId30"/>
    <p:sldId id="296" r:id="rId31"/>
    <p:sldId id="297" r:id="rId32"/>
    <p:sldId id="298" r:id="rId33"/>
    <p:sldId id="271" r:id="rId34"/>
    <p:sldId id="272" r:id="rId35"/>
    <p:sldId id="273" r:id="rId36"/>
    <p:sldId id="274" r:id="rId37"/>
    <p:sldId id="275" r:id="rId38"/>
    <p:sldId id="279" r:id="rId39"/>
    <p:sldId id="280" r:id="rId40"/>
    <p:sldId id="276" r:id="rId41"/>
    <p:sldId id="277" r:id="rId42"/>
    <p:sldId id="278" r:id="rId43"/>
  </p:sldIdLst>
  <p:sldSz cx="12192000" cy="6858000"/>
  <p:notesSz cx="6858000" cy="9144000"/>
  <p:embeddedFontLst>
    <p:embeddedFont>
      <p:font typeface="Bodoni MT" pitchFamily="18" charset="0"/>
      <p:regular r:id="rId45"/>
      <p:bold r:id="rId46"/>
      <p:italic r:id="rId47"/>
      <p:boldItalic r:id="rId48"/>
    </p:embeddedFont>
    <p:embeddedFont>
      <p:font typeface="Marcellus" charset="0"/>
      <p:regular r:id="rId49"/>
    </p:embeddedFont>
    <p:embeddedFont>
      <p:font typeface="Calibri" pitchFamily="34" charset="0"/>
      <p:regular r:id="rId50"/>
      <p:bold r:id="rId51"/>
      <p:italic r:id="rId52"/>
      <p:boldItalic r:id="rId53"/>
    </p:embeddedFont>
    <p:embeddedFont>
      <p:font typeface="Fira Sans" charset="0"/>
      <p:regular r:id="rId54"/>
      <p:bold r:id="rId55"/>
      <p:italic r:id="rId56"/>
      <p:boldItalic r:id="rId57"/>
    </p:embeddedFont>
    <p:embeddedFont>
      <p:font typeface="Algerian" pitchFamily="82" charset="0"/>
      <p:regular r:id="rId58"/>
    </p:embeddedFont>
    <p:embeddedFont>
      <p:font typeface="Cambria Math" pitchFamily="18" charset="0"/>
      <p:regular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161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8" roundtripDataSignature="AMtx7miUfj2Zcl/98YbbylcoY+O6WfCW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8D71"/>
    <a:srgbClr val="F2F2F2"/>
    <a:srgbClr val="D5F828"/>
    <a:srgbClr val="4472C4"/>
    <a:srgbClr val="E14743"/>
    <a:srgbClr val="FF6969"/>
    <a:srgbClr val="49A50B"/>
    <a:srgbClr val="1C879C"/>
    <a:srgbClr val="5E60C2"/>
    <a:srgbClr val="C4C4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1E1C0AF1-BE56-44B4-ADF2-E3A76020D510}">
  <a:tblStyle styleId="{1E1C0AF1-BE56-44B4-ADF2-E3A76020D510}" styleName="Table_0">
    <a:wholeTbl>
      <a:tcTxStyle b="off" i="off">
        <a:font>
          <a:latin typeface="Fira Sans"/>
          <a:ea typeface="Fira Sans"/>
          <a:cs typeface="Fira San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Fira Sans"/>
          <a:ea typeface="Fira Sans"/>
          <a:cs typeface="Fira San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Fira Sans"/>
          <a:ea typeface="Fira Sans"/>
          <a:cs typeface="Fira San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Fira Sans"/>
          <a:ea typeface="Fira Sans"/>
          <a:cs typeface="Fira San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Fira Sans"/>
          <a:ea typeface="Fira Sans"/>
          <a:cs typeface="Fira San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0AB5134-79C5-4A78-93EA-4AE2E9C4104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3D33542-5A3D-43B4-9FE6-77F4D52E408F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5F3E337-99B2-4A2E-B937-D0C024B0EAE6}" styleName="Table_3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-342" y="-72"/>
      </p:cViewPr>
      <p:guideLst>
        <p:guide orient="horz" pos="2160"/>
        <p:guide orient="horz" pos="216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7" Type="http://schemas.openxmlformats.org/officeDocument/2006/relationships/slide" Target="slides/slide6.xml"/><Relationship Id="rId170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16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168" Type="http://customschemas.google.com/relationships/presentationmetadata" Target="metadata"/><Relationship Id="rId172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17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782051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8298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1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51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51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" name="Google Shape;17;p5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1"/>
          <p:cNvSpPr txBox="1">
            <a:spLocks noGrp="1"/>
          </p:cNvSpPr>
          <p:nvPr>
            <p:ph type="sldNum" idx="12"/>
          </p:nvPr>
        </p:nvSpPr>
        <p:spPr>
          <a:xfrm>
            <a:off x="10169610" y="6356350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5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5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5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" name="Google Shape;54;p55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6" name="Google Shape;56;p5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5"/>
          <p:cNvSpPr txBox="1">
            <a:spLocks noGrp="1"/>
          </p:cNvSpPr>
          <p:nvPr>
            <p:ph type="sldNum" idx="12"/>
          </p:nvPr>
        </p:nvSpPr>
        <p:spPr>
          <a:xfrm>
            <a:off x="10169610" y="6356350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6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6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6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" name="Google Shape;64;p56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6"/>
          <p:cNvSpPr txBox="1">
            <a:spLocks noGrp="1"/>
          </p:cNvSpPr>
          <p:nvPr>
            <p:ph type="sldNum" idx="12"/>
          </p:nvPr>
        </p:nvSpPr>
        <p:spPr>
          <a:xfrm>
            <a:off x="10169610" y="6356350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0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600"/>
              <a:buFont typeface="Marcellus"/>
              <a:buNone/>
              <a:defRPr sz="3600" b="0" i="0" u="none" strike="noStrike" cap="none">
                <a:solidFill>
                  <a:srgbClr val="A42530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4D4D4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4D4D4C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4D4D4C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4D4D4C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4D4D4C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0"/>
          <p:cNvSpPr txBox="1">
            <a:spLocks noGrp="1"/>
          </p:cNvSpPr>
          <p:nvPr>
            <p:ph type="sldNum" idx="12"/>
          </p:nvPr>
        </p:nvSpPr>
        <p:spPr>
          <a:xfrm>
            <a:off x="10169610" y="6356350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50" descr="A black and red tex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212" y="70072"/>
            <a:ext cx="2454684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50" descr="Graphical user interface, text, applicatio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176478" y="26528"/>
            <a:ext cx="972000" cy="720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/>
          <p:nvPr/>
        </p:nvSpPr>
        <p:spPr>
          <a:xfrm>
            <a:off x="41289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" name="Google Shape;77;p1"/>
          <p:cNvSpPr txBox="1"/>
          <p:nvPr/>
        </p:nvSpPr>
        <p:spPr>
          <a:xfrm>
            <a:off x="8759455" y="644761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fld>
            <a:endParaRPr sz="12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04272" y="2502952"/>
            <a:ext cx="57246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 smtClean="0">
                <a:latin typeface="Times New Roman" panose="02020603050405020304" pitchFamily="18" charset="0"/>
              </a:rPr>
              <a:t>Generative </a:t>
            </a:r>
            <a:r>
              <a:rPr lang="en-IN" sz="2800" b="1" dirty="0">
                <a:latin typeface="Times New Roman" panose="02020603050405020304" pitchFamily="18" charset="0"/>
              </a:rPr>
              <a:t>Adversarial Network </a:t>
            </a:r>
            <a:r>
              <a:rPr lang="en-IN" dirty="0">
                <a:latin typeface="Times New Roman" panose="02020603050405020304" pitchFamily="18" charset="0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9930" y="1443092"/>
            <a:ext cx="113385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q"/>
            </a:pPr>
            <a:r>
              <a:rPr lang="en-US" sz="40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GAN</a:t>
            </a:r>
            <a:r>
              <a:rPr lang="en-US" sz="4000" dirty="0">
                <a:latin typeface="Bodoni MT" panose="02070603080606020203" pitchFamily="18" charset="0"/>
              </a:rPr>
              <a:t> </a:t>
            </a:r>
            <a:r>
              <a:rPr lang="en-US" sz="2000" dirty="0">
                <a:latin typeface="Bodoni MT" panose="02070603080606020203" pitchFamily="18" charset="0"/>
              </a:rPr>
              <a:t>is a battle between two adversaries</a:t>
            </a:r>
            <a:r>
              <a:rPr lang="en-US" sz="1800" dirty="0">
                <a:latin typeface="Bodoni MT" panose="02070603080606020203" pitchFamily="18" charset="0"/>
              </a:rPr>
              <a:t>, the </a:t>
            </a:r>
            <a:r>
              <a:rPr 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Generator</a:t>
            </a:r>
            <a:r>
              <a:rPr lang="en-US" sz="1800" dirty="0" smtClean="0">
                <a:latin typeface="Bodoni MT" panose="02070603080606020203" pitchFamily="18" charset="0"/>
              </a:rPr>
              <a:t> </a:t>
            </a:r>
            <a:r>
              <a:rPr lang="en-US" sz="1800" dirty="0">
                <a:latin typeface="Bodoni MT" panose="02070603080606020203" pitchFamily="18" charset="0"/>
              </a:rPr>
              <a:t>and the </a:t>
            </a:r>
            <a:r>
              <a:rPr 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Discriminator</a:t>
            </a:r>
            <a:r>
              <a:rPr lang="en-US" sz="1800" dirty="0">
                <a:latin typeface="Bodoni MT" panose="02070603080606020203" pitchFamily="18" charset="0"/>
              </a:rPr>
              <a:t>.</a:t>
            </a:r>
            <a:endParaRPr lang="en-IN" sz="1800" dirty="0">
              <a:latin typeface="Bodoni MT" panose="020706030806060202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97991" y="3395168"/>
            <a:ext cx="62728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Generator (G):</a:t>
            </a:r>
            <a:r>
              <a:rPr lang="en-US" sz="2000" dirty="0">
                <a:latin typeface="Bodoni MT" panose="02070603080606020203" pitchFamily="18" charset="0"/>
              </a:rPr>
              <a:t> “Can I create fake images that look real?”</a:t>
            </a:r>
            <a:endParaRPr lang="en-IN" sz="2000" dirty="0">
              <a:latin typeface="Bodoni MT" panose="02070603080606020203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303" y="2549323"/>
            <a:ext cx="3777138" cy="1691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748" y="4659026"/>
            <a:ext cx="3804161" cy="1493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5297991" y="5212505"/>
            <a:ext cx="64716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Discriminator (D): </a:t>
            </a:r>
            <a:r>
              <a:rPr lang="en-US" sz="2000" dirty="0">
                <a:latin typeface="Bodoni MT" panose="02070603080606020203" pitchFamily="18" charset="0"/>
              </a:rPr>
              <a:t>“Can I tell real images from fake ones?”</a:t>
            </a:r>
            <a:endParaRPr lang="en-IN" sz="2000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106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17462" y="1207515"/>
            <a:ext cx="3575018" cy="523220"/>
          </a:xfrm>
          <a:prstGeom prst="rect">
            <a:avLst/>
          </a:prstGeom>
          <a:solidFill>
            <a:srgbClr val="C00000"/>
          </a:solidFill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Discriminator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7462" y="2112518"/>
            <a:ext cx="49071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What goes into the discriminator?</a:t>
            </a:r>
            <a:endParaRPr lang="en-IN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" panose="020706030806060202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351174" y="2814571"/>
            <a:ext cx="899002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Bodoni MT" panose="02070603080606020203" pitchFamily="18" charset="0"/>
              </a:rPr>
              <a:t>Two kinds of images </a:t>
            </a:r>
            <a:r>
              <a:rPr lang="en-US" sz="2400" b="1" dirty="0">
                <a:latin typeface="Bodoni MT" panose="02070603080606020203" pitchFamily="18" charset="0"/>
              </a:rPr>
              <a:t>in the same batch</a:t>
            </a:r>
            <a:r>
              <a:rPr lang="en-US" sz="2400" dirty="0">
                <a:latin typeface="Bodoni MT" panose="02070603080606020203" pitchFamily="18" charset="0"/>
              </a:rPr>
              <a:t>:</a:t>
            </a:r>
          </a:p>
          <a:p>
            <a:pPr marL="4572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FF0000"/>
                </a:solidFill>
                <a:latin typeface="Bodoni MT" panose="02070603080606020203" pitchFamily="18" charset="0"/>
              </a:rPr>
              <a:t>Real images</a:t>
            </a:r>
            <a:r>
              <a:rPr lang="en-US" sz="2400" dirty="0">
                <a:solidFill>
                  <a:srgbClr val="FF0000"/>
                </a:solidFill>
                <a:latin typeface="Bodoni MT" panose="02070603080606020203" pitchFamily="18" charset="0"/>
              </a:rPr>
              <a:t> </a:t>
            </a:r>
            <a:r>
              <a:rPr lang="en-US" sz="2400" dirty="0">
                <a:latin typeface="Bodoni MT" panose="02070603080606020203" pitchFamily="18" charset="0"/>
              </a:rPr>
              <a:t>from the dataset → label </a:t>
            </a:r>
            <a:r>
              <a:rPr lang="en-US" sz="2400" b="1" dirty="0">
                <a:latin typeface="Bodoni MT" panose="02070603080606020203" pitchFamily="18" charset="0"/>
              </a:rPr>
              <a:t>1</a:t>
            </a:r>
            <a:endParaRPr lang="en-US" sz="2400" dirty="0">
              <a:latin typeface="Bodoni MT" panose="02070603080606020203" pitchFamily="18" charset="0"/>
            </a:endParaRPr>
          </a:p>
          <a:p>
            <a:pPr marL="4572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FF0000"/>
                </a:solidFill>
                <a:latin typeface="Bodoni MT" panose="02070603080606020203" pitchFamily="18" charset="0"/>
              </a:rPr>
              <a:t>Fake images</a:t>
            </a:r>
            <a:r>
              <a:rPr lang="en-US" sz="2400" dirty="0">
                <a:solidFill>
                  <a:srgbClr val="FF0000"/>
                </a:solidFill>
                <a:latin typeface="Bodoni MT" panose="02070603080606020203" pitchFamily="18" charset="0"/>
              </a:rPr>
              <a:t> </a:t>
            </a:r>
            <a:r>
              <a:rPr lang="en-US" sz="2400" dirty="0">
                <a:latin typeface="Bodoni MT" panose="02070603080606020203" pitchFamily="18" charset="0"/>
              </a:rPr>
              <a:t>produced by the generator → label </a:t>
            </a:r>
            <a:r>
              <a:rPr lang="en-US" sz="2400" b="1" dirty="0">
                <a:latin typeface="Bodoni MT" panose="02070603080606020203" pitchFamily="18" charset="0"/>
              </a:rPr>
              <a:t>0</a:t>
            </a:r>
            <a:endParaRPr lang="en-US" sz="2400" dirty="0">
              <a:latin typeface="Bodoni MT" panose="02070603080606020203" pitchFamily="18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7912393" y="2670066"/>
            <a:ext cx="1121789" cy="1898831"/>
          </a:xfrm>
          <a:prstGeom prst="rightBrace">
            <a:avLst/>
          </a:prstGeom>
          <a:ln w="349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8797181" y="3105662"/>
            <a:ext cx="33938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Binary 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classification problem.</a:t>
            </a:r>
          </a:p>
        </p:txBody>
      </p:sp>
    </p:spTree>
    <p:extLst>
      <p:ext uri="{BB962C8B-B14F-4D97-AF65-F5344CB8AC3E}">
        <p14:creationId xmlns:p14="http://schemas.microsoft.com/office/powerpoint/2010/main" val="156967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70" y="1207675"/>
            <a:ext cx="5637534" cy="380164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429" y="1424312"/>
            <a:ext cx="5318825" cy="179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61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061" y="1108280"/>
            <a:ext cx="9621078" cy="491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393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836" y="1209741"/>
            <a:ext cx="7626414" cy="455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74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59" y="1563948"/>
            <a:ext cx="7785226" cy="226900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63459" y="979173"/>
            <a:ext cx="18293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u="sng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Loss used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31900" y="3264793"/>
            <a:ext cx="5908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Only discriminator weights are updated here</a:t>
            </a:r>
            <a:endParaRPr lang="en-IN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" panose="020706030806060202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202635" y="4186899"/>
                <a:ext cx="1090322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400" dirty="0" smtClean="0">
                    <a:latin typeface="Bodoni MT" panose="02070603080606020203" pitchFamily="18" charset="0"/>
                  </a:rPr>
                  <a:t>The </a:t>
                </a:r>
                <a:r>
                  <a:rPr lang="en-US" sz="2400" b="1" u="sng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odoni MT" panose="02070603080606020203" pitchFamily="18" charset="0"/>
                  </a:rPr>
                  <a:t>weights are the trainable parameters of the neural network </a:t>
                </a:r>
                <a:r>
                  <a:rPr lang="en-US" sz="2400" dirty="0">
                    <a:latin typeface="Bodoni MT" panose="02070603080606020203" pitchFamily="18" charset="0"/>
                  </a:rPr>
                  <a:t>that produces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US" sz="2400" dirty="0">
                  <a:latin typeface="Bodoni MT" panose="02070603080606020203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635" y="4186899"/>
                <a:ext cx="10903226" cy="461665"/>
              </a:xfrm>
              <a:prstGeom prst="rect">
                <a:avLst/>
              </a:prstGeom>
              <a:blipFill>
                <a:blip r:embed="rId3"/>
                <a:stretch>
                  <a:fillRect l="-727" t="-11842" r="-56" b="-355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40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071" y="1167515"/>
            <a:ext cx="6296546" cy="39014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791" y="2781802"/>
            <a:ext cx="6400799" cy="2794050"/>
          </a:xfrm>
          <a:prstGeom prst="rect">
            <a:avLst/>
          </a:prstGeom>
          <a:solidFill>
            <a:schemeClr val="lt1"/>
          </a:solidFill>
          <a:ln w="44450">
            <a:solidFill>
              <a:schemeClr val="dk1">
                <a:shade val="95000"/>
                <a:satMod val="10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4577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855" y="1247854"/>
            <a:ext cx="7436676" cy="453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2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44687" y="1217712"/>
            <a:ext cx="3018775" cy="523220"/>
          </a:xfrm>
          <a:prstGeom prst="rect">
            <a:avLst/>
          </a:prstGeom>
          <a:solidFill>
            <a:srgbClr val="C00000"/>
          </a:solidFill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Generator training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386" y="1872803"/>
            <a:ext cx="5048911" cy="19935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672386" y="4070243"/>
            <a:ext cx="5373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We want the generator to improve, not the discriminator</a:t>
            </a:r>
            <a:endParaRPr lang="en-IN" sz="24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" panose="02070603080606020203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687" y="2126611"/>
            <a:ext cx="5408612" cy="2920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607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191429" y="1158077"/>
            <a:ext cx="63623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/>
              <a:t>Step 2:</a:t>
            </a:r>
            <a:r>
              <a:rPr lang="en-US" sz="2400" dirty="0"/>
              <a:t> Build a combined model</a:t>
            </a:r>
            <a:endParaRPr lang="en-IN" sz="2400" dirty="0"/>
          </a:p>
        </p:txBody>
      </p:sp>
      <p:sp>
        <p:nvSpPr>
          <p:cNvPr id="7" name="Rectangle 6"/>
          <p:cNvSpPr/>
          <p:nvPr/>
        </p:nvSpPr>
        <p:spPr>
          <a:xfrm>
            <a:off x="1470991" y="2360711"/>
            <a:ext cx="10167731" cy="461665"/>
          </a:xfrm>
          <a:prstGeom prst="rect">
            <a:avLst/>
          </a:prstGeom>
          <a:ln w="34925">
            <a:solidFill>
              <a:schemeClr val="dk1">
                <a:shade val="95000"/>
                <a:satMod val="10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z → Generator → fake image → Discriminator → probability</a:t>
            </a:r>
          </a:p>
        </p:txBody>
      </p:sp>
    </p:spTree>
    <p:extLst>
      <p:ext uri="{BB962C8B-B14F-4D97-AF65-F5344CB8AC3E}">
        <p14:creationId xmlns:p14="http://schemas.microsoft.com/office/powerpoint/2010/main" val="1559778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60897" y="1187895"/>
            <a:ext cx="3076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/>
              <a:t>Step 3: </a:t>
            </a:r>
            <a:r>
              <a:rPr lang="en-US" sz="1800" dirty="0"/>
              <a:t>Set target labels = 1</a:t>
            </a:r>
            <a:endParaRPr lang="en-IN" sz="18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926361"/>
              </p:ext>
            </p:extLst>
          </p:nvPr>
        </p:nvGraphicFramePr>
        <p:xfrm>
          <a:off x="1285461" y="2076416"/>
          <a:ext cx="2898913" cy="1524000"/>
        </p:xfrm>
        <a:graphic>
          <a:graphicData uri="http://schemas.openxmlformats.org/drawingml/2006/table">
            <a:tbl>
              <a:tblPr>
                <a:tableStyleId>{63D33542-5A3D-43B4-9FE6-77F4D52E408F}</a:tableStyleId>
              </a:tblPr>
              <a:tblGrid>
                <a:gridCol w="1457739">
                  <a:extLst>
                    <a:ext uri="{9D8B030D-6E8A-4147-A177-3AD203B41FA5}">
                      <a16:colId xmlns:a16="http://schemas.microsoft.com/office/drawing/2014/main" xmlns="" val="3089186515"/>
                    </a:ext>
                  </a:extLst>
                </a:gridCol>
                <a:gridCol w="1441174">
                  <a:extLst>
                    <a:ext uri="{9D8B030D-6E8A-4147-A177-3AD203B41FA5}">
                      <a16:colId xmlns:a16="http://schemas.microsoft.com/office/drawing/2014/main" xmlns="" val="804725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Target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257247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mtClean="0"/>
                        <a:t>1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16442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788224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629105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956625062"/>
                  </a:ext>
                </a:extLst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285461" y="3824980"/>
            <a:ext cx="10074965" cy="1971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Why label =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1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?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Because the generator’s goal is: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“Make the discriminator believe these are real images.”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6009" y="2238251"/>
            <a:ext cx="6927574" cy="1148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“</a:t>
            </a:r>
            <a:r>
              <a:rPr lang="en-US" sz="24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The label 1 is artificial and is used only to define the loss; it does not represent a true ground-truth label.”</a:t>
            </a:r>
            <a:endParaRPr lang="en-IN" sz="2400" b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779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498" y="866870"/>
            <a:ext cx="7729727" cy="31783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25735" y="4159694"/>
            <a:ext cx="46009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Backpropagation flows like this:</a:t>
            </a:r>
          </a:p>
        </p:txBody>
      </p:sp>
      <p:sp>
        <p:nvSpPr>
          <p:cNvPr id="8" name="Rectangle 7"/>
          <p:cNvSpPr/>
          <p:nvPr/>
        </p:nvSpPr>
        <p:spPr>
          <a:xfrm>
            <a:off x="2209709" y="4994582"/>
            <a:ext cx="8510663" cy="523220"/>
          </a:xfrm>
          <a:prstGeom prst="rect">
            <a:avLst/>
          </a:prstGeom>
          <a:ln w="38100">
            <a:solidFill>
              <a:schemeClr val="dk1">
                <a:shade val="95000"/>
                <a:satMod val="105000"/>
              </a:schemeClr>
            </a:solidFill>
          </a:ln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loss → discriminator (frozen) → generator (updated)</a:t>
            </a:r>
          </a:p>
        </p:txBody>
      </p:sp>
    </p:spTree>
    <p:extLst>
      <p:ext uri="{BB962C8B-B14F-4D97-AF65-F5344CB8AC3E}">
        <p14:creationId xmlns:p14="http://schemas.microsoft.com/office/powerpoint/2010/main" val="3648095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52212" y="1118321"/>
            <a:ext cx="63536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800" b="1" u="sng" dirty="0">
                <a:solidFill>
                  <a:srgbClr val="242424"/>
                </a:solidFill>
                <a:latin typeface="Bodoni MT" panose="02070603080606020203" pitchFamily="18" charset="0"/>
              </a:rPr>
              <a:t>The Min-Max Loss Function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209260" y="1641541"/>
            <a:ext cx="10588487" cy="1148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42424"/>
                </a:solidFill>
                <a:latin typeface="Bodoni MT" panose="02070603080606020203" pitchFamily="18" charset="0"/>
              </a:rPr>
              <a:t>Ultimately, the adversarial nature of GANs creates a </a:t>
            </a:r>
            <a:r>
              <a:rPr lang="en-US" sz="2400" b="1" dirty="0">
                <a:solidFill>
                  <a:srgbClr val="242424"/>
                </a:solidFill>
                <a:latin typeface="Bodoni MT" panose="02070603080606020203" pitchFamily="18" charset="0"/>
              </a:rPr>
              <a:t>Min-Max Game</a:t>
            </a:r>
            <a:r>
              <a:rPr lang="en-US" sz="2400" dirty="0">
                <a:solidFill>
                  <a:srgbClr val="242424"/>
                </a:solidFill>
                <a:latin typeface="Bodoni MT" panose="02070603080606020203" pitchFamily="18" charset="0"/>
              </a:rPr>
              <a:t>, leading to the final loss function:</a:t>
            </a:r>
            <a:endParaRPr lang="en-IN" sz="2400" dirty="0">
              <a:latin typeface="Bodoni MT" panose="02070603080606020203" pitchFamily="18" charset="0"/>
            </a:endParaRPr>
          </a:p>
        </p:txBody>
      </p:sp>
      <p:pic>
        <p:nvPicPr>
          <p:cNvPr id="3074" name="Picture 2" descr="https://miro.medium.com/v2/resize:fit:1050/1*y75k6SGObNDtNs5ssu0Gy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262" y="2999758"/>
            <a:ext cx="10001250" cy="914401"/>
          </a:xfrm>
          <a:prstGeom prst="rect">
            <a:avLst/>
          </a:prstGeom>
          <a:noFill/>
          <a:ln w="34925">
            <a:solidFill>
              <a:schemeClr val="dk1">
                <a:shade val="95000"/>
                <a:satMod val="10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1676262" y="4345881"/>
            <a:ext cx="100012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242424"/>
                </a:solidFill>
                <a:latin typeface="Bodoni MT" panose="02070603080606020203" pitchFamily="18" charset="0"/>
              </a:rPr>
              <a:t>The discriminator tries to maximize</a:t>
            </a:r>
            <a:r>
              <a:rPr lang="en-US" sz="2400" dirty="0">
                <a:solidFill>
                  <a:srgbClr val="242424"/>
                </a:solidFill>
                <a:latin typeface="Bodoni MT" panose="02070603080606020203" pitchFamily="18" charset="0"/>
              </a:rPr>
              <a:t> this function by correctly classifying real and fake data.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242424"/>
                </a:solidFill>
                <a:latin typeface="Bodoni MT" panose="02070603080606020203" pitchFamily="18" charset="0"/>
              </a:rPr>
              <a:t>The generator tries to minimize</a:t>
            </a:r>
            <a:r>
              <a:rPr lang="en-US" sz="2400" dirty="0">
                <a:solidFill>
                  <a:srgbClr val="242424"/>
                </a:solidFill>
                <a:latin typeface="Bodoni MT" panose="02070603080606020203" pitchFamily="18" charset="0"/>
              </a:rPr>
              <a:t> it by generating realistic samples that fool the discriminator.</a:t>
            </a:r>
          </a:p>
        </p:txBody>
      </p:sp>
    </p:spTree>
    <p:extLst>
      <p:ext uri="{BB962C8B-B14F-4D97-AF65-F5344CB8AC3E}">
        <p14:creationId xmlns:p14="http://schemas.microsoft.com/office/powerpoint/2010/main" val="3226087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05794" y="963156"/>
            <a:ext cx="1049903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“In practice, the generator is trained using a modified (non-saturating) loss to avoid vanishing gradients, while the discriminator follows the original objective.”</a:t>
            </a:r>
            <a:endParaRPr lang="en-IN" sz="3200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" panose="02070603080606020203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978874"/>
              </p:ext>
            </p:extLst>
          </p:nvPr>
        </p:nvGraphicFramePr>
        <p:xfrm>
          <a:off x="1021278" y="2766854"/>
          <a:ext cx="10332522" cy="2468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444174"/>
                <a:gridCol w="3444174"/>
                <a:gridCol w="3444174"/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itchFamily="18" charset="0"/>
                          <a:cs typeface="Times New Roman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itchFamily="18" charset="0"/>
                          <a:cs typeface="Times New Roman" pitchFamily="18" charset="0"/>
                        </a:rPr>
                        <a:t>Saturated (Minimax) 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itchFamily="18" charset="0"/>
                          <a:cs typeface="Times New Roman" pitchFamily="18" charset="0"/>
                        </a:rPr>
                        <a:t>Non-Saturated (NS) Loss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Generator Goal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Minimize ( \log(1 - D(G(z)))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Maximize ( \log(D(G(z))) 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Alternative 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Minimize ( -\log(D(G(z))) 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Gradient 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Vanishes when Discriminator (D) is 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Stronger gradients, especially in early training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Training 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Often low; easily gets stuck (vanishing gradient problem)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More stable convergence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Best 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Mainly theoretical analysis (original GAN formulation)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Practical GAN training (used in most implementations)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37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8541" y="1569844"/>
            <a:ext cx="2560286" cy="523180"/>
          </a:xfrm>
          <a:solidFill>
            <a:srgbClr val="C00000"/>
          </a:solidFill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  <a:ea typeface="Arial"/>
                <a:cs typeface="Arial"/>
                <a:sym typeface="Arial"/>
              </a:rPr>
              <a:t>GAN Challenges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82220" y="2491341"/>
            <a:ext cx="2531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itchFamily="18" charset="0"/>
              </a:rPr>
              <a:t>1. Oscillating </a:t>
            </a:r>
            <a:r>
              <a:rPr lang="en-IN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itchFamily="18" charset="0"/>
              </a:rPr>
              <a:t>Loss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2322" y="3199694"/>
            <a:ext cx="103948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Bodoni MT" pitchFamily="18" charset="0"/>
              </a:rPr>
              <a:t>The loss of the discriminator and generator can start to oscillate wildly, rather than exhibiting long-term stability.</a:t>
            </a:r>
            <a:endParaRPr lang="en-IN" sz="2000" dirty="0">
              <a:latin typeface="Bodoni MT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171" y="4363049"/>
            <a:ext cx="5964238" cy="1550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628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91689" y="1062082"/>
            <a:ext cx="96704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dirty="0" smtClean="0">
                <a:latin typeface="Bodoni MT" pitchFamily="18" charset="0"/>
                <a:cs typeface="Times New Roman" pitchFamily="18" charset="0"/>
              </a:rPr>
              <a:t>During </a:t>
            </a:r>
            <a:r>
              <a:rPr lang="en-US" sz="2400" dirty="0">
                <a:latin typeface="Bodoni MT" pitchFamily="18" charset="0"/>
                <a:cs typeface="Times New Roman" pitchFamily="18" charset="0"/>
              </a:rPr>
              <a:t>GAN training, instead of the loss:</a:t>
            </a:r>
          </a:p>
          <a:p>
            <a:pPr marL="342900" lvl="5" indent="-342900">
              <a:buFont typeface="Wingdings" pitchFamily="2" charset="2"/>
              <a:buChar char="§"/>
            </a:pPr>
            <a:endParaRPr lang="en-US" sz="2400" dirty="0" smtClean="0">
              <a:latin typeface="Bodoni MT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55471" y="1758860"/>
            <a:ext cx="85066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7" indent="-342900">
              <a:buFont typeface="Wingdings" pitchFamily="2" charset="2"/>
              <a:buChar char="§"/>
            </a:pPr>
            <a:r>
              <a:rPr lang="en-US" sz="2400" dirty="0">
                <a:latin typeface="Bodoni MT" pitchFamily="18" charset="0"/>
                <a:cs typeface="Times New Roman" pitchFamily="18" charset="0"/>
              </a:rPr>
              <a:t>Slowly decreasing</a:t>
            </a:r>
          </a:p>
          <a:p>
            <a:pPr marL="342900" lvl="3" indent="-342900">
              <a:buFont typeface="Wingdings" pitchFamily="2" charset="2"/>
              <a:buChar char="§"/>
            </a:pPr>
            <a:r>
              <a:rPr lang="en-US" sz="2400" dirty="0">
                <a:latin typeface="Bodoni MT" pitchFamily="18" charset="0"/>
                <a:cs typeface="Times New Roman" pitchFamily="18" charset="0"/>
              </a:rPr>
              <a:t>Slowly increasing</a:t>
            </a:r>
          </a:p>
          <a:p>
            <a:pPr marL="342900" lvl="3" indent="-342900">
              <a:buFont typeface="Wingdings" pitchFamily="2" charset="2"/>
              <a:buChar char="§"/>
            </a:pPr>
            <a:r>
              <a:rPr lang="en-US" sz="2400" dirty="0">
                <a:latin typeface="Bodoni MT" pitchFamily="18" charset="0"/>
                <a:cs typeface="Times New Roman" pitchFamily="18" charset="0"/>
              </a:rPr>
              <a:t>Or stabilizing around some value</a:t>
            </a:r>
          </a:p>
          <a:p>
            <a:pPr marL="342900" lvl="3" indent="-342900">
              <a:buFont typeface="Wingdings" pitchFamily="2" charset="2"/>
              <a:buChar char="§"/>
            </a:pPr>
            <a:r>
              <a:rPr lang="en-US" sz="2400" dirty="0">
                <a:latin typeface="Bodoni MT" pitchFamily="18" charset="0"/>
                <a:cs typeface="Times New Roman" pitchFamily="18" charset="0"/>
              </a:rPr>
              <a:t>it starts </a:t>
            </a:r>
            <a:r>
              <a:rPr lang="en-US" sz="2400" b="1" dirty="0">
                <a:latin typeface="Bodoni MT" pitchFamily="18" charset="0"/>
                <a:cs typeface="Times New Roman" pitchFamily="18" charset="0"/>
              </a:rPr>
              <a:t>jumping up and down unpredictably</a:t>
            </a:r>
            <a:r>
              <a:rPr lang="en-US" sz="2400" dirty="0">
                <a:latin typeface="Bodoni MT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421" y="3676815"/>
            <a:ext cx="4220028" cy="2081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7854812" y="4418991"/>
            <a:ext cx="41088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>
                <a:latin typeface="Bodoni MT" pitchFamily="18" charset="0"/>
              </a:rPr>
              <a:t>That </a:t>
            </a:r>
            <a:r>
              <a:rPr lang="en-IN" sz="2000" dirty="0" smtClean="0">
                <a:latin typeface="Bodoni MT" pitchFamily="18" charset="0"/>
              </a:rPr>
              <a:t>behaviour </a:t>
            </a:r>
            <a:r>
              <a:rPr lang="en-IN" sz="2000" dirty="0">
                <a:latin typeface="Bodoni MT" pitchFamily="18" charset="0"/>
              </a:rPr>
              <a:t>indicates instability.</a:t>
            </a:r>
          </a:p>
        </p:txBody>
      </p:sp>
    </p:spTree>
    <p:extLst>
      <p:ext uri="{BB962C8B-B14F-4D97-AF65-F5344CB8AC3E}">
        <p14:creationId xmlns:p14="http://schemas.microsoft.com/office/powerpoint/2010/main" val="70263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95065" y="1185055"/>
            <a:ext cx="104567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b="1" i="1" dirty="0">
                <a:solidFill>
                  <a:srgbClr val="FF0000"/>
                </a:solidFill>
                <a:latin typeface="Bodoni MT" pitchFamily="18" charset="0"/>
              </a:rPr>
              <a:t>Typically, there is some small oscillation of the loss between batches…</a:t>
            </a:r>
            <a:endParaRPr lang="en-IN" sz="2400" b="1" i="1" dirty="0">
              <a:solidFill>
                <a:srgbClr val="FF0000"/>
              </a:solidFill>
              <a:latin typeface="Bodoni MT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80457" y="2044005"/>
            <a:ext cx="869669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Bodoni MT" pitchFamily="18" charset="0"/>
              </a:rPr>
              <a:t>This is normal.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odoni MT" pitchFamily="18" charset="0"/>
              </a:rPr>
              <a:t>Because: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Bodoni MT" pitchFamily="18" charset="0"/>
              </a:rPr>
              <a:t>Each batch contains different data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Bodoni MT" pitchFamily="18" charset="0"/>
              </a:rPr>
              <a:t>GAN is adversarial (G and D fight each other)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Bodoni MT" pitchFamily="18" charset="0"/>
              </a:rPr>
              <a:t>So small fluctuations are expected.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Bodoni MT" pitchFamily="18" charset="0"/>
              </a:rPr>
              <a:t>But they should be </a:t>
            </a:r>
            <a:r>
              <a:rPr lang="en-US" sz="2400" b="1" dirty="0">
                <a:latin typeface="Bodoni MT" pitchFamily="18" charset="0"/>
              </a:rPr>
              <a:t>controlled</a:t>
            </a:r>
            <a:r>
              <a:rPr lang="en-US" sz="2400" dirty="0">
                <a:latin typeface="Bodoni MT" pitchFamily="18" charset="0"/>
              </a:rPr>
              <a:t>, not explosive.</a:t>
            </a:r>
          </a:p>
        </p:txBody>
      </p:sp>
    </p:spTree>
    <p:extLst>
      <p:ext uri="{BB962C8B-B14F-4D97-AF65-F5344CB8AC3E}">
        <p14:creationId xmlns:p14="http://schemas.microsoft.com/office/powerpoint/2010/main" val="41432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98565" y="1172335"/>
            <a:ext cx="1100051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b="1" i="1" dirty="0">
                <a:solidFill>
                  <a:srgbClr val="FF0000"/>
                </a:solidFill>
                <a:latin typeface="Bodoni MT" pitchFamily="18" charset="0"/>
              </a:rPr>
              <a:t>“…but in the long term </a:t>
            </a:r>
            <a:r>
              <a:rPr lang="en-US" sz="2400" b="1" i="1" dirty="0" smtClean="0">
                <a:solidFill>
                  <a:srgbClr val="FF0000"/>
                </a:solidFill>
                <a:latin typeface="Bodoni MT" pitchFamily="18" charset="0"/>
              </a:rPr>
              <a:t>we </a:t>
            </a:r>
            <a:r>
              <a:rPr lang="en-US" sz="2400" b="1" i="1" dirty="0">
                <a:solidFill>
                  <a:srgbClr val="FF0000"/>
                </a:solidFill>
                <a:latin typeface="Bodoni MT" pitchFamily="18" charset="0"/>
              </a:rPr>
              <a:t>should be looking for loss that stabilizes or gradually increases or decreases…”</a:t>
            </a:r>
            <a:endParaRPr lang="en-IN" sz="2400" b="1" dirty="0">
              <a:solidFill>
                <a:srgbClr val="FF0000"/>
              </a:solidFill>
              <a:latin typeface="Bodoni MT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17962" y="2259449"/>
            <a:ext cx="816230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Bodoni MT" pitchFamily="18" charset="0"/>
              </a:rPr>
              <a:t>Over many batches or epochs, the overall trend should show:</a:t>
            </a: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latin typeface="Bodoni MT" pitchFamily="18" charset="0"/>
              </a:rPr>
              <a:t>Stabilization (loss plateaus)</a:t>
            </a: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latin typeface="Bodoni MT" pitchFamily="18" charset="0"/>
              </a:rPr>
              <a:t>Gradual improvement</a:t>
            </a: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latin typeface="Bodoni MT" pitchFamily="18" charset="0"/>
              </a:rPr>
              <a:t>Some equilibrium between G and D</a:t>
            </a:r>
          </a:p>
          <a:p>
            <a:pPr marL="3429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latin typeface="Bodoni MT" pitchFamily="18" charset="0"/>
              </a:rPr>
              <a:t>This indicates the GAN is learning properly.</a:t>
            </a:r>
          </a:p>
        </p:txBody>
      </p:sp>
    </p:spTree>
    <p:extLst>
      <p:ext uri="{BB962C8B-B14F-4D97-AF65-F5344CB8AC3E}">
        <p14:creationId xmlns:p14="http://schemas.microsoft.com/office/powerpoint/2010/main" val="1112517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39189" y="1124835"/>
            <a:ext cx="104304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b="1" i="1" dirty="0">
                <a:solidFill>
                  <a:srgbClr val="FF0000"/>
                </a:solidFill>
                <a:latin typeface="Bodoni MT" pitchFamily="18" charset="0"/>
              </a:rPr>
              <a:t>“…rather than erratically fluctuating, to ensure your GAN converges and improves over time.”</a:t>
            </a:r>
            <a:endParaRPr lang="en-IN" sz="2400" b="1" i="1" dirty="0">
              <a:solidFill>
                <a:srgbClr val="FF0000"/>
              </a:solidFill>
              <a:latin typeface="Bodoni MT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14846" y="2094391"/>
            <a:ext cx="822168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>
                <a:latin typeface="Bodoni MT" pitchFamily="18" charset="0"/>
              </a:rPr>
              <a:t>If loss fluctuates randomly with no pattern: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Bodoni MT" pitchFamily="18" charset="0"/>
              </a:rPr>
              <a:t>The model is not converging.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Bodoni MT" pitchFamily="18" charset="0"/>
              </a:rPr>
              <a:t>The generator is not improving steadily.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Bodoni MT" pitchFamily="18" charset="0"/>
              </a:rPr>
              <a:t>Training may collapse later.</a:t>
            </a:r>
          </a:p>
          <a:p>
            <a:pPr>
              <a:lnSpc>
                <a:spcPct val="150000"/>
              </a:lnSpc>
            </a:pPr>
            <a:r>
              <a:rPr lang="en-US" sz="2400" b="1" u="sng" dirty="0">
                <a:latin typeface="Bodoni MT" pitchFamily="18" charset="0"/>
              </a:rPr>
              <a:t>GAN convergence means: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Bodoni MT" pitchFamily="18" charset="0"/>
              </a:rPr>
              <a:t>Neither G nor D dominates completely.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Bodoni MT" pitchFamily="18" charset="0"/>
              </a:rPr>
              <a:t>They reach a balanced competition.</a:t>
            </a:r>
          </a:p>
        </p:txBody>
      </p:sp>
    </p:spTree>
    <p:extLst>
      <p:ext uri="{BB962C8B-B14F-4D97-AF65-F5344CB8AC3E}">
        <p14:creationId xmlns:p14="http://schemas.microsoft.com/office/powerpoint/2010/main" val="2449672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93568" y="1231712"/>
            <a:ext cx="102286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b="1" i="1" dirty="0">
                <a:solidFill>
                  <a:srgbClr val="FF0000"/>
                </a:solidFill>
                <a:latin typeface="Bodoni MT" pitchFamily="18" charset="0"/>
              </a:rPr>
              <a:t>Figure </a:t>
            </a:r>
            <a:r>
              <a:rPr lang="en-US" sz="2400" b="1" i="1" dirty="0" smtClean="0">
                <a:solidFill>
                  <a:srgbClr val="FF0000"/>
                </a:solidFill>
                <a:latin typeface="Bodoni MT" pitchFamily="18" charset="0"/>
              </a:rPr>
              <a:t>shows </a:t>
            </a:r>
            <a:r>
              <a:rPr lang="en-US" sz="2400" b="1" i="1" dirty="0">
                <a:solidFill>
                  <a:srgbClr val="FF0000"/>
                </a:solidFill>
                <a:latin typeface="Bodoni MT" pitchFamily="18" charset="0"/>
              </a:rPr>
              <a:t>an example of a GAN where the loss … has started to spiral out of control, at around batch 1,400.</a:t>
            </a:r>
            <a:endParaRPr lang="en-IN" sz="2400" b="1" i="1" dirty="0">
              <a:solidFill>
                <a:srgbClr val="FF0000"/>
              </a:solidFill>
              <a:latin typeface="Bodoni MT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02327" y="2178478"/>
            <a:ext cx="615537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Bodoni MT" pitchFamily="18" charset="0"/>
              </a:rPr>
              <a:t>This means: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latin typeface="Bodoni MT" pitchFamily="18" charset="0"/>
              </a:rPr>
              <a:t>Training may look stable initially.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latin typeface="Bodoni MT" pitchFamily="18" charset="0"/>
              </a:rPr>
              <a:t>But after many batches (like 1400), something destabilizes: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latin typeface="Bodoni MT" pitchFamily="18" charset="0"/>
              </a:rPr>
              <a:t>Learning rate too high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latin typeface="Bodoni MT" pitchFamily="18" charset="0"/>
              </a:rPr>
              <a:t>D becomes too strong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latin typeface="Bodoni MT" pitchFamily="18" charset="0"/>
              </a:rPr>
              <a:t>Gradient </a:t>
            </a:r>
            <a:r>
              <a:rPr lang="en-US" sz="2400" dirty="0" smtClean="0">
                <a:latin typeface="Bodoni MT" pitchFamily="18" charset="0"/>
              </a:rPr>
              <a:t>explosion</a:t>
            </a:r>
            <a:endParaRPr lang="en-US" sz="2400" dirty="0">
              <a:latin typeface="Bodoni MT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latin typeface="Bodoni MT" pitchFamily="18" charset="0"/>
              </a:rPr>
              <a:t>Then loss suddenly becomes chaotic.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latin typeface="Bodoni MT" pitchFamily="18" charset="0"/>
              </a:rPr>
              <a:t>This is common in </a:t>
            </a:r>
            <a:r>
              <a:rPr lang="en-US" sz="2400" dirty="0" smtClean="0">
                <a:latin typeface="Bodoni MT" pitchFamily="18" charset="0"/>
              </a:rPr>
              <a:t>GANs</a:t>
            </a:r>
            <a:r>
              <a:rPr lang="en-US" sz="2400" dirty="0">
                <a:latin typeface="Bodoni MT" pitchFamily="18" charset="0"/>
              </a:rPr>
              <a:t>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0008" y="2145285"/>
            <a:ext cx="5391555" cy="3554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419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22316" y="881674"/>
            <a:ext cx="10667999" cy="2810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Bodoni MT" pitchFamily="18" charset="0"/>
                <a:cs typeface="Times New Roman" pitchFamily="18" charset="0"/>
              </a:rPr>
              <a:t>This is important.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Bodoni MT" pitchFamily="18" charset="0"/>
                <a:cs typeface="Times New Roman" pitchFamily="18" charset="0"/>
              </a:rPr>
              <a:t>GAN do </a:t>
            </a:r>
            <a:r>
              <a:rPr lang="en-US" sz="2400" dirty="0">
                <a:latin typeface="Bodoni MT" pitchFamily="18" charset="0"/>
                <a:cs typeface="Times New Roman" pitchFamily="18" charset="0"/>
              </a:rPr>
              <a:t>not guarantee convergence.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Bodoni MT" pitchFamily="18" charset="0"/>
                <a:cs typeface="Times New Roman" pitchFamily="18" charset="0"/>
              </a:rPr>
              <a:t>GAN have </a:t>
            </a:r>
            <a:r>
              <a:rPr lang="en-US" sz="2400" dirty="0">
                <a:latin typeface="Bodoni MT" pitchFamily="18" charset="0"/>
                <a:cs typeface="Times New Roman" pitchFamily="18" charset="0"/>
              </a:rPr>
              <a:t>unstable </a:t>
            </a:r>
            <a:r>
              <a:rPr lang="en-US" sz="2400" dirty="0" err="1">
                <a:latin typeface="Bodoni MT" pitchFamily="18" charset="0"/>
                <a:cs typeface="Times New Roman" pitchFamily="18" charset="0"/>
              </a:rPr>
              <a:t>minimax</a:t>
            </a:r>
            <a:r>
              <a:rPr lang="en-US" sz="2400" dirty="0">
                <a:latin typeface="Bodoni MT" pitchFamily="18" charset="0"/>
                <a:cs typeface="Times New Roman" pitchFamily="18" charset="0"/>
              </a:rPr>
              <a:t> optimization.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Bodoni MT" pitchFamily="18" charset="0"/>
                <a:cs typeface="Times New Roman" pitchFamily="18" charset="0"/>
              </a:rPr>
              <a:t>GAN can </a:t>
            </a:r>
            <a:r>
              <a:rPr lang="en-US" sz="2400" dirty="0">
                <a:latin typeface="Bodoni MT" pitchFamily="18" charset="0"/>
                <a:cs typeface="Times New Roman" pitchFamily="18" charset="0"/>
              </a:rPr>
              <a:t>suddenly destabilize even after appearing stable.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doni MT" pitchFamily="18" charset="0"/>
                <a:cs typeface="Times New Roman" pitchFamily="18" charset="0"/>
              </a:rPr>
              <a:t>so </a:t>
            </a:r>
            <a:r>
              <a:rPr lang="en-US" sz="2400" dirty="0">
                <a:latin typeface="Bodoni MT" pitchFamily="18" charset="0"/>
                <a:cs typeface="Times New Roman" pitchFamily="18" charset="0"/>
              </a:rPr>
              <a:t>you cannot always predict when instability will happen.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99802" y="4150510"/>
            <a:ext cx="11487398" cy="1434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Bodoni MT" pitchFamily="18" charset="0"/>
              </a:rPr>
              <a:t>Small fluctuations in GAN loss are normal.</a:t>
            </a:r>
            <a:br>
              <a:rPr lang="en-US" sz="2000" dirty="0">
                <a:solidFill>
                  <a:srgbClr val="FF0000"/>
                </a:solidFill>
                <a:latin typeface="Bodoni MT" pitchFamily="18" charset="0"/>
              </a:rPr>
            </a:br>
            <a:r>
              <a:rPr lang="en-US" sz="2000" dirty="0">
                <a:solidFill>
                  <a:srgbClr val="FF0000"/>
                </a:solidFill>
                <a:latin typeface="Bodoni MT" pitchFamily="18" charset="0"/>
              </a:rPr>
              <a:t>But if the loss starts jumping wildly and uncontrollably, your GAN training has become unstable.</a:t>
            </a:r>
            <a:br>
              <a:rPr lang="en-US" sz="2000" dirty="0">
                <a:solidFill>
                  <a:srgbClr val="FF0000"/>
                </a:solidFill>
                <a:latin typeface="Bodoni MT" pitchFamily="18" charset="0"/>
              </a:rPr>
            </a:br>
            <a:r>
              <a:rPr lang="en-US" sz="2000" dirty="0" smtClean="0">
                <a:solidFill>
                  <a:srgbClr val="FF0000"/>
                </a:solidFill>
                <a:latin typeface="Bodoni MT" pitchFamily="18" charset="0"/>
              </a:rPr>
              <a:t>GANs </a:t>
            </a:r>
            <a:r>
              <a:rPr lang="en-US" sz="2000" dirty="0">
                <a:solidFill>
                  <a:srgbClr val="FF0000"/>
                </a:solidFill>
                <a:latin typeface="Bodoni MT" pitchFamily="18" charset="0"/>
              </a:rPr>
              <a:t>are especially prone to this problem, and it can happen unpredictably.</a:t>
            </a:r>
            <a:endParaRPr lang="en-IN" sz="2400" dirty="0">
              <a:solidFill>
                <a:srgbClr val="FF0000"/>
              </a:solidFill>
              <a:latin typeface="Bodoni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496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70173" y="975495"/>
            <a:ext cx="22846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itchFamily="18" charset="0"/>
              </a:rPr>
              <a:t>2. Mode </a:t>
            </a:r>
            <a:r>
              <a:rPr lang="en-IN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itchFamily="18" charset="0"/>
              </a:rPr>
              <a:t>Collapse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6433" y="1528732"/>
            <a:ext cx="107438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b="1" i="1" dirty="0">
                <a:solidFill>
                  <a:srgbClr val="FF0000"/>
                </a:solidFill>
                <a:latin typeface="Bodoni MT" pitchFamily="18" charset="0"/>
              </a:rPr>
              <a:t>“Mode collapse occurs when the generator finds a small number of samples that fool the discriminator…”</a:t>
            </a:r>
            <a:endParaRPr lang="en-IN" sz="2400" b="1" i="1" dirty="0">
              <a:solidFill>
                <a:srgbClr val="FF0000"/>
              </a:solidFill>
              <a:latin typeface="Bodoni MT" pitchFamily="18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710047" y="2374780"/>
            <a:ext cx="10260281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In a GAN, the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generator (G)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 should learn the </a:t>
            </a:r>
            <a:r>
              <a:rPr kumimoji="0" 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entire data distribution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Example:</a:t>
            </a:r>
            <a:b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</a:b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If training data = handwritten digits (0–9),</a:t>
            </a:r>
            <a:b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</a:b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the generator should produce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all digits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, not just one.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But in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mode collapse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, the generator discovers: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  <a:cs typeface="Arial" charset="0"/>
              </a:rPr>
              <a:t>one digit</a:t>
            </a:r>
            <a:endParaRPr lang="en-US" sz="2400" dirty="0">
              <a:solidFill>
                <a:schemeClr val="tx1"/>
              </a:solidFill>
              <a:latin typeface="Bodoni MT" pitchFamily="18" charset="0"/>
              <a:cs typeface="Arial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So it keeps producing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only that type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Example: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Instead of generating many different faces,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It keeps generating almost the same face with minor variations.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71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54684" y="1218204"/>
            <a:ext cx="118288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b="1" i="1" dirty="0">
                <a:solidFill>
                  <a:srgbClr val="FF0000"/>
                </a:solidFill>
                <a:latin typeface="Bodoni MT" pitchFamily="18" charset="0"/>
              </a:rPr>
              <a:t>“…and therefore isn’t able to produce any examples other than this limited set.”</a:t>
            </a:r>
            <a:endParaRPr lang="en-IN" sz="2400" b="1" i="1" dirty="0">
              <a:solidFill>
                <a:srgbClr val="FF0000"/>
              </a:solidFill>
              <a:latin typeface="Bodoni MT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85652" y="1997840"/>
            <a:ext cx="945275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latin typeface="Bodoni MT" pitchFamily="18" charset="0"/>
              </a:rPr>
              <a:t>The generator becomes stuck.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latin typeface="Bodoni MT" pitchFamily="18" charset="0"/>
              </a:rPr>
              <a:t>It maps </a:t>
            </a:r>
            <a:r>
              <a:rPr lang="en-US" sz="2400" b="1" dirty="0">
                <a:latin typeface="Bodoni MT" pitchFamily="18" charset="0"/>
              </a:rPr>
              <a:t>many different latent vectors z</a:t>
            </a:r>
            <a:r>
              <a:rPr lang="en-US" sz="2400" dirty="0">
                <a:latin typeface="Bodoni MT" pitchFamily="18" charset="0"/>
              </a:rPr>
              <a:t> to the </a:t>
            </a:r>
            <a:r>
              <a:rPr lang="en-US" sz="2400" b="1" dirty="0">
                <a:latin typeface="Bodoni MT" pitchFamily="18" charset="0"/>
              </a:rPr>
              <a:t>same output image</a:t>
            </a:r>
            <a:r>
              <a:rPr lang="en-US" sz="2400" dirty="0">
                <a:latin typeface="Bodoni MT" pitchFamily="18" charset="0"/>
              </a:rPr>
              <a:t>.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latin typeface="Bodoni MT" pitchFamily="18" charset="0"/>
              </a:rPr>
              <a:t>Mathematically: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latin typeface="Bodoni MT" pitchFamily="18" charset="0"/>
              </a:rPr>
              <a:t>Instead of: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935" y="3757506"/>
            <a:ext cx="2320130" cy="667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1088572" y="4596942"/>
            <a:ext cx="20136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IN" sz="2400" dirty="0">
                <a:latin typeface="Bodoni MT" pitchFamily="18" charset="0"/>
              </a:rPr>
              <a:t>It becomes: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245" y="5189804"/>
            <a:ext cx="2139820" cy="49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1326079" y="5872841"/>
            <a:ext cx="31085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Bodoni MT" pitchFamily="18" charset="0"/>
              </a:rPr>
              <a:t>So diversity disappears.</a:t>
            </a:r>
          </a:p>
        </p:txBody>
      </p:sp>
    </p:spTree>
    <p:extLst>
      <p:ext uri="{BB962C8B-B14F-4D97-AF65-F5344CB8AC3E}">
        <p14:creationId xmlns:p14="http://schemas.microsoft.com/office/powerpoint/2010/main" val="25054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91886" y="1112959"/>
            <a:ext cx="114121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b="1" i="1" dirty="0">
                <a:solidFill>
                  <a:srgbClr val="FF0000"/>
                </a:solidFill>
                <a:latin typeface="Bodoni MT" pitchFamily="18" charset="0"/>
              </a:rPr>
              <a:t>Suppose we train the generator over several batches without updating the discriminator…</a:t>
            </a:r>
            <a:endParaRPr lang="en-IN" sz="2400" b="1" i="1" dirty="0">
              <a:solidFill>
                <a:srgbClr val="FF0000"/>
              </a:solidFill>
              <a:latin typeface="Bodoni MT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90649" y="2197894"/>
            <a:ext cx="8253351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u="sng" dirty="0" smtClean="0">
                <a:latin typeface="Bodoni MT" pitchFamily="18" charset="0"/>
              </a:rPr>
              <a:t>GAN </a:t>
            </a:r>
            <a:r>
              <a:rPr lang="en-US" sz="2000" u="sng" dirty="0">
                <a:latin typeface="Bodoni MT" pitchFamily="18" charset="0"/>
              </a:rPr>
              <a:t>training must alternate: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Bodoni MT" pitchFamily="18" charset="0"/>
              </a:rPr>
              <a:t>Update D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Bodoni MT" pitchFamily="18" charset="0"/>
              </a:rPr>
              <a:t>Update G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Bodoni MT" pitchFamily="18" charset="0"/>
              </a:rPr>
              <a:t>Update D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Bodoni MT" pitchFamily="18" charset="0"/>
              </a:rPr>
              <a:t>Update G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Bodoni MT" pitchFamily="18" charset="0"/>
              </a:rPr>
              <a:t>If we update G too many times: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Bodoni MT" pitchFamily="18" charset="0"/>
              </a:rPr>
              <a:t>The generator over-optimizes to fool the current discriminator.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Bodoni MT" pitchFamily="18" charset="0"/>
              </a:rPr>
              <a:t>The discriminator becomes outdated.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Bodoni MT" pitchFamily="18" charset="0"/>
              </a:rPr>
              <a:t>This leads to shortcut learning.</a:t>
            </a:r>
          </a:p>
        </p:txBody>
      </p:sp>
    </p:spTree>
    <p:extLst>
      <p:ext uri="{BB962C8B-B14F-4D97-AF65-F5344CB8AC3E}">
        <p14:creationId xmlns:p14="http://schemas.microsoft.com/office/powerpoint/2010/main" val="1572446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76695" y="1362341"/>
            <a:ext cx="106442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b="1" i="1" dirty="0">
                <a:solidFill>
                  <a:srgbClr val="FF0000"/>
                </a:solidFill>
                <a:latin typeface="Bodoni MT" pitchFamily="18" charset="0"/>
              </a:rPr>
              <a:t>“…and would start to map every point in the latent input space to this observation.”</a:t>
            </a:r>
            <a:endParaRPr lang="en-IN" sz="2400" b="1" i="1" dirty="0">
              <a:solidFill>
                <a:srgbClr val="FF0000"/>
              </a:solidFill>
              <a:latin typeface="Bodoni MT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17964" y="2355649"/>
            <a:ext cx="876794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>
                <a:latin typeface="Bodoni MT" pitchFamily="18" charset="0"/>
              </a:rPr>
              <a:t>Latent space normally:</a:t>
            </a:r>
          </a:p>
          <a:p>
            <a:pPr algn="ctr">
              <a:lnSpc>
                <a:spcPct val="150000"/>
              </a:lnSpc>
            </a:pPr>
            <a:r>
              <a:rPr lang="en-IN" sz="2400" dirty="0" err="1" smtClean="0">
                <a:latin typeface="Bodoni MT" pitchFamily="18" charset="0"/>
              </a:rPr>
              <a:t>z</a:t>
            </a:r>
            <a:r>
              <a:rPr lang="en-IN" sz="2400" dirty="0" err="1">
                <a:latin typeface="Bodoni MT" pitchFamily="18" charset="0"/>
              </a:rPr>
              <a:t>∼N</a:t>
            </a:r>
            <a:r>
              <a:rPr lang="en-IN" sz="2400" dirty="0">
                <a:latin typeface="Bodoni MT" pitchFamily="18" charset="0"/>
              </a:rPr>
              <a:t>(0,1) </a:t>
            </a:r>
            <a:endParaRPr lang="en-IN" sz="2400" dirty="0" smtClean="0">
              <a:latin typeface="Bodoni MT" pitchFamily="18" charset="0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 smtClean="0">
                <a:latin typeface="Bodoni MT" pitchFamily="18" charset="0"/>
              </a:rPr>
              <a:t>Different </a:t>
            </a:r>
            <a:r>
              <a:rPr lang="en-IN" sz="2400" dirty="0">
                <a:latin typeface="Bodoni MT" pitchFamily="18" charset="0"/>
              </a:rPr>
              <a:t>z values should generate different outputs.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>
                <a:latin typeface="Bodoni MT" pitchFamily="18" charset="0"/>
              </a:rPr>
              <a:t>But in mode collapse:</a:t>
            </a:r>
          </a:p>
          <a:p>
            <a:pPr algn="ctr">
              <a:lnSpc>
                <a:spcPct val="150000"/>
              </a:lnSpc>
            </a:pPr>
            <a:r>
              <a:rPr lang="en-IN" sz="2400" dirty="0" smtClean="0">
                <a:latin typeface="Bodoni MT" pitchFamily="18" charset="0"/>
              </a:rPr>
              <a:t>G(z</a:t>
            </a:r>
            <a:r>
              <a:rPr lang="en-IN" sz="2400" dirty="0">
                <a:latin typeface="Bodoni MT" pitchFamily="18" charset="0"/>
              </a:rPr>
              <a:t>) = </a:t>
            </a:r>
            <a:r>
              <a:rPr lang="en-IN" sz="2400" dirty="0" smtClean="0">
                <a:latin typeface="Bodoni MT" pitchFamily="18" charset="0"/>
              </a:rPr>
              <a:t>x* for</a:t>
            </a:r>
            <a:r>
              <a:rPr lang="en-IN" sz="2400" dirty="0">
                <a:latin typeface="Bodoni MT" pitchFamily="18" charset="0"/>
              </a:rPr>
              <a:t> many z </a:t>
            </a:r>
            <a:endParaRPr lang="en-IN" sz="2400" dirty="0" smtClean="0">
              <a:latin typeface="Bodoni MT" pitchFamily="18" charset="0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 smtClean="0">
                <a:latin typeface="Bodoni MT" pitchFamily="18" charset="0"/>
              </a:rPr>
              <a:t>So </a:t>
            </a:r>
            <a:r>
              <a:rPr lang="en-IN" sz="2400" dirty="0">
                <a:latin typeface="Bodoni MT" pitchFamily="18" charset="0"/>
              </a:rPr>
              <a:t>the latent space loses meaning.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Bodoni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142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98565" y="1207785"/>
            <a:ext cx="10240489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b="1" i="1" dirty="0">
                <a:solidFill>
                  <a:srgbClr val="FF0000"/>
                </a:solidFill>
                <a:latin typeface="Bodoni MT" pitchFamily="18" charset="0"/>
              </a:rPr>
              <a:t>“This means that the gradient of the loss function collapses to near 0.”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AutoShape 2" descr="blob:https://web.whatsapp.com/6d05163a-8bf9-4e69-a324-ba38b7701e49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blob:https://web.whatsapp.com/6d05163a-8bf9-4e69-a324-ba38b7701e49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 descr="blob:https://web.whatsapp.com/9a33ecbc-ee25-44c7-8de8-9518bb2dd6cb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090500" y="-470240"/>
            <a:ext cx="4276217" cy="8775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2072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787" y="451262"/>
            <a:ext cx="9334005" cy="5731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92092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51065" y="1207785"/>
            <a:ext cx="10668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b="1" i="1" dirty="0">
                <a:solidFill>
                  <a:srgbClr val="FF0000"/>
                </a:solidFill>
                <a:latin typeface="Bodoni MT" pitchFamily="18" charset="0"/>
              </a:rPr>
              <a:t>“Even if we then retrain the discriminator… the generator will simply find another mode…”</a:t>
            </a:r>
          </a:p>
          <a:p>
            <a:endParaRPr lang="en-US" sz="2400" b="1" dirty="0" smtClean="0">
              <a:solidFill>
                <a:schemeClr val="tx1"/>
              </a:solidFill>
              <a:latin typeface="Bodoni MT" pitchFamily="18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b="1" dirty="0" smtClean="0">
                <a:solidFill>
                  <a:schemeClr val="tx1"/>
                </a:solidFill>
                <a:latin typeface="Bodoni MT" pitchFamily="18" charset="0"/>
              </a:rPr>
              <a:t>Here’s </a:t>
            </a:r>
            <a:r>
              <a:rPr lang="en-US" sz="2400" b="1" dirty="0">
                <a:solidFill>
                  <a:schemeClr val="tx1"/>
                </a:solidFill>
                <a:latin typeface="Bodoni MT" pitchFamily="18" charset="0"/>
              </a:rPr>
              <a:t>the dangerous cycle: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Bodoni MT" pitchFamily="18" charset="0"/>
              </a:rPr>
              <a:t>G finds one fake sample that fools D.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Bodoni MT" pitchFamily="18" charset="0"/>
              </a:rPr>
              <a:t>D learns to detect it.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Bodoni MT" pitchFamily="18" charset="0"/>
              </a:rPr>
              <a:t>G finds another single trick.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Bodoni MT" pitchFamily="18" charset="0"/>
              </a:rPr>
              <a:t>D adapts again.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Bodoni MT" pitchFamily="18" charset="0"/>
              </a:rPr>
              <a:t>Instead of learning full distribution,</a:t>
            </a:r>
            <a:br>
              <a:rPr lang="en-US" sz="2400" dirty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Bodoni MT" pitchFamily="18" charset="0"/>
              </a:rPr>
              <a:t>they keep playing a </a:t>
            </a:r>
            <a:r>
              <a:rPr lang="en-US" sz="2400" b="1" dirty="0">
                <a:solidFill>
                  <a:schemeClr val="tx1"/>
                </a:solidFill>
                <a:latin typeface="Bodoni MT" pitchFamily="18" charset="0"/>
              </a:rPr>
              <a:t>cat-and-mouse game</a:t>
            </a:r>
            <a:r>
              <a:rPr lang="en-US" sz="2400" dirty="0">
                <a:solidFill>
                  <a:schemeClr val="tx1"/>
                </a:solidFill>
                <a:latin typeface="Bodoni MT" pitchFamily="18" charset="0"/>
              </a:rPr>
              <a:t> over individual samples.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Bodoni MT" pitchFamily="18" charset="0"/>
              </a:rPr>
              <a:t>This is not convergence — it’s cycling between few modes.</a:t>
            </a:r>
          </a:p>
        </p:txBody>
      </p:sp>
    </p:spTree>
    <p:extLst>
      <p:ext uri="{BB962C8B-B14F-4D97-AF65-F5344CB8AC3E}">
        <p14:creationId xmlns:p14="http://schemas.microsoft.com/office/powerpoint/2010/main" val="87860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423" y="1680585"/>
            <a:ext cx="8585859" cy="3817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1844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98566" y="909099"/>
            <a:ext cx="6309756" cy="597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itchFamily="18" charset="0"/>
              </a:rPr>
              <a:t>3.Uninformative </a:t>
            </a: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itchFamily="18" charset="0"/>
              </a:rPr>
              <a:t>Loss </a:t>
            </a:r>
            <a:endParaRPr lang="en-US" sz="24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" pitchFamily="18" charset="0"/>
            </a:endParaRPr>
          </a:p>
          <a:p>
            <a:endParaRPr lang="en-US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latin typeface="Bodoni MT" pitchFamily="18" charset="0"/>
              </a:rPr>
              <a:t>Since </a:t>
            </a:r>
            <a:r>
              <a:rPr lang="en-US" sz="2000" dirty="0">
                <a:latin typeface="Bodoni MT" pitchFamily="18" charset="0"/>
              </a:rPr>
              <a:t>the </a:t>
            </a:r>
            <a:r>
              <a:rPr lang="en-US" sz="2000" dirty="0" smtClean="0">
                <a:latin typeface="Bodoni MT" pitchFamily="18" charset="0"/>
              </a:rPr>
              <a:t>Generator </a:t>
            </a:r>
            <a:r>
              <a:rPr lang="en-US" sz="2000" dirty="0">
                <a:latin typeface="Bodoni MT" pitchFamily="18" charset="0"/>
              </a:rPr>
              <a:t>is compiled to minimize the loss function, it would be natural to think that the smaller the loss function of the generator, the better the </a:t>
            </a:r>
            <a:r>
              <a:rPr lang="en-US" sz="2000" dirty="0" smtClean="0">
                <a:latin typeface="Bodoni MT" pitchFamily="18" charset="0"/>
              </a:rPr>
              <a:t>quality </a:t>
            </a:r>
            <a:r>
              <a:rPr lang="en-US" sz="2000" dirty="0">
                <a:latin typeface="Bodoni MT" pitchFamily="18" charset="0"/>
              </a:rPr>
              <a:t>of the images produced. </a:t>
            </a:r>
            <a:endParaRPr lang="en-US" sz="2000" dirty="0" smtClean="0">
              <a:latin typeface="Bodoni MT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latin typeface="Bodoni MT" pitchFamily="18" charset="0"/>
              </a:rPr>
              <a:t>However</a:t>
            </a:r>
            <a:r>
              <a:rPr lang="en-US" sz="2000" dirty="0">
                <a:latin typeface="Bodoni MT" pitchFamily="18" charset="0"/>
              </a:rPr>
              <a:t>, since the generator is only graded against the current discriminator and the discriminator is constantly improving, we cannot </a:t>
            </a:r>
            <a:r>
              <a:rPr lang="en-US" sz="2000" dirty="0" smtClean="0">
                <a:latin typeface="Bodoni MT" pitchFamily="18" charset="0"/>
              </a:rPr>
              <a:t>compare </a:t>
            </a:r>
            <a:r>
              <a:rPr lang="en-US" sz="2000" dirty="0">
                <a:latin typeface="Bodoni MT" pitchFamily="18" charset="0"/>
              </a:rPr>
              <a:t>the loss function evaluated at different points in the training process</a:t>
            </a:r>
            <a:r>
              <a:rPr lang="en-US" sz="2000" dirty="0" smtClean="0">
                <a:latin typeface="Bodoni MT" pitchFamily="18" charset="0"/>
              </a:rPr>
              <a:t>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latin typeface="Bodoni MT" pitchFamily="18" charset="0"/>
              </a:rPr>
              <a:t> </a:t>
            </a:r>
            <a:r>
              <a:rPr lang="en-US" sz="2000" dirty="0">
                <a:latin typeface="Bodoni MT" pitchFamily="18" charset="0"/>
              </a:rPr>
              <a:t>Indeed, in </a:t>
            </a:r>
            <a:r>
              <a:rPr lang="en-US" sz="2000" dirty="0" smtClean="0">
                <a:latin typeface="Bodoni MT" pitchFamily="18" charset="0"/>
              </a:rPr>
              <a:t>Figure, </a:t>
            </a:r>
            <a:r>
              <a:rPr lang="en-US" sz="2000" dirty="0">
                <a:latin typeface="Bodoni MT" pitchFamily="18" charset="0"/>
              </a:rPr>
              <a:t>the loss function of the generator actually increases over time, even though the quality of the images is clearly improving. </a:t>
            </a:r>
            <a:endParaRPr lang="en-US" sz="2000" dirty="0" smtClean="0">
              <a:latin typeface="Bodoni MT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latin typeface="Bodoni MT" pitchFamily="18" charset="0"/>
              </a:rPr>
              <a:t>This </a:t>
            </a:r>
            <a:r>
              <a:rPr lang="en-US" sz="2000" dirty="0">
                <a:latin typeface="Bodoni MT" pitchFamily="18" charset="0"/>
              </a:rPr>
              <a:t>lack of correlation between the generator loss and image quality sometimes makes GAN training </a:t>
            </a:r>
            <a:r>
              <a:rPr lang="en-US" sz="2000" dirty="0" smtClean="0">
                <a:latin typeface="Bodoni MT" pitchFamily="18" charset="0"/>
              </a:rPr>
              <a:t>difficult </a:t>
            </a:r>
            <a:r>
              <a:rPr lang="en-US" sz="2000" dirty="0">
                <a:latin typeface="Bodoni MT" pitchFamily="18" charset="0"/>
              </a:rPr>
              <a:t>to monitor</a:t>
            </a:r>
            <a:r>
              <a:rPr lang="en-US" sz="2000" dirty="0" smtClean="0">
                <a:latin typeface="Bodoni MT" pitchFamily="18" charset="0"/>
              </a:rPr>
              <a:t>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>
              <a:latin typeface="Bodoni MT" pitchFamily="18" charset="0"/>
            </a:endParaRPr>
          </a:p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9899" y="2363189"/>
            <a:ext cx="5192101" cy="2992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7081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77932" y="2057921"/>
            <a:ext cx="1102426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>
                <a:latin typeface="Bodoni MT" pitchFamily="18" charset="0"/>
              </a:rPr>
              <a:t>As we have seen, even with simple GANs, there are a large number of </a:t>
            </a:r>
            <a:r>
              <a:rPr lang="en-US" sz="2400" dirty="0" err="1" smtClean="0">
                <a:latin typeface="Bodoni MT" pitchFamily="18" charset="0"/>
              </a:rPr>
              <a:t>hyperparameters</a:t>
            </a:r>
            <a:r>
              <a:rPr lang="en-US" sz="2400" dirty="0" smtClean="0">
                <a:latin typeface="Bodoni MT" pitchFamily="18" charset="0"/>
              </a:rPr>
              <a:t> </a:t>
            </a:r>
            <a:r>
              <a:rPr lang="en-US" sz="2400" dirty="0">
                <a:latin typeface="Bodoni MT" pitchFamily="18" charset="0"/>
              </a:rPr>
              <a:t>to tune. </a:t>
            </a:r>
            <a:endParaRPr lang="en-US" sz="2400" dirty="0" smtClean="0">
              <a:latin typeface="Bodoni MT" pitchFamily="18" charset="0"/>
            </a:endParaRP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 smtClean="0">
                <a:latin typeface="Bodoni MT" pitchFamily="18" charset="0"/>
              </a:rPr>
              <a:t>As </a:t>
            </a:r>
            <a:r>
              <a:rPr lang="en-US" sz="2400" dirty="0">
                <a:latin typeface="Bodoni MT" pitchFamily="18" charset="0"/>
              </a:rPr>
              <a:t>well as the overall architecture of both the discriminator and the </a:t>
            </a:r>
            <a:r>
              <a:rPr lang="en-US" sz="2400" dirty="0" smtClean="0">
                <a:latin typeface="Bodoni MT" pitchFamily="18" charset="0"/>
              </a:rPr>
              <a:t>generator</a:t>
            </a:r>
            <a:r>
              <a:rPr lang="en-US" sz="2400" dirty="0">
                <a:latin typeface="Bodoni MT" pitchFamily="18" charset="0"/>
              </a:rPr>
              <a:t>, there are the parameters that govern the batch normalization, dropout, learning rate, activation layers, convolutional filters, kernel size, striding, batch size, and latent space size to consider. </a:t>
            </a:r>
            <a:endParaRPr lang="en-US" sz="2400" dirty="0" smtClean="0">
              <a:latin typeface="Bodoni MT" pitchFamily="18" charset="0"/>
            </a:endParaRP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 smtClean="0">
                <a:latin typeface="Bodoni MT" pitchFamily="18" charset="0"/>
              </a:rPr>
              <a:t>GANs </a:t>
            </a:r>
            <a:r>
              <a:rPr lang="en-US" sz="2400" dirty="0">
                <a:latin typeface="Bodoni MT" pitchFamily="18" charset="0"/>
              </a:rPr>
              <a:t>are highly sensitive to very slight changes in all of these parameters, and finding a set of parameters that works is often a case of educated trial and error, rather than following an established set of guidelines.</a:t>
            </a:r>
            <a:endParaRPr lang="en-IN" sz="2400" dirty="0">
              <a:latin typeface="Bodoni MT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47651" y="1446802"/>
            <a:ext cx="23775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itchFamily="18" charset="0"/>
              </a:rPr>
              <a:t>Hyperparameters</a:t>
            </a:r>
            <a:endParaRPr lang="en-I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049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28700" y="1220681"/>
            <a:ext cx="3732112" cy="523220"/>
          </a:xfrm>
          <a:prstGeom prst="rect">
            <a:avLst/>
          </a:prstGeom>
          <a:solidFill>
            <a:srgbClr val="C00000"/>
          </a:solidFill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Optimization Algorithm</a:t>
            </a:r>
          </a:p>
        </p:txBody>
      </p:sp>
      <p:sp>
        <p:nvSpPr>
          <p:cNvPr id="7" name="Rectangle 6"/>
          <p:cNvSpPr/>
          <p:nvPr/>
        </p:nvSpPr>
        <p:spPr>
          <a:xfrm>
            <a:off x="928700" y="2454870"/>
            <a:ext cx="103291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>
                <a:solidFill>
                  <a:srgbClr val="242424"/>
                </a:solidFill>
                <a:latin typeface="Bodoni MT" panose="02070603080606020203" pitchFamily="18" charset="0"/>
              </a:rPr>
              <a:t>Even with the same dataset and model architecture, using different optimization algorithms can lead to completely different training results.</a:t>
            </a:r>
            <a:endParaRPr lang="en-IN" sz="2400" dirty="0">
              <a:solidFill>
                <a:srgbClr val="242424"/>
              </a:solidFill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056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04393" y="1066302"/>
            <a:ext cx="6850194" cy="52322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IN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SGD - </a:t>
            </a:r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Stochastic Gradient Descent </a:t>
            </a:r>
          </a:p>
        </p:txBody>
      </p:sp>
      <p:sp>
        <p:nvSpPr>
          <p:cNvPr id="7" name="Rectangle 6"/>
          <p:cNvSpPr/>
          <p:nvPr/>
        </p:nvSpPr>
        <p:spPr>
          <a:xfrm>
            <a:off x="904392" y="2062141"/>
            <a:ext cx="1086405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400" b="1" dirty="0">
                <a:latin typeface="Bodoni MT" pitchFamily="18" charset="0"/>
              </a:rPr>
              <a:t>Stochastic Gradient Descent (SGD)</a:t>
            </a:r>
            <a:r>
              <a:rPr lang="en-US" sz="2400" dirty="0">
                <a:latin typeface="Bodoni MT" pitchFamily="18" charset="0"/>
              </a:rPr>
              <a:t> is one of the most fundamental optimization algorithms used in machine learning. </a:t>
            </a:r>
            <a:endParaRPr lang="en-US" sz="2400" dirty="0" smtClean="0">
              <a:latin typeface="Bodoni MT" pitchFamily="18" charset="0"/>
            </a:endParaRP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 smtClean="0">
                <a:latin typeface="Bodoni MT" pitchFamily="18" charset="0"/>
              </a:rPr>
              <a:t>It </a:t>
            </a:r>
            <a:r>
              <a:rPr lang="en-US" sz="2400" dirty="0">
                <a:latin typeface="Bodoni MT" pitchFamily="18" charset="0"/>
              </a:rPr>
              <a:t>minimizes a loss function by </a:t>
            </a:r>
            <a:r>
              <a:rPr lang="en-US" sz="2400" b="1" dirty="0">
                <a:latin typeface="Bodoni MT" pitchFamily="18" charset="0"/>
              </a:rPr>
              <a:t>iteratively updating model parameters in the opposite direction of the gradient of the loss</a:t>
            </a:r>
            <a:r>
              <a:rPr lang="en-US" sz="2400" dirty="0">
                <a:latin typeface="Bodoni MT" pitchFamily="18" charset="0"/>
              </a:rPr>
              <a:t>, computed using a randomly selected data point (or a small batch of data).</a:t>
            </a:r>
            <a:endParaRPr lang="en-IN" sz="2400" dirty="0">
              <a:solidFill>
                <a:srgbClr val="242424"/>
              </a:solidFill>
              <a:latin typeface="Bodoni MT" panose="02070603080606020203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56188" y="4328556"/>
            <a:ext cx="7988084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Bodoni MT" pitchFamily="18" charset="0"/>
              </a:rPr>
              <a:t>If I change this parameter slightly, how will the loss change?</a:t>
            </a:r>
            <a:endParaRPr lang="en-IN" sz="2400" dirty="0">
              <a:latin typeface="Bodoni MT" pitchFamily="18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427023" y="3550722"/>
            <a:ext cx="11876" cy="77783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64317" y="5172686"/>
            <a:ext cx="2956259" cy="461665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sz="2400" dirty="0">
                <a:latin typeface="Bodoni MT" pitchFamily="18" charset="0"/>
              </a:rPr>
              <a:t>Why “stochastic”?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227616" y="5403518"/>
            <a:ext cx="771896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"/>
          <p:cNvSpPr>
            <a:spLocks noChangeArrowheads="1"/>
          </p:cNvSpPr>
          <p:nvPr/>
        </p:nvSpPr>
        <p:spPr bwMode="auto">
          <a:xfrm>
            <a:off x="5094515" y="5067219"/>
            <a:ext cx="699456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2000" dirty="0">
                <a:latin typeface="Bodoni MT" pitchFamily="18" charset="0"/>
              </a:rPr>
              <a:t>Instead of computing the gradient using the entire dataset (as in batch gradient descent),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2000" dirty="0">
                <a:latin typeface="Bodoni MT" pitchFamily="18" charset="0"/>
              </a:rPr>
              <a:t>SGD uses one randomly chosen sample (or a mini-batch),</a:t>
            </a:r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798" y="1638133"/>
            <a:ext cx="3304186" cy="276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662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174" y="1026927"/>
            <a:ext cx="3105150" cy="279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174" y="4156013"/>
            <a:ext cx="6488112" cy="192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8039" y="1636836"/>
            <a:ext cx="3276600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7898039" y="3429000"/>
            <a:ext cx="41905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itchFamily="18" charset="0"/>
              </a:rPr>
              <a:t>noisy </a:t>
            </a:r>
            <a:r>
              <a:rPr lang="en-I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itchFamily="18" charset="0"/>
              </a:rPr>
              <a:t>zig-zag</a:t>
            </a:r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itchFamily="18" charset="0"/>
              </a:rPr>
              <a:t>, slow convergence</a:t>
            </a:r>
          </a:p>
        </p:txBody>
      </p:sp>
    </p:spTree>
    <p:extLst>
      <p:ext uri="{BB962C8B-B14F-4D97-AF65-F5344CB8AC3E}">
        <p14:creationId xmlns:p14="http://schemas.microsoft.com/office/powerpoint/2010/main" val="377410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31734" y="1161304"/>
            <a:ext cx="3385863" cy="52322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SGD with momentum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733" y="2230790"/>
            <a:ext cx="3743325" cy="345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5687" y="2230790"/>
            <a:ext cx="6478588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078" y="4092864"/>
            <a:ext cx="2809875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5730421" y="5425528"/>
            <a:ext cx="49343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itchFamily="18" charset="0"/>
              </a:rPr>
              <a:t>smooth trajectory, faster convergence</a:t>
            </a:r>
          </a:p>
        </p:txBody>
      </p:sp>
    </p:spTree>
    <p:extLst>
      <p:ext uri="{BB962C8B-B14F-4D97-AF65-F5344CB8AC3E}">
        <p14:creationId xmlns:p14="http://schemas.microsoft.com/office/powerpoint/2010/main" val="131403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86691" y="1914843"/>
            <a:ext cx="104667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 err="1">
                <a:latin typeface="Bodoni MT" pitchFamily="18" charset="0"/>
              </a:rPr>
              <a:t>AdaGrad</a:t>
            </a:r>
            <a:r>
              <a:rPr lang="en-US" sz="2400" dirty="0">
                <a:latin typeface="Bodoni MT" pitchFamily="18" charset="0"/>
              </a:rPr>
              <a:t> is an optimization algorithm that </a:t>
            </a:r>
            <a:r>
              <a:rPr lang="en-US" sz="2400" b="1" dirty="0">
                <a:latin typeface="Bodoni MT" pitchFamily="18" charset="0"/>
              </a:rPr>
              <a:t>adapts the learning rate for each parameter individually</a:t>
            </a:r>
            <a:r>
              <a:rPr lang="en-US" sz="2400" dirty="0">
                <a:latin typeface="Bodoni MT" pitchFamily="18" charset="0"/>
              </a:rPr>
              <a:t> based on the history of gradients.</a:t>
            </a:r>
            <a:endParaRPr lang="en-IN" sz="2400" dirty="0">
              <a:latin typeface="Bodoni MT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9569" y="1104760"/>
            <a:ext cx="6208751" cy="52322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IN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AdaGrad</a:t>
            </a:r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 (Adaptive Gradient Algorithm)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 rot="10800000" flipV="1">
            <a:off x="1357745" y="2757719"/>
            <a:ext cx="1024444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Parameters that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receive large gradients frequently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 → get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smaller learning rates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odoni MT" pitchFamily="18" charset="0"/>
              <a:cs typeface="Arial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Parameters that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receive small or rare gradients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 → get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itchFamily="18" charset="0"/>
                <a:cs typeface="Arial" charset="0"/>
              </a:rPr>
              <a:t>larger learning rates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odoni MT" pitchFamily="18" charset="0"/>
              <a:cs typeface="Arial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205" y="3681351"/>
            <a:ext cx="6187641" cy="2471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8864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47936" y="1066301"/>
            <a:ext cx="1603324" cy="52322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IN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RMSProp</a:t>
            </a:r>
            <a:endParaRPr lang="en-I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" panose="020706030806060202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47935" y="1884855"/>
            <a:ext cx="10915513" cy="3918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err="1">
                <a:latin typeface="Bodoni MT" pitchFamily="18" charset="0"/>
              </a:rPr>
              <a:t>RMSProp</a:t>
            </a:r>
            <a:r>
              <a:rPr lang="en-US" sz="2400" dirty="0">
                <a:latin typeface="Bodoni MT" pitchFamily="18" charset="0"/>
              </a:rPr>
              <a:t> divides the gradient by a </a:t>
            </a:r>
            <a:r>
              <a:rPr lang="en-US" sz="2400" b="1" dirty="0">
                <a:latin typeface="Bodoni MT" pitchFamily="18" charset="0"/>
              </a:rPr>
              <a:t>running average of recent squared gradients</a:t>
            </a:r>
            <a:r>
              <a:rPr lang="en-US" sz="2400" dirty="0">
                <a:latin typeface="Bodoni MT" pitchFamily="18" charset="0"/>
              </a:rPr>
              <a:t>, preventing the learning rate from decaying to zero</a:t>
            </a:r>
            <a:r>
              <a:rPr lang="en-US" sz="2400" dirty="0" smtClean="0">
                <a:latin typeface="Bodoni MT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Bodoni MT" pitchFamily="18" charset="0"/>
              </a:rPr>
              <a:t>Therefore, </a:t>
            </a:r>
            <a:r>
              <a:rPr lang="en-US" sz="2400" dirty="0" err="1">
                <a:latin typeface="Bodoni MT" pitchFamily="18" charset="0"/>
              </a:rPr>
              <a:t>RMSprop</a:t>
            </a:r>
            <a:r>
              <a:rPr lang="en-US" sz="2400" dirty="0">
                <a:latin typeface="Bodoni MT" pitchFamily="18" charset="0"/>
              </a:rPr>
              <a:t> uses </a:t>
            </a:r>
            <a:r>
              <a:rPr lang="en-US" sz="2400" b="1" dirty="0">
                <a:latin typeface="Bodoni MT" pitchFamily="18" charset="0"/>
              </a:rPr>
              <a:t>exponential moving average </a:t>
            </a:r>
            <a:r>
              <a:rPr lang="en-US" sz="2400" dirty="0">
                <a:latin typeface="Bodoni MT" pitchFamily="18" charset="0"/>
              </a:rPr>
              <a:t>to slowly discard previous gradient history. This prevents the learning rate from decreasing too early</a:t>
            </a:r>
            <a:r>
              <a:rPr lang="en-US" sz="2400" dirty="0" smtClean="0">
                <a:latin typeface="Bodoni MT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Bodoni MT" pitchFamily="18" charset="0"/>
              </a:rPr>
              <a:t>The method to calculate the exponential moving average of the squared gradient is as follows, where γ is the forgetting factor (or exponential decay rate), which is typically set to 0.9 based on empirical evidence:</a:t>
            </a:r>
            <a:endParaRPr lang="en-IN" sz="2400" dirty="0">
              <a:latin typeface="Bodoni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69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840" y="1071213"/>
            <a:ext cx="4752975" cy="1101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302291" y="2657595"/>
            <a:ext cx="71593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Bodoni MT" pitchFamily="18" charset="0"/>
              </a:rPr>
              <a:t>The parameter updating method is similar to </a:t>
            </a:r>
            <a:r>
              <a:rPr lang="en-US" sz="2400" dirty="0" err="1">
                <a:latin typeface="Bodoni MT" pitchFamily="18" charset="0"/>
              </a:rPr>
              <a:t>adagrad</a:t>
            </a:r>
            <a:r>
              <a:rPr lang="en-US" sz="2400" dirty="0">
                <a:latin typeface="Bodoni MT" pitchFamily="18" charset="0"/>
              </a:rPr>
              <a:t>:</a:t>
            </a:r>
            <a:endParaRPr lang="en-IN" sz="2400" dirty="0">
              <a:latin typeface="Bodoni MT" pitchFamily="18" charset="0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839" y="3422209"/>
            <a:ext cx="4752975" cy="2761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AutoShape 2" descr="RMSprop | CloudFactory Computer Vision Wiki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365" y="941959"/>
            <a:ext cx="3545522" cy="4607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250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52509" y="1113803"/>
            <a:ext cx="5820824" cy="52322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Adam (Adaptive Moment Estimation)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852509" y="2011265"/>
            <a:ext cx="1010841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>
                <a:latin typeface="Bodoni MT" pitchFamily="18" charset="0"/>
              </a:rPr>
              <a:t>Adam (Adaptive Moment Estimation)</a:t>
            </a:r>
            <a:r>
              <a:rPr lang="en-US" sz="2400" dirty="0">
                <a:latin typeface="Bodoni MT" pitchFamily="18" charset="0"/>
              </a:rPr>
              <a:t>, proposed in </a:t>
            </a:r>
            <a:r>
              <a:rPr lang="en-US" sz="2400" b="1" dirty="0">
                <a:latin typeface="Bodoni MT" pitchFamily="18" charset="0"/>
              </a:rPr>
              <a:t>December 2014</a:t>
            </a:r>
            <a:r>
              <a:rPr lang="en-US" sz="2400" dirty="0">
                <a:latin typeface="Bodoni MT" pitchFamily="18" charset="0"/>
              </a:rPr>
              <a:t>, is an optimization algorithm that combines the benefits of </a:t>
            </a:r>
            <a:r>
              <a:rPr lang="en-US" sz="2400" b="1" dirty="0" err="1">
                <a:latin typeface="Bodoni MT" pitchFamily="18" charset="0"/>
              </a:rPr>
              <a:t>AdaGrad</a:t>
            </a:r>
            <a:r>
              <a:rPr lang="en-US" sz="2400" dirty="0">
                <a:latin typeface="Bodoni MT" pitchFamily="18" charset="0"/>
              </a:rPr>
              <a:t> and </a:t>
            </a:r>
            <a:r>
              <a:rPr lang="en-US" sz="2400" b="1" dirty="0" err="1">
                <a:latin typeface="Bodoni MT" pitchFamily="18" charset="0"/>
              </a:rPr>
              <a:t>RMSProp</a:t>
            </a:r>
            <a:r>
              <a:rPr lang="en-US" sz="2400" dirty="0" smtClean="0">
                <a:latin typeface="Bodoni MT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Bodoni MT" pitchFamily="18" charset="0"/>
              </a:rPr>
              <a:t>It </a:t>
            </a:r>
            <a:r>
              <a:rPr lang="en-US" sz="2400" dirty="0">
                <a:latin typeface="Bodoni MT" pitchFamily="18" charset="0"/>
              </a:rPr>
              <a:t>computes </a:t>
            </a:r>
            <a:r>
              <a:rPr lang="en-US" sz="2400" b="1" dirty="0">
                <a:latin typeface="Bodoni MT" pitchFamily="18" charset="0"/>
              </a:rPr>
              <a:t>adaptive learning rates for each parameter</a:t>
            </a:r>
            <a:r>
              <a:rPr lang="en-US" sz="2400" dirty="0">
                <a:latin typeface="Bodoni MT" pitchFamily="18" charset="0"/>
              </a:rPr>
              <a:t> by maintaining exponentially decaying averages of the </a:t>
            </a:r>
            <a:r>
              <a:rPr lang="en-US" sz="2400" b="1" dirty="0">
                <a:latin typeface="Bodoni MT" pitchFamily="18" charset="0"/>
              </a:rPr>
              <a:t>first-order moment (mean of gradients)</a:t>
            </a:r>
            <a:r>
              <a:rPr lang="en-US" sz="2400" dirty="0">
                <a:latin typeface="Bodoni MT" pitchFamily="18" charset="0"/>
              </a:rPr>
              <a:t> and the </a:t>
            </a:r>
            <a:r>
              <a:rPr lang="en-US" sz="2400" b="1" dirty="0">
                <a:latin typeface="Bodoni MT" pitchFamily="18" charset="0"/>
              </a:rPr>
              <a:t>second-order moment (</a:t>
            </a:r>
            <a:r>
              <a:rPr lang="en-US" sz="2400" b="1" dirty="0" err="1">
                <a:latin typeface="Bodoni MT" pitchFamily="18" charset="0"/>
              </a:rPr>
              <a:t>uncentered</a:t>
            </a:r>
            <a:r>
              <a:rPr lang="en-US" sz="2400" b="1" dirty="0">
                <a:latin typeface="Bodoni MT" pitchFamily="18" charset="0"/>
              </a:rPr>
              <a:t> variance of gradients)</a:t>
            </a:r>
            <a:r>
              <a:rPr lang="en-US" sz="2400" dirty="0">
                <a:latin typeface="Bodoni MT" pitchFamily="18" charset="0"/>
              </a:rPr>
              <a:t>, which are then used to determine the parameter update.</a:t>
            </a:r>
            <a:endParaRPr lang="en-IN" sz="2400" dirty="0">
              <a:latin typeface="Bodoni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901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89625" y="1101928"/>
            <a:ext cx="47868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itchFamily="18" charset="0"/>
              </a:rPr>
              <a:t>Adam keeps track of two running statistics:</a:t>
            </a:r>
            <a:endParaRPr lang="en-IN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625" y="2401372"/>
            <a:ext cx="5057775" cy="2467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703" y="2401372"/>
            <a:ext cx="5114925" cy="2377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6504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834" y="1022783"/>
            <a:ext cx="10107592" cy="2183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545" y="3648381"/>
            <a:ext cx="7917854" cy="1561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163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5624</TotalTime>
  <Words>1526</Words>
  <Application>Microsoft Office PowerPoint</Application>
  <PresentationFormat>Custom</PresentationFormat>
  <Paragraphs>184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Arial</vt:lpstr>
      <vt:lpstr>Bodoni MT</vt:lpstr>
      <vt:lpstr>Marcellus</vt:lpstr>
      <vt:lpstr>Calibri</vt:lpstr>
      <vt:lpstr>Fira Sans</vt:lpstr>
      <vt:lpstr>Algerian</vt:lpstr>
      <vt:lpstr>Times New Roman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GAN Challenges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Somaiya Vidyavihar University, MUMBAI   K J Somaiya School of Engineering    Department of Electronics engineering</dc:title>
  <dc:creator>etrx_pcb</dc:creator>
  <cp:lastModifiedBy>Admin</cp:lastModifiedBy>
  <cp:revision>470</cp:revision>
  <dcterms:modified xsi:type="dcterms:W3CDTF">2026-03-02T05:18:42Z</dcterms:modified>
</cp:coreProperties>
</file>