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3" d="100"/>
          <a:sy n="73" d="100"/>
        </p:scale>
        <p:origin x="-624"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86EAF6D-6F9C-4093-A2EA-AAA80569CA0F}"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1873862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86EAF6D-6F9C-4093-A2EA-AAA80569CA0F}"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1761944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86EAF6D-6F9C-4093-A2EA-AAA80569CA0F}"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677628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86EAF6D-6F9C-4093-A2EA-AAA80569CA0F}"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2995947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86EAF6D-6F9C-4093-A2EA-AAA80569CA0F}" type="datetimeFigureOut">
              <a:rPr lang="en-IN" smtClean="0"/>
              <a:t>17-04-2026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3747907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86EAF6D-6F9C-4093-A2EA-AAA80569CA0F}" type="datetimeFigureOut">
              <a:rPr lang="en-IN" smtClean="0"/>
              <a:t>17-04-2026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26191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6EAF6D-6F9C-4093-A2EA-AAA80569CA0F}" type="datetimeFigureOut">
              <a:rPr lang="en-IN" smtClean="0"/>
              <a:t>17-04-2026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3123631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86EAF6D-6F9C-4093-A2EA-AAA80569CA0F}"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1991406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86EAF6D-6F9C-4093-A2EA-AAA80569CA0F}"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607018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86EAF6D-6F9C-4093-A2EA-AAA80569CA0F}"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2970344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86EAF6D-6F9C-4093-A2EA-AAA80569CA0F}"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B0C187-B579-4AFE-AF0D-DD0679837E41}" type="slidenum">
              <a:rPr lang="en-IN" smtClean="0"/>
              <a:t>‹#›</a:t>
            </a:fld>
            <a:endParaRPr lang="en-IN"/>
          </a:p>
        </p:txBody>
      </p:sp>
    </p:spTree>
    <p:extLst>
      <p:ext uri="{BB962C8B-B14F-4D97-AF65-F5344CB8AC3E}">
        <p14:creationId xmlns:p14="http://schemas.microsoft.com/office/powerpoint/2010/main" val="2485952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6EAF6D-6F9C-4093-A2EA-AAA80569CA0F}" type="datetimeFigureOut">
              <a:rPr lang="en-IN" smtClean="0"/>
              <a:t>17-04-2026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B0C187-B579-4AFE-AF0D-DD0679837E41}" type="slidenum">
              <a:rPr lang="en-IN" smtClean="0"/>
              <a:t>‹#›</a:t>
            </a:fld>
            <a:endParaRPr lang="en-IN"/>
          </a:p>
        </p:txBody>
      </p:sp>
    </p:spTree>
    <p:extLst>
      <p:ext uri="{BB962C8B-B14F-4D97-AF65-F5344CB8AC3E}">
        <p14:creationId xmlns:p14="http://schemas.microsoft.com/office/powerpoint/2010/main" val="1526899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coursera.org/articles/types-of-ai" TargetMode="External"/><Relationship Id="rId2" Type="http://schemas.openxmlformats.org/officeDocument/2006/relationships/hyperlink" Target="https://www.coursera.org/articles/what-is-generative-ai"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coursera.org/articles/jeff-maggioncalda-coursera-ceo-systems-think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coursera.org/articles/ai-bia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coursera.org/articles/which-jobs-will-ai-replace" TargetMode="External"/><Relationship Id="rId2" Type="http://schemas.openxmlformats.org/officeDocument/2006/relationships/hyperlink" Target="https://www.coursera.org/articles/ai-hallucinatio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coursera.org/articles/ai-tools-for-work"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oursera.org/articles/artificial-intelligence-policy" TargetMode="External"/><Relationship Id="rId2" Type="http://schemas.openxmlformats.org/officeDocument/2006/relationships/hyperlink" Target="https://www.coursera.org/articles/ai-ethic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tanford.edu/"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huggingface.co/learn/computer-vision-course/unit3/vision-transformers/vision-transformers-for-image-classification" TargetMode="External"/><Relationship Id="rId2" Type="http://schemas.openxmlformats.org/officeDocument/2006/relationships/hyperlink" Target="https://huggingface.co/learn/audio-course/en/chapter3/introduction" TargetMode="External"/><Relationship Id="rId1" Type="http://schemas.openxmlformats.org/officeDocument/2006/relationships/slideLayout" Target="../slideLayouts/slideLayout2.xml"/><Relationship Id="rId5" Type="http://schemas.openxmlformats.org/officeDocument/2006/relationships/hyperlink" Target="https://www.deeplearning.ai/the-batch/reinforcement-learning-plus-transformers-equals-efficiency/" TargetMode="External"/><Relationship Id="rId4" Type="http://schemas.openxmlformats.org/officeDocument/2006/relationships/hyperlink" Target="https://elifesciences.org/articles/82819"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dirty="0" smtClean="0"/>
              <a:t>Chapter 4</a:t>
            </a:r>
            <a:endParaRPr lang="en-IN" sz="4000" dirty="0"/>
          </a:p>
        </p:txBody>
      </p:sp>
      <p:sp>
        <p:nvSpPr>
          <p:cNvPr id="3" name="Subtitle 2"/>
          <p:cNvSpPr>
            <a:spLocks noGrp="1"/>
          </p:cNvSpPr>
          <p:nvPr>
            <p:ph type="subTitle" idx="1"/>
          </p:nvPr>
        </p:nvSpPr>
        <p:spPr>
          <a:xfrm>
            <a:off x="1778524" y="3509963"/>
            <a:ext cx="9144000" cy="1655762"/>
          </a:xfrm>
        </p:spPr>
        <p:txBody>
          <a:bodyPr/>
          <a:lstStyle/>
          <a:p>
            <a:r>
              <a:rPr lang="en-US" b="1" dirty="0"/>
              <a:t>Ethics &amp; Safety in Generative AI </a:t>
            </a:r>
            <a:r>
              <a:rPr lang="en-US" dirty="0"/>
              <a:t>	</a:t>
            </a:r>
          </a:p>
          <a:p>
            <a:r>
              <a:rPr lang="en-IN" dirty="0"/>
              <a:t>	</a:t>
            </a:r>
          </a:p>
          <a:p>
            <a:endParaRPr lang="en-IN" dirty="0"/>
          </a:p>
        </p:txBody>
      </p:sp>
    </p:spTree>
    <p:extLst>
      <p:ext uri="{BB962C8B-B14F-4D97-AF65-F5344CB8AC3E}">
        <p14:creationId xmlns:p14="http://schemas.microsoft.com/office/powerpoint/2010/main" val="351427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3509" y="325627"/>
            <a:ext cx="11586754" cy="5570756"/>
          </a:xfrm>
          <a:prstGeom prst="rect">
            <a:avLst/>
          </a:prstGeom>
        </p:spPr>
        <p:txBody>
          <a:bodyPr wrap="square">
            <a:spAutoFit/>
          </a:bodyPr>
          <a:lstStyle/>
          <a:p>
            <a:r>
              <a:rPr lang="en-US" sz="2800" b="1" u="sng" dirty="0">
                <a:latin typeface="Times New Roman" pitchFamily="18" charset="0"/>
                <a:cs typeface="Times New Roman" pitchFamily="18" charset="0"/>
              </a:rPr>
              <a:t>Generative AI ethics: What to </a:t>
            </a:r>
            <a:r>
              <a:rPr lang="en-US" sz="2800" b="1" u="sng" dirty="0" smtClean="0">
                <a:latin typeface="Times New Roman" pitchFamily="18" charset="0"/>
                <a:cs typeface="Times New Roman" pitchFamily="18" charset="0"/>
              </a:rPr>
              <a:t>know</a:t>
            </a:r>
          </a:p>
          <a:p>
            <a:endParaRPr lang="en-US" sz="2800" b="1" u="sng" dirty="0">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u="sng" dirty="0">
                <a:latin typeface="Times New Roman" pitchFamily="18" charset="0"/>
                <a:cs typeface="Times New Roman" pitchFamily="18" charset="0"/>
                <a:hlinkClick r:id="rId2"/>
              </a:rPr>
              <a:t>Generative AI</a:t>
            </a:r>
            <a:r>
              <a:rPr lang="en-US" sz="2000" dirty="0">
                <a:latin typeface="Times New Roman" pitchFamily="18" charset="0"/>
                <a:cs typeface="Times New Roman" pitchFamily="18" charset="0"/>
              </a:rPr>
              <a:t> refers to the subset of artificial intelligence tools that an individual or business can use to generate content or </a:t>
            </a:r>
            <a:r>
              <a:rPr lang="en-US" sz="2000" dirty="0" smtClean="0">
                <a:latin typeface="Times New Roman" pitchFamily="18" charset="0"/>
                <a:cs typeface="Times New Roman" pitchFamily="18" charset="0"/>
              </a:rPr>
              <a:t>information</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dirty="0" smtClean="0">
                <a:latin typeface="Times New Roman" pitchFamily="18" charset="0"/>
                <a:cs typeface="Times New Roman" pitchFamily="18" charset="0"/>
              </a:rPr>
              <a:t>While </a:t>
            </a:r>
            <a:r>
              <a:rPr lang="en-US" sz="2000" dirty="0">
                <a:latin typeface="Times New Roman" pitchFamily="18" charset="0"/>
                <a:cs typeface="Times New Roman" pitchFamily="18" charset="0"/>
              </a:rPr>
              <a:t>other </a:t>
            </a:r>
            <a:r>
              <a:rPr lang="en-US" sz="2000" u="sng" dirty="0">
                <a:latin typeface="Times New Roman" pitchFamily="18" charset="0"/>
                <a:cs typeface="Times New Roman" pitchFamily="18" charset="0"/>
                <a:hlinkClick r:id="rId3"/>
              </a:rPr>
              <a:t>types of AI</a:t>
            </a:r>
            <a:r>
              <a:rPr lang="en-US" sz="2000" dirty="0">
                <a:latin typeface="Times New Roman" pitchFamily="18" charset="0"/>
                <a:cs typeface="Times New Roman" pitchFamily="18" charset="0"/>
              </a:rPr>
              <a:t> might focus on analyzing or interpreting data, generative AI functions to produce new outputs that, in some cases, might resemble the original content or information used to train the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model. </a:t>
            </a:r>
          </a:p>
          <a:p>
            <a:pPr marL="342900" indent="-342900" algn="just">
              <a:lnSpc>
                <a:spcPct val="150000"/>
              </a:lnSpc>
              <a:buFont typeface="Arial" pitchFamily="34" charset="0"/>
              <a:buChar char="•"/>
            </a:pPr>
            <a:r>
              <a:rPr lang="en-US" sz="2000" dirty="0" smtClean="0">
                <a:latin typeface="Times New Roman" pitchFamily="18" charset="0"/>
                <a:cs typeface="Times New Roman" pitchFamily="18" charset="0"/>
              </a:rPr>
              <a:t>Generative </a:t>
            </a:r>
            <a:r>
              <a:rPr lang="en-US" sz="2000" dirty="0">
                <a:latin typeface="Times New Roman" pitchFamily="18" charset="0"/>
                <a:cs typeface="Times New Roman" pitchFamily="18" charset="0"/>
              </a:rPr>
              <a:t>AI's ability to quickly generate new textual, visual, and auditory content offers a wide range of benefits and risks. </a:t>
            </a:r>
            <a:endParaRPr lang="en-US" sz="20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dirty="0" smtClean="0">
                <a:latin typeface="Times New Roman" pitchFamily="18" charset="0"/>
                <a:cs typeface="Times New Roman" pitchFamily="18" charset="0"/>
              </a:rPr>
              <a:t>For </a:t>
            </a:r>
            <a:r>
              <a:rPr lang="en-US" sz="2000" dirty="0">
                <a:latin typeface="Times New Roman" pitchFamily="18" charset="0"/>
                <a:cs typeface="Times New Roman" pitchFamily="18" charset="0"/>
              </a:rPr>
              <a:t>example, AI-generated text, images, and videos make it possible to spread misinformation at scale, given that it’s becoming more difficult to tell human-generated content from AI-generated content. </a:t>
            </a:r>
            <a:endParaRPr lang="en-US" sz="20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dirty="0" smtClean="0">
                <a:latin typeface="Times New Roman" pitchFamily="18" charset="0"/>
                <a:cs typeface="Times New Roman" pitchFamily="18" charset="0"/>
              </a:rPr>
              <a:t>Clear </a:t>
            </a:r>
            <a:r>
              <a:rPr lang="en-US" sz="2000" dirty="0">
                <a:latin typeface="Times New Roman" pitchFamily="18" charset="0"/>
                <a:cs typeface="Times New Roman" pitchFamily="18" charset="0"/>
              </a:rPr>
              <a:t>ethical guidelines around AI-generated content could help reduce the spread of misinformation.</a:t>
            </a:r>
          </a:p>
        </p:txBody>
      </p:sp>
    </p:spTree>
    <p:extLst>
      <p:ext uri="{BB962C8B-B14F-4D97-AF65-F5344CB8AC3E}">
        <p14:creationId xmlns:p14="http://schemas.microsoft.com/office/powerpoint/2010/main" val="4154021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u="sng" dirty="0">
                <a:latin typeface="Times New Roman" pitchFamily="18" charset="0"/>
                <a:ea typeface="+mn-ea"/>
                <a:cs typeface="Times New Roman" pitchFamily="18" charset="0"/>
              </a:rPr>
              <a:t>What are some ethical considerations of using Generative AI?</a:t>
            </a:r>
            <a:br>
              <a:rPr lang="en-US" sz="2800" b="1" u="sng" dirty="0">
                <a:latin typeface="Times New Roman" pitchFamily="18" charset="0"/>
                <a:ea typeface="+mn-ea"/>
                <a:cs typeface="Times New Roman" pitchFamily="18" charset="0"/>
              </a:rPr>
            </a:br>
            <a:endParaRPr lang="en-IN" sz="2800" b="1" u="sng" dirty="0">
              <a:latin typeface="Times New Roman" pitchFamily="18" charset="0"/>
              <a:ea typeface="+mn-ea"/>
              <a:cs typeface="Times New Roman" pitchFamily="18" charset="0"/>
            </a:endParaRPr>
          </a:p>
        </p:txBody>
      </p:sp>
      <p:sp>
        <p:nvSpPr>
          <p:cNvPr id="3" name="Content Placeholder 2"/>
          <p:cNvSpPr>
            <a:spLocks noGrp="1"/>
          </p:cNvSpPr>
          <p:nvPr>
            <p:ph idx="1"/>
          </p:nvPr>
        </p:nvSpPr>
        <p:spPr>
          <a:xfrm>
            <a:off x="903514" y="1316173"/>
            <a:ext cx="10515600" cy="4351338"/>
          </a:xfrm>
        </p:spPr>
        <p:txBody>
          <a:bodyPr>
            <a:normAutofit/>
          </a:bodyPr>
          <a:lstStyle/>
          <a:p>
            <a:pPr algn="just">
              <a:lnSpc>
                <a:spcPct val="150000"/>
              </a:lnSpc>
            </a:pPr>
            <a:r>
              <a:rPr lang="en-US" sz="2000" dirty="0">
                <a:latin typeface="Times New Roman" pitchFamily="18" charset="0"/>
                <a:cs typeface="Times New Roman" pitchFamily="18" charset="0"/>
              </a:rPr>
              <a:t>In general, using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ethically means designing, managing, and using these tools responsibly while avoiding harming others.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ethical use of generative AI has several components that you’ll need to consider, whether you’re a developer designing or improving AI tools, a business leader </a:t>
            </a:r>
            <a:r>
              <a:rPr lang="en-US" sz="2000" dirty="0">
                <a:latin typeface="Times New Roman" pitchFamily="18" charset="0"/>
                <a:cs typeface="Times New Roman" pitchFamily="18" charset="0"/>
                <a:hlinkClick r:id="rId2"/>
              </a:rPr>
              <a:t>integrating </a:t>
            </a:r>
            <a:r>
              <a:rPr lang="en-US" sz="2000" dirty="0" err="1">
                <a:latin typeface="Times New Roman" pitchFamily="18" charset="0"/>
                <a:cs typeface="Times New Roman" pitchFamily="18" charset="0"/>
                <a:hlinkClick r:id="rId2"/>
              </a:rPr>
              <a:t>GenAI</a:t>
            </a:r>
            <a:r>
              <a:rPr lang="en-US" sz="2000" dirty="0">
                <a:latin typeface="Times New Roman" pitchFamily="18" charset="0"/>
                <a:cs typeface="Times New Roman" pitchFamily="18" charset="0"/>
                <a:hlinkClick r:id="rId2"/>
              </a:rPr>
              <a:t> into business practices</a:t>
            </a:r>
            <a:r>
              <a:rPr lang="en-US" sz="2000" dirty="0">
                <a:latin typeface="Times New Roman" pitchFamily="18" charset="0"/>
                <a:cs typeface="Times New Roman" pitchFamily="18" charset="0"/>
              </a:rPr>
              <a:t>, or an individual user looking to increase productivity. </a:t>
            </a:r>
            <a:endParaRPr lang="en-IN" sz="2000" dirty="0">
              <a:latin typeface="Times New Roman" pitchFamily="18" charset="0"/>
              <a:cs typeface="Times New Roman" pitchFamily="18" charset="0"/>
            </a:endParaRPr>
          </a:p>
        </p:txBody>
      </p:sp>
      <p:sp>
        <p:nvSpPr>
          <p:cNvPr id="4" name="Rectangle 3"/>
          <p:cNvSpPr/>
          <p:nvPr/>
        </p:nvSpPr>
        <p:spPr>
          <a:xfrm>
            <a:off x="984067" y="4033298"/>
            <a:ext cx="10027921" cy="369332"/>
          </a:xfrm>
          <a:prstGeom prst="rect">
            <a:avLst/>
          </a:prstGeom>
        </p:spPr>
        <p:txBody>
          <a:bodyPr wrap="square">
            <a:spAutoFit/>
          </a:bodyPr>
          <a:lstStyle/>
          <a:p>
            <a:pPr marL="285750" indent="-285750">
              <a:buFont typeface="Wingdings" pitchFamily="2" charset="2"/>
              <a:buChar char="q"/>
            </a:pPr>
            <a:r>
              <a:rPr lang="en-US" b="1" u="sng" dirty="0">
                <a:latin typeface="Times New Roman" pitchFamily="18" charset="0"/>
                <a:cs typeface="Times New Roman" pitchFamily="18" charset="0"/>
              </a:rPr>
              <a:t>The following components can apply to many different generative AI use cases: </a:t>
            </a:r>
            <a:endParaRPr lang="en-IN" b="1" u="sng" dirty="0">
              <a:latin typeface="Times New Roman" pitchFamily="18" charset="0"/>
              <a:cs typeface="Times New Roman" pitchFamily="18" charset="0"/>
            </a:endParaRPr>
          </a:p>
        </p:txBody>
      </p:sp>
      <p:sp>
        <p:nvSpPr>
          <p:cNvPr id="5" name="Rectangle 4"/>
          <p:cNvSpPr/>
          <p:nvPr/>
        </p:nvSpPr>
        <p:spPr>
          <a:xfrm>
            <a:off x="1270288" y="4628997"/>
            <a:ext cx="4446410" cy="2585323"/>
          </a:xfrm>
          <a:prstGeom prst="rect">
            <a:avLst/>
          </a:prstGeom>
        </p:spPr>
        <p:txBody>
          <a:bodyPr wrap="none">
            <a:spAutoFit/>
          </a:bodyPr>
          <a:lstStyle/>
          <a:p>
            <a:pPr marL="342900" indent="-342900">
              <a:buAutoNum type="arabicPeriod"/>
            </a:pPr>
            <a:r>
              <a:rPr lang="en-US" b="1" dirty="0" smtClean="0"/>
              <a:t>Professional </a:t>
            </a:r>
            <a:r>
              <a:rPr lang="en-US" b="1" dirty="0"/>
              <a:t>and creative </a:t>
            </a:r>
            <a:r>
              <a:rPr lang="en-US" b="1" dirty="0" smtClean="0"/>
              <a:t>integrity</a:t>
            </a:r>
          </a:p>
          <a:p>
            <a:pPr marL="342900" indent="-342900">
              <a:buFontTx/>
              <a:buAutoNum type="arabicPeriod"/>
            </a:pPr>
            <a:r>
              <a:rPr lang="en-IN" b="1" dirty="0" smtClean="0"/>
              <a:t>Respecting </a:t>
            </a:r>
            <a:r>
              <a:rPr lang="en-IN" b="1" dirty="0"/>
              <a:t>intellectual </a:t>
            </a:r>
            <a:r>
              <a:rPr lang="en-IN" b="1" dirty="0" smtClean="0"/>
              <a:t>property</a:t>
            </a:r>
          </a:p>
          <a:p>
            <a:pPr marL="342900" indent="-342900">
              <a:buFontTx/>
              <a:buAutoNum type="arabicPeriod"/>
            </a:pPr>
            <a:r>
              <a:rPr lang="en-IN" b="1" dirty="0" smtClean="0"/>
              <a:t>Data </a:t>
            </a:r>
            <a:r>
              <a:rPr lang="en-IN" b="1" dirty="0"/>
              <a:t>privacy </a:t>
            </a:r>
            <a:endParaRPr lang="en-IN" b="1" dirty="0" smtClean="0"/>
          </a:p>
          <a:p>
            <a:pPr marL="342900" indent="-342900">
              <a:buFontTx/>
              <a:buAutoNum type="arabicPeriod"/>
            </a:pPr>
            <a:r>
              <a:rPr lang="en-IN" b="1" dirty="0" smtClean="0"/>
              <a:t>Transparency</a:t>
            </a:r>
          </a:p>
          <a:p>
            <a:pPr marL="342900" indent="-342900">
              <a:buFontTx/>
              <a:buAutoNum type="arabicPeriod"/>
            </a:pPr>
            <a:r>
              <a:rPr lang="en-IN" b="1" dirty="0"/>
              <a:t>Eliminating bias </a:t>
            </a:r>
          </a:p>
          <a:p>
            <a:pPr marL="342900" indent="-342900">
              <a:buFontTx/>
              <a:buAutoNum type="arabicPeriod"/>
            </a:pPr>
            <a:r>
              <a:rPr lang="en-IN" b="1" dirty="0"/>
              <a:t> Third-party fact-checking</a:t>
            </a:r>
          </a:p>
          <a:p>
            <a:pPr marL="342900" indent="-342900">
              <a:buFontTx/>
              <a:buAutoNum type="arabicPeriod"/>
            </a:pPr>
            <a:r>
              <a:rPr lang="en-US" b="1" dirty="0"/>
              <a:t>Empowering and reskilling the </a:t>
            </a:r>
            <a:r>
              <a:rPr lang="en-US" b="1" dirty="0" smtClean="0"/>
              <a:t>workforce</a:t>
            </a:r>
            <a:endParaRPr lang="en-IN" b="1" dirty="0"/>
          </a:p>
          <a:p>
            <a:r>
              <a:rPr lang="en-IN" dirty="0"/>
              <a:t/>
            </a:r>
            <a:br>
              <a:rPr lang="en-IN" dirty="0"/>
            </a:br>
            <a:endParaRPr lang="en-US" b="1" dirty="0"/>
          </a:p>
        </p:txBody>
      </p:sp>
    </p:spTree>
    <p:extLst>
      <p:ext uri="{BB962C8B-B14F-4D97-AF65-F5344CB8AC3E}">
        <p14:creationId xmlns:p14="http://schemas.microsoft.com/office/powerpoint/2010/main" val="959898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4433" y="500803"/>
            <a:ext cx="10798629" cy="6186309"/>
          </a:xfrm>
          <a:prstGeom prst="rect">
            <a:avLst/>
          </a:prstGeom>
        </p:spPr>
        <p:txBody>
          <a:bodyPr wrap="square">
            <a:spAutoFit/>
          </a:bodyPr>
          <a:lstStyle/>
          <a:p>
            <a:pPr algn="just">
              <a:lnSpc>
                <a:spcPct val="150000"/>
              </a:lnSpc>
            </a:pPr>
            <a:r>
              <a:rPr lang="en-US" sz="2400" b="1" dirty="0">
                <a:latin typeface="Times New Roman" pitchFamily="18" charset="0"/>
                <a:cs typeface="Times New Roman" pitchFamily="18" charset="0"/>
              </a:rPr>
              <a:t>1. Professional and creative integrity</a:t>
            </a:r>
          </a:p>
          <a:p>
            <a:pPr marL="342900" indent="-342900" algn="just">
              <a:lnSpc>
                <a:spcPct val="150000"/>
              </a:lnSpc>
              <a:buFont typeface="Arial" pitchFamily="34" charset="0"/>
              <a:buChar char="•"/>
            </a:pPr>
            <a:r>
              <a:rPr lang="en-US" sz="2400" dirty="0">
                <a:latin typeface="Times New Roman" pitchFamily="18" charset="0"/>
                <a:cs typeface="Times New Roman" pitchFamily="18" charset="0"/>
              </a:rPr>
              <a:t>When using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for academic, professional, or creative purposes, it’s essential to acknowledge how you use AI to produce work. </a:t>
            </a:r>
            <a:endParaRPr lang="en-US" sz="24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400" dirty="0" smtClean="0">
                <a:latin typeface="Times New Roman" pitchFamily="18" charset="0"/>
                <a:cs typeface="Times New Roman" pitchFamily="18" charset="0"/>
              </a:rPr>
              <a:t>Doing </a:t>
            </a:r>
            <a:r>
              <a:rPr lang="en-US" sz="2400" dirty="0">
                <a:latin typeface="Times New Roman" pitchFamily="18" charset="0"/>
                <a:cs typeface="Times New Roman" pitchFamily="18" charset="0"/>
              </a:rPr>
              <a:t>so can help ‌establish trust and credibility in your field. </a:t>
            </a:r>
            <a:endParaRPr lang="en-US" sz="2400" dirty="0" smtClean="0">
              <a:latin typeface="Times New Roman" pitchFamily="18" charset="0"/>
              <a:cs typeface="Times New Roman" pitchFamily="18" charset="0"/>
            </a:endParaRPr>
          </a:p>
          <a:p>
            <a:pPr algn="just">
              <a:lnSpc>
                <a:spcPct val="150000"/>
              </a:lnSpc>
            </a:pPr>
            <a:endParaRPr lang="en-US" sz="2400" dirty="0">
              <a:latin typeface="Times New Roman" pitchFamily="18" charset="0"/>
              <a:cs typeface="Times New Roman" pitchFamily="18" charset="0"/>
            </a:endParaRPr>
          </a:p>
          <a:p>
            <a:pPr algn="just">
              <a:lnSpc>
                <a:spcPct val="150000"/>
              </a:lnSpc>
            </a:pPr>
            <a:r>
              <a:rPr lang="en-US" sz="2400" b="1" dirty="0">
                <a:latin typeface="Times New Roman" pitchFamily="18" charset="0"/>
                <a:cs typeface="Times New Roman" pitchFamily="18" charset="0"/>
              </a:rPr>
              <a:t>2. Respecting intellectual property</a:t>
            </a:r>
          </a:p>
          <a:p>
            <a:pPr marL="342900" indent="-342900" algn="just">
              <a:lnSpc>
                <a:spcPct val="150000"/>
              </a:lnSpc>
              <a:buFont typeface="Arial" pitchFamily="34" charset="0"/>
              <a:buChar char="•"/>
            </a:pPr>
            <a:r>
              <a:rPr lang="en-US" sz="2400" dirty="0">
                <a:latin typeface="Times New Roman" pitchFamily="18" charset="0"/>
                <a:cs typeface="Times New Roman" pitchFamily="18" charset="0"/>
              </a:rPr>
              <a:t>When using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tools, be sure to comply with copyright laws and avoid plagiarizing the original work of others. </a:t>
            </a:r>
            <a:endParaRPr lang="en-US" sz="24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addition, avoid inputting copyrighted material to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tools to generate outputs. </a:t>
            </a:r>
            <a:endParaRPr lang="en-US" sz="24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400" dirty="0" smtClean="0">
                <a:latin typeface="Times New Roman" pitchFamily="18" charset="0"/>
                <a:cs typeface="Times New Roman" pitchFamily="18" charset="0"/>
              </a:rPr>
              <a:t>If </a:t>
            </a:r>
            <a:r>
              <a:rPr lang="en-US" sz="2400" dirty="0">
                <a:latin typeface="Times New Roman" pitchFamily="18" charset="0"/>
                <a:cs typeface="Times New Roman" pitchFamily="18" charset="0"/>
              </a:rPr>
              <a:t>you do reference work by others, be sure to provide the proper attributions.</a:t>
            </a:r>
          </a:p>
        </p:txBody>
      </p:sp>
    </p:spTree>
    <p:extLst>
      <p:ext uri="{BB962C8B-B14F-4D97-AF65-F5344CB8AC3E}">
        <p14:creationId xmlns:p14="http://schemas.microsoft.com/office/powerpoint/2010/main" val="1375644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6740307"/>
          </a:xfrm>
          <a:prstGeom prst="rect">
            <a:avLst/>
          </a:prstGeom>
        </p:spPr>
        <p:txBody>
          <a:bodyPr wrap="square">
            <a:spAutoFit/>
          </a:bodyPr>
          <a:lstStyle/>
          <a:p>
            <a:pPr>
              <a:lnSpc>
                <a:spcPct val="150000"/>
              </a:lnSpc>
            </a:pPr>
            <a:r>
              <a:rPr lang="en-US" sz="2400" b="1" dirty="0">
                <a:latin typeface="Times New Roman" pitchFamily="18" charset="0"/>
                <a:cs typeface="Times New Roman" pitchFamily="18" charset="0"/>
              </a:rPr>
              <a:t>3. Data privacy </a:t>
            </a:r>
          </a:p>
          <a:p>
            <a:pPr marL="342900" indent="-342900" algn="just">
              <a:lnSpc>
                <a:spcPct val="150000"/>
              </a:lnSpc>
              <a:buFont typeface="Arial" pitchFamily="34" charset="0"/>
              <a:buChar char="•"/>
            </a:pP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tools are trained on large and diverse data sets. In addition, they can process a lot of data in a short period of time. </a:t>
            </a:r>
            <a:endParaRPr lang="en-US" sz="24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400" dirty="0" smtClean="0">
                <a:latin typeface="Times New Roman" pitchFamily="18" charset="0"/>
                <a:cs typeface="Times New Roman" pitchFamily="18" charset="0"/>
              </a:rPr>
              <a:t>While </a:t>
            </a:r>
            <a:r>
              <a:rPr lang="en-US" sz="2400" dirty="0">
                <a:latin typeface="Times New Roman" pitchFamily="18" charset="0"/>
                <a:cs typeface="Times New Roman" pitchFamily="18" charset="0"/>
              </a:rPr>
              <a:t>these capabilities make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a powerful tool for generating useful outputs, it’s essential to protect the privacy of individuals whose data might be involved in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training. </a:t>
            </a:r>
          </a:p>
          <a:p>
            <a:pPr>
              <a:lnSpc>
                <a:spcPct val="150000"/>
              </a:lnSpc>
            </a:pPr>
            <a:r>
              <a:rPr lang="en-US" sz="2400" b="1" dirty="0">
                <a:latin typeface="Times New Roman" pitchFamily="18" charset="0"/>
                <a:cs typeface="Times New Roman" pitchFamily="18" charset="0"/>
              </a:rPr>
              <a:t>4. Transparency</a:t>
            </a:r>
          </a:p>
          <a:p>
            <a:pPr marL="342900" indent="-342900" algn="just">
              <a:lnSpc>
                <a:spcPct val="150000"/>
              </a:lnSpc>
              <a:buFont typeface="Arial" pitchFamily="34" charset="0"/>
              <a:buChar char="•"/>
            </a:pPr>
            <a:r>
              <a:rPr lang="en-US" sz="2400" dirty="0">
                <a:latin typeface="Times New Roman" pitchFamily="18" charset="0"/>
                <a:cs typeface="Times New Roman" pitchFamily="18" charset="0"/>
              </a:rPr>
              <a:t>Transparency in the world of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works alongside data privacy, professional and creative integrity, and respecting intellectual property. </a:t>
            </a:r>
            <a:endParaRPr lang="en-US" sz="24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400" dirty="0" smtClean="0">
                <a:latin typeface="Times New Roman" pitchFamily="18" charset="0"/>
                <a:cs typeface="Times New Roman" pitchFamily="18" charset="0"/>
              </a:rPr>
              <a:t>You </a:t>
            </a:r>
            <a:r>
              <a:rPr lang="en-US" sz="2400" dirty="0">
                <a:latin typeface="Times New Roman" pitchFamily="18" charset="0"/>
                <a:cs typeface="Times New Roman" pitchFamily="18" charset="0"/>
              </a:rPr>
              <a:t>should communicate openly with stakeholders, users, or collaborators regarding how AI-generated content is produced, the sources of data, and how a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tool works. </a:t>
            </a:r>
            <a:endParaRPr lang="en-US" sz="24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400" dirty="0" smtClean="0">
                <a:latin typeface="Times New Roman" pitchFamily="18" charset="0"/>
                <a:cs typeface="Times New Roman" pitchFamily="18" charset="0"/>
              </a:rPr>
              <a:t>Transparency </a:t>
            </a:r>
            <a:r>
              <a:rPr lang="en-US" sz="2400" dirty="0">
                <a:latin typeface="Times New Roman" pitchFamily="18" charset="0"/>
                <a:cs typeface="Times New Roman" pitchFamily="18" charset="0"/>
              </a:rPr>
              <a:t>can also refer to communication across industries and sectors to share best practices and collaborate on creating ethical AI guidelines.</a:t>
            </a:r>
          </a:p>
        </p:txBody>
      </p:sp>
    </p:spTree>
    <p:extLst>
      <p:ext uri="{BB962C8B-B14F-4D97-AF65-F5344CB8AC3E}">
        <p14:creationId xmlns:p14="http://schemas.microsoft.com/office/powerpoint/2010/main" val="3802877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1884" y="320269"/>
            <a:ext cx="11534505" cy="6093976"/>
          </a:xfrm>
          <a:prstGeom prst="rect">
            <a:avLst/>
          </a:prstGeom>
        </p:spPr>
        <p:txBody>
          <a:bodyPr wrap="square">
            <a:spAutoFit/>
          </a:bodyPr>
          <a:lstStyle/>
          <a:p>
            <a:pPr algn="just">
              <a:lnSpc>
                <a:spcPct val="150000"/>
              </a:lnSpc>
            </a:pPr>
            <a:r>
              <a:rPr lang="en-US" sz="2000" b="1" dirty="0">
                <a:latin typeface="Times New Roman" pitchFamily="18" charset="0"/>
                <a:cs typeface="Times New Roman" pitchFamily="18" charset="0"/>
              </a:rPr>
              <a:t>5. Eliminating bias </a:t>
            </a:r>
          </a:p>
          <a:p>
            <a:pPr marL="342900" indent="-342900" algn="just">
              <a:lnSpc>
                <a:spcPct val="150000"/>
              </a:lnSpc>
              <a:buFont typeface="Arial" pitchFamily="34" charset="0"/>
              <a:buChar char="•"/>
            </a:pPr>
            <a:r>
              <a:rPr lang="en-US" sz="2000" dirty="0">
                <a:latin typeface="Times New Roman" pitchFamily="18" charset="0"/>
                <a:cs typeface="Times New Roman" pitchFamily="18" charset="0"/>
              </a:rPr>
              <a:t>When using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to create content, it’s important to mitigate potential </a:t>
            </a:r>
            <a:r>
              <a:rPr lang="en-US" sz="2000" u="sng" dirty="0">
                <a:latin typeface="Times New Roman" pitchFamily="18" charset="0"/>
                <a:cs typeface="Times New Roman" pitchFamily="18" charset="0"/>
                <a:hlinkClick r:id="rId2"/>
              </a:rPr>
              <a:t>bias</a:t>
            </a:r>
            <a:r>
              <a:rPr lang="en-US" sz="2000" dirty="0">
                <a:latin typeface="Times New Roman" pitchFamily="18" charset="0"/>
                <a:cs typeface="Times New Roman" pitchFamily="18" charset="0"/>
              </a:rPr>
              <a:t> in the outputs. Bias in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outputs can occur when the data a model is trained on is incomplete, limited, or skewed. </a:t>
            </a:r>
            <a:endParaRPr lang="en-US" sz="2000" dirty="0" smtClean="0">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dirty="0" smtClean="0">
                <a:latin typeface="Times New Roman" pitchFamily="18" charset="0"/>
                <a:cs typeface="Times New Roman" pitchFamily="18" charset="0"/>
              </a:rPr>
              <a:t>Biased </a:t>
            </a:r>
            <a:r>
              <a:rPr lang="en-US" sz="2000" dirty="0">
                <a:latin typeface="Times New Roman" pitchFamily="18" charset="0"/>
                <a:cs typeface="Times New Roman" pitchFamily="18" charset="0"/>
              </a:rPr>
              <a:t>outputs might represent the experiences and views of only a narrow demographic or contain content that some demographics might find offensive. </a:t>
            </a:r>
          </a:p>
          <a:p>
            <a:pPr marL="342900" indent="-342900" algn="just">
              <a:lnSpc>
                <a:spcPct val="150000"/>
              </a:lnSpc>
              <a:buFont typeface="Arial" pitchFamily="34" charset="0"/>
              <a:buChar char="•"/>
            </a:pPr>
            <a:r>
              <a:rPr lang="en-US" sz="2000" dirty="0">
                <a:latin typeface="Times New Roman" pitchFamily="18" charset="0"/>
                <a:cs typeface="Times New Roman" pitchFamily="18" charset="0"/>
              </a:rPr>
              <a:t>You can mitigate bias by training a model with comprehensive data from diverse sources, adopting a system to retrain models iteratively, and once again being transparent about the sources on which models are trained. </a:t>
            </a:r>
          </a:p>
          <a:p>
            <a:pPr algn="just">
              <a:lnSpc>
                <a:spcPct val="150000"/>
              </a:lnSpc>
            </a:pPr>
            <a:r>
              <a:rPr lang="en-US" sz="2000" b="1" dirty="0">
                <a:latin typeface="Times New Roman" pitchFamily="18" charset="0"/>
                <a:cs typeface="Times New Roman" pitchFamily="18" charset="0"/>
              </a:rPr>
              <a:t>6. Third-party fact-checking</a:t>
            </a:r>
          </a:p>
          <a:p>
            <a:pPr marL="342900" indent="-342900" algn="just">
              <a:lnSpc>
                <a:spcPct val="150000"/>
              </a:lnSpc>
              <a:buFont typeface="Arial" pitchFamily="34" charset="0"/>
              <a:buChar char="•"/>
            </a:pPr>
            <a:r>
              <a:rPr lang="en-US" sz="2000" dirty="0">
                <a:latin typeface="Times New Roman" pitchFamily="18" charset="0"/>
                <a:cs typeface="Times New Roman" pitchFamily="18" charset="0"/>
              </a:rPr>
              <a:t>Third-party fact-checking refers to the process of verifying the accuracy and credibility of AI-generated content. While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can often produce elegant outputs that closely resemble human communication, the outputs may not always be based on factual information. It’s up to users to consult reputable sources of information or subject-matter experts when evaluating the quality and accuracy of a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output. </a:t>
            </a:r>
          </a:p>
        </p:txBody>
      </p:sp>
    </p:spTree>
    <p:extLst>
      <p:ext uri="{BB962C8B-B14F-4D97-AF65-F5344CB8AC3E}">
        <p14:creationId xmlns:p14="http://schemas.microsoft.com/office/powerpoint/2010/main" val="1077296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641981"/>
            <a:ext cx="10824754" cy="3416320"/>
          </a:xfrm>
          <a:prstGeom prst="rect">
            <a:avLst/>
          </a:prstGeom>
        </p:spPr>
        <p:txBody>
          <a:bodyPr wrap="square">
            <a:spAutoFit/>
          </a:bodyPr>
          <a:lstStyle/>
          <a:p>
            <a:pPr algn="just">
              <a:lnSpc>
                <a:spcPct val="150000"/>
              </a:lnSpc>
            </a:pPr>
            <a:r>
              <a:rPr lang="en-US" sz="2400" b="1" dirty="0">
                <a:latin typeface="Times New Roman" pitchFamily="18" charset="0"/>
                <a:cs typeface="Times New Roman" pitchFamily="18" charset="0"/>
              </a:rPr>
              <a:t>7. Empowering and reskilling the workforce</a:t>
            </a:r>
          </a:p>
          <a:p>
            <a:pPr algn="just">
              <a:lnSpc>
                <a:spcPct val="150000"/>
              </a:lnSpc>
            </a:pPr>
            <a:r>
              <a:rPr lang="en-US" sz="2400" dirty="0">
                <a:latin typeface="Times New Roman" pitchFamily="18" charset="0"/>
                <a:cs typeface="Times New Roman" pitchFamily="18" charset="0"/>
              </a:rPr>
              <a:t>Given that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tools can automate many work-related tasks, there are some jobs that might become </a:t>
            </a:r>
            <a:r>
              <a:rPr lang="en-US" sz="2400" dirty="0" smtClean="0">
                <a:latin typeface="Times New Roman" pitchFamily="18" charset="0"/>
                <a:cs typeface="Times New Roman" pitchFamily="18" charset="0"/>
              </a:rPr>
              <a:t>out of date </a:t>
            </a:r>
            <a:r>
              <a:rPr lang="en-US" sz="2400" dirty="0">
                <a:latin typeface="Times New Roman" pitchFamily="18" charset="0"/>
                <a:cs typeface="Times New Roman" pitchFamily="18" charset="0"/>
              </a:rPr>
              <a:t>as companies adopt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This presents an ethical concern, as members of the workforce face unemployment or job displacement. Company leaders can, instead, work to empower and reskill employees whose jobs are affected by AI or even support employees in transitioning to a new role or industry.</a:t>
            </a:r>
          </a:p>
        </p:txBody>
      </p:sp>
    </p:spTree>
    <p:extLst>
      <p:ext uri="{BB962C8B-B14F-4D97-AF65-F5344CB8AC3E}">
        <p14:creationId xmlns:p14="http://schemas.microsoft.com/office/powerpoint/2010/main" val="78419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9007" y="612845"/>
            <a:ext cx="11756570" cy="5724644"/>
          </a:xfrm>
          <a:prstGeom prst="rect">
            <a:avLst/>
          </a:prstGeom>
        </p:spPr>
        <p:txBody>
          <a:bodyPr wrap="square">
            <a:spAutoFit/>
          </a:bodyPr>
          <a:lstStyle/>
          <a:p>
            <a:pPr algn="just">
              <a:lnSpc>
                <a:spcPct val="150000"/>
              </a:lnSpc>
            </a:pPr>
            <a:r>
              <a:rPr lang="en-US" sz="2400" b="1" dirty="0">
                <a:latin typeface="Times New Roman" pitchFamily="18" charset="0"/>
                <a:cs typeface="Times New Roman" pitchFamily="18" charset="0"/>
              </a:rPr>
              <a:t>Generative AI risks </a:t>
            </a:r>
          </a:p>
          <a:p>
            <a:pPr algn="just">
              <a:lnSpc>
                <a:spcPct val="150000"/>
              </a:lnSpc>
            </a:pPr>
            <a:r>
              <a:rPr lang="en-US" sz="2000" dirty="0">
                <a:latin typeface="Times New Roman" pitchFamily="18" charset="0"/>
                <a:cs typeface="Times New Roman" pitchFamily="18" charset="0"/>
              </a:rPr>
              <a:t>Using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ethically can spark creativity and innovation. However, it comes with inherent risks that you’ll need to understand. Understanding these can strengthen your commitment to ethical AI use and make it easier to develop a comprehensive risk management plan.</a:t>
            </a:r>
          </a:p>
          <a:p>
            <a:pPr algn="just">
              <a:lnSpc>
                <a:spcPct val="150000"/>
              </a:lnSpc>
            </a:pPr>
            <a:r>
              <a:rPr lang="en-US" sz="2000" dirty="0">
                <a:latin typeface="Times New Roman" pitchFamily="18" charset="0"/>
                <a:cs typeface="Times New Roman" pitchFamily="18" charset="0"/>
              </a:rPr>
              <a:t>Some of the most common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risks include (but aren’t limited to): </a:t>
            </a:r>
          </a:p>
          <a:p>
            <a:pPr marL="342900" indent="-342900" algn="just">
              <a:lnSpc>
                <a:spcPct val="150000"/>
              </a:lnSpc>
              <a:buFont typeface="+mj-lt"/>
              <a:buAutoNum type="arabicPeriod"/>
            </a:pPr>
            <a:r>
              <a:rPr lang="en-US" sz="2000" u="sng" dirty="0">
                <a:latin typeface="Times New Roman" pitchFamily="18" charset="0"/>
                <a:cs typeface="Times New Roman" pitchFamily="18" charset="0"/>
                <a:hlinkClick r:id="rId2"/>
              </a:rPr>
              <a:t>Hallucinations</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Incorrect or misleading AI outputs that result from limited or biased data that the model was trained on. Using hallucinatory outputs without fact-checking them could lead to unintended consequences if people take action based on the inaccuracies they encounter. </a:t>
            </a:r>
          </a:p>
          <a:p>
            <a:pPr marL="342900" indent="-342900" algn="just">
              <a:lnSpc>
                <a:spcPct val="150000"/>
              </a:lnSpc>
              <a:buFont typeface="+mj-lt"/>
              <a:buAutoNum type="arabicPeriod"/>
            </a:pPr>
            <a:r>
              <a:rPr lang="en-US" sz="2000" b="1" dirty="0" err="1">
                <a:latin typeface="Times New Roman" pitchFamily="18" charset="0"/>
                <a:cs typeface="Times New Roman" pitchFamily="18" charset="0"/>
              </a:rPr>
              <a:t>Deepfakes</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Audio, images, or video that appear to be real but have been manipulated by AI. </a:t>
            </a:r>
            <a:r>
              <a:rPr lang="en-US" sz="2000" dirty="0" err="1">
                <a:latin typeface="Times New Roman" pitchFamily="18" charset="0"/>
                <a:cs typeface="Times New Roman" pitchFamily="18" charset="0"/>
              </a:rPr>
              <a:t>Deepfakes</a:t>
            </a:r>
            <a:r>
              <a:rPr lang="en-US" sz="2000" dirty="0">
                <a:latin typeface="Times New Roman" pitchFamily="18" charset="0"/>
                <a:cs typeface="Times New Roman" pitchFamily="18" charset="0"/>
              </a:rPr>
              <a:t> can be used maliciously, such as to impersonate politicians and sway elections.</a:t>
            </a:r>
          </a:p>
          <a:p>
            <a:pPr marL="342900" indent="-342900" algn="just">
              <a:lnSpc>
                <a:spcPct val="150000"/>
              </a:lnSpc>
              <a:buFont typeface="+mj-lt"/>
              <a:buAutoNum type="arabicPeriod"/>
            </a:pPr>
            <a:r>
              <a:rPr lang="en-US" sz="2000" u="sng" dirty="0">
                <a:latin typeface="Times New Roman" pitchFamily="18" charset="0"/>
                <a:cs typeface="Times New Roman" pitchFamily="18" charset="0"/>
                <a:hlinkClick r:id="rId3"/>
              </a:rPr>
              <a:t>Job displacement</a:t>
            </a:r>
            <a:r>
              <a:rPr lang="en-US" sz="2000" b="1" dirty="0">
                <a:latin typeface="Times New Roman" pitchFamily="18" charset="0"/>
                <a:cs typeface="Times New Roman" pitchFamily="18" charset="0"/>
              </a:rPr>
              <a:t>:</a:t>
            </a:r>
            <a:r>
              <a:rPr lang="en-US" sz="2000" dirty="0">
                <a:latin typeface="Times New Roman" pitchFamily="18" charset="0"/>
                <a:cs typeface="Times New Roman" pitchFamily="18" charset="0"/>
              </a:rPr>
              <a:t> Automation and efficiency of </a:t>
            </a:r>
            <a:r>
              <a:rPr lang="en-US" sz="2000" dirty="0" err="1">
                <a:latin typeface="Times New Roman" pitchFamily="18" charset="0"/>
                <a:cs typeface="Times New Roman" pitchFamily="18" charset="0"/>
              </a:rPr>
              <a:t>GenAI</a:t>
            </a:r>
            <a:r>
              <a:rPr lang="en-US" sz="2000" dirty="0">
                <a:latin typeface="Times New Roman" pitchFamily="18" charset="0"/>
                <a:cs typeface="Times New Roman" pitchFamily="18" charset="0"/>
              </a:rPr>
              <a:t> may make some job roles or industries obsolete, thus affecting members of the workforce and the economy at large.</a:t>
            </a:r>
          </a:p>
        </p:txBody>
      </p:sp>
    </p:spTree>
    <p:extLst>
      <p:ext uri="{BB962C8B-B14F-4D97-AF65-F5344CB8AC3E}">
        <p14:creationId xmlns:p14="http://schemas.microsoft.com/office/powerpoint/2010/main" val="484586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7514"/>
            <a:ext cx="12192000" cy="6697346"/>
          </a:xfrm>
          <a:prstGeom prst="rect">
            <a:avLst/>
          </a:prstGeom>
        </p:spPr>
        <p:txBody>
          <a:bodyPr wrap="square">
            <a:spAutoFit/>
          </a:bodyPr>
          <a:lstStyle/>
          <a:p>
            <a:pPr>
              <a:lnSpc>
                <a:spcPct val="150000"/>
              </a:lnSpc>
            </a:pPr>
            <a:r>
              <a:rPr lang="en-US" b="1" dirty="0"/>
              <a:t>How to use </a:t>
            </a:r>
            <a:r>
              <a:rPr lang="en-US" b="1" dirty="0" err="1"/>
              <a:t>GenAI</a:t>
            </a:r>
            <a:r>
              <a:rPr lang="en-US" b="1" dirty="0"/>
              <a:t> ethically in your business</a:t>
            </a:r>
          </a:p>
          <a:p>
            <a:pPr>
              <a:lnSpc>
                <a:spcPct val="150000"/>
              </a:lnSpc>
            </a:pPr>
            <a:r>
              <a:rPr lang="en-US" dirty="0"/>
              <a:t>Knowing the ethics, benefits, and risks of generative AI is crucial for businesses to harness its full potential. Here’s how you can establish responsible practices in your business: </a:t>
            </a:r>
          </a:p>
          <a:p>
            <a:pPr>
              <a:lnSpc>
                <a:spcPct val="150000"/>
              </a:lnSpc>
            </a:pPr>
            <a:r>
              <a:rPr lang="en-US" b="1" dirty="0"/>
              <a:t>1. Identify what you’re using it for. </a:t>
            </a:r>
          </a:p>
          <a:p>
            <a:pPr>
              <a:lnSpc>
                <a:spcPct val="150000"/>
              </a:lnSpc>
            </a:pPr>
            <a:r>
              <a:rPr lang="en-US" dirty="0"/>
              <a:t>Start the </a:t>
            </a:r>
            <a:r>
              <a:rPr lang="en-US" dirty="0" err="1"/>
              <a:t>GenAI</a:t>
            </a:r>
            <a:r>
              <a:rPr lang="en-US" dirty="0"/>
              <a:t> implementation process by defining which </a:t>
            </a:r>
            <a:r>
              <a:rPr lang="en-US" u="sng" dirty="0">
                <a:hlinkClick r:id="rId2"/>
              </a:rPr>
              <a:t>AI tools</a:t>
            </a:r>
            <a:r>
              <a:rPr lang="en-US" dirty="0"/>
              <a:t> your business will use and how it will use them. Uses might include creating content, developing products, or automating customer service. Knowing your business’s use cases will help ‌align them with ethical considerations.</a:t>
            </a:r>
          </a:p>
          <a:p>
            <a:pPr>
              <a:lnSpc>
                <a:spcPct val="150000"/>
              </a:lnSpc>
            </a:pPr>
            <a:r>
              <a:rPr lang="en-US" b="1" dirty="0"/>
              <a:t>2. Set quality standards. </a:t>
            </a:r>
          </a:p>
          <a:p>
            <a:pPr>
              <a:lnSpc>
                <a:spcPct val="150000"/>
              </a:lnSpc>
            </a:pPr>
            <a:r>
              <a:rPr lang="en-US" dirty="0"/>
              <a:t>Define the criteria for evaluating the quality of </a:t>
            </a:r>
            <a:r>
              <a:rPr lang="en-US" dirty="0" err="1"/>
              <a:t>GenAI</a:t>
            </a:r>
            <a:r>
              <a:rPr lang="en-US" dirty="0"/>
              <a:t> outputs. Criteria could include accuracy, diversity and inclusion, adherence to a particular style or brand voice, and fairness. Schedule time to monitor outputs and retrain AI tools to improve their performance. </a:t>
            </a:r>
          </a:p>
          <a:p>
            <a:pPr>
              <a:lnSpc>
                <a:spcPct val="150000"/>
              </a:lnSpc>
            </a:pPr>
            <a:r>
              <a:rPr lang="en-US" b="1" dirty="0"/>
              <a:t>3. Keep humans at the center of </a:t>
            </a:r>
            <a:r>
              <a:rPr lang="en-US" b="1" dirty="0" err="1"/>
              <a:t>GenAI</a:t>
            </a:r>
            <a:r>
              <a:rPr lang="en-US" b="1" dirty="0"/>
              <a:t>.</a:t>
            </a:r>
          </a:p>
          <a:p>
            <a:pPr>
              <a:lnSpc>
                <a:spcPct val="150000"/>
              </a:lnSpc>
            </a:pPr>
            <a:r>
              <a:rPr lang="en-US" dirty="0"/>
              <a:t>Emphasize the importance of augmenting rather than replacing human capabilities with </a:t>
            </a:r>
            <a:r>
              <a:rPr lang="en-US" dirty="0" err="1"/>
              <a:t>GenAI</a:t>
            </a:r>
            <a:r>
              <a:rPr lang="en-US" dirty="0"/>
              <a:t>. Make sure humans make the decisions for every initiative, including AI-powered content or data. </a:t>
            </a:r>
          </a:p>
          <a:p>
            <a:pPr>
              <a:lnSpc>
                <a:spcPct val="150000"/>
              </a:lnSpc>
            </a:pPr>
            <a:r>
              <a:rPr lang="en-US" dirty="0"/>
              <a:t>If you’re a leader within your organization, you might consider appointing an AI ethics specialist to help guide how the organization uses </a:t>
            </a:r>
            <a:r>
              <a:rPr lang="en-US" dirty="0" err="1"/>
              <a:t>GenAI</a:t>
            </a:r>
            <a:r>
              <a:rPr lang="en-US" dirty="0"/>
              <a:t> and to provide oversight on AI’s ethical use. </a:t>
            </a:r>
          </a:p>
        </p:txBody>
      </p:sp>
    </p:spTree>
    <p:extLst>
      <p:ext uri="{BB962C8B-B14F-4D97-AF65-F5344CB8AC3E}">
        <p14:creationId xmlns:p14="http://schemas.microsoft.com/office/powerpoint/2010/main" val="140492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6673943"/>
          </a:xfrm>
          <a:prstGeom prst="rect">
            <a:avLst/>
          </a:prstGeom>
        </p:spPr>
        <p:txBody>
          <a:bodyPr wrap="square">
            <a:spAutoFit/>
          </a:bodyPr>
          <a:lstStyle/>
          <a:p>
            <a:pPr algn="just">
              <a:lnSpc>
                <a:spcPct val="150000"/>
              </a:lnSpc>
            </a:pPr>
            <a:r>
              <a:rPr lang="en-US" sz="2400" b="1" dirty="0">
                <a:latin typeface="Times New Roman" pitchFamily="18" charset="0"/>
                <a:cs typeface="Times New Roman" pitchFamily="18" charset="0"/>
              </a:rPr>
              <a:t>4. Create organization-wide AI policies.</a:t>
            </a:r>
          </a:p>
          <a:p>
            <a:pPr algn="just">
              <a:lnSpc>
                <a:spcPct val="150000"/>
              </a:lnSpc>
            </a:pPr>
            <a:r>
              <a:rPr lang="en-US" sz="2400" dirty="0">
                <a:latin typeface="Times New Roman" pitchFamily="18" charset="0"/>
                <a:cs typeface="Times New Roman" pitchFamily="18" charset="0"/>
              </a:rPr>
              <a:t>Develop comprehensive </a:t>
            </a:r>
            <a:r>
              <a:rPr lang="en-US" sz="2400" dirty="0" err="1">
                <a:latin typeface="Times New Roman" pitchFamily="18" charset="0"/>
                <a:cs typeface="Times New Roman" pitchFamily="18" charset="0"/>
              </a:rPr>
              <a:t>GenAI</a:t>
            </a:r>
            <a:r>
              <a:rPr lang="en-US" sz="2400" dirty="0">
                <a:latin typeface="Times New Roman" pitchFamily="18" charset="0"/>
                <a:cs typeface="Times New Roman" pitchFamily="18" charset="0"/>
              </a:rPr>
              <a:t> policies and guidelines that cover all functions and departments within your organization. The policies should address ethical considerations, data privacy, transparency, compliance, how to mitigate bias and other risks, and professional integrity. </a:t>
            </a:r>
          </a:p>
          <a:p>
            <a:pPr algn="just">
              <a:lnSpc>
                <a:spcPct val="150000"/>
              </a:lnSpc>
            </a:pPr>
            <a:r>
              <a:rPr lang="en-US" sz="2400" b="1" dirty="0">
                <a:latin typeface="Times New Roman" pitchFamily="18" charset="0"/>
                <a:cs typeface="Times New Roman" pitchFamily="18" charset="0"/>
              </a:rPr>
              <a:t>5. Create a public-facing statement on </a:t>
            </a:r>
            <a:r>
              <a:rPr lang="en-US" sz="2400" b="1" dirty="0" err="1">
                <a:latin typeface="Times New Roman" pitchFamily="18" charset="0"/>
                <a:cs typeface="Times New Roman" pitchFamily="18" charset="0"/>
              </a:rPr>
              <a:t>GenAI</a:t>
            </a:r>
            <a:r>
              <a:rPr lang="en-US" sz="2400" b="1" dirty="0">
                <a:latin typeface="Times New Roman" pitchFamily="18" charset="0"/>
                <a:cs typeface="Times New Roman" pitchFamily="18" charset="0"/>
              </a:rPr>
              <a:t> use.</a:t>
            </a:r>
          </a:p>
          <a:p>
            <a:pPr algn="just">
              <a:lnSpc>
                <a:spcPct val="150000"/>
              </a:lnSpc>
            </a:pPr>
            <a:r>
              <a:rPr lang="en-US" sz="2400" dirty="0">
                <a:latin typeface="Times New Roman" pitchFamily="18" charset="0"/>
                <a:cs typeface="Times New Roman" pitchFamily="18" charset="0"/>
              </a:rPr>
              <a:t>Communicate your organization’s commitment to the ethical use of generative AI through a public-facing document. This document should express your organization’s AI principles, values, and practices and reassure customers, stakeholders, and the general public of your organization’s </a:t>
            </a:r>
            <a:r>
              <a:rPr lang="en-US" sz="2400" u="sng" dirty="0">
                <a:latin typeface="Times New Roman" pitchFamily="18" charset="0"/>
                <a:cs typeface="Times New Roman" pitchFamily="18" charset="0"/>
                <a:hlinkClick r:id="rId2"/>
              </a:rPr>
              <a:t>AI ethics</a:t>
            </a:r>
            <a:r>
              <a:rPr lang="en-US" sz="2400" dirty="0">
                <a:latin typeface="Times New Roman" pitchFamily="18" charset="0"/>
                <a:cs typeface="Times New Roman" pitchFamily="18" charset="0"/>
              </a:rPr>
              <a:t>. </a:t>
            </a:r>
          </a:p>
          <a:p>
            <a:pPr algn="just">
              <a:lnSpc>
                <a:spcPct val="150000"/>
              </a:lnSpc>
            </a:pPr>
            <a:r>
              <a:rPr lang="en-US" sz="2400" b="1" dirty="0">
                <a:latin typeface="Times New Roman" pitchFamily="18" charset="0"/>
                <a:cs typeface="Times New Roman" pitchFamily="18" charset="0"/>
              </a:rPr>
              <a:t>6. Review </a:t>
            </a:r>
            <a:r>
              <a:rPr lang="en-US" sz="2400" b="1" dirty="0" err="1">
                <a:latin typeface="Times New Roman" pitchFamily="18" charset="0"/>
                <a:cs typeface="Times New Roman" pitchFamily="18" charset="0"/>
              </a:rPr>
              <a:t>GenAI</a:t>
            </a:r>
            <a:r>
              <a:rPr lang="en-US" sz="2400" b="1" dirty="0">
                <a:latin typeface="Times New Roman" pitchFamily="18" charset="0"/>
                <a:cs typeface="Times New Roman" pitchFamily="18" charset="0"/>
              </a:rPr>
              <a:t> policies regularly.</a:t>
            </a:r>
          </a:p>
          <a:p>
            <a:pPr algn="just">
              <a:lnSpc>
                <a:spcPct val="150000"/>
              </a:lnSpc>
            </a:pPr>
            <a:r>
              <a:rPr lang="en-US" sz="2400" dirty="0">
                <a:latin typeface="Times New Roman" pitchFamily="18" charset="0"/>
                <a:cs typeface="Times New Roman" pitchFamily="18" charset="0"/>
              </a:rPr>
              <a:t>Regularly review and update your organization’s </a:t>
            </a:r>
            <a:r>
              <a:rPr lang="en-US" sz="2400" u="sng" dirty="0">
                <a:latin typeface="Times New Roman" pitchFamily="18" charset="0"/>
                <a:cs typeface="Times New Roman" pitchFamily="18" charset="0"/>
                <a:hlinkClick r:id="rId3"/>
              </a:rPr>
              <a:t>policies on </a:t>
            </a:r>
            <a:r>
              <a:rPr lang="en-US" sz="2400" u="sng" dirty="0" err="1">
                <a:latin typeface="Times New Roman" pitchFamily="18" charset="0"/>
                <a:cs typeface="Times New Roman" pitchFamily="18" charset="0"/>
                <a:hlinkClick r:id="rId3"/>
              </a:rPr>
              <a:t>GenAI</a:t>
            </a:r>
            <a:r>
              <a:rPr lang="en-US" sz="2400" u="sng" dirty="0">
                <a:latin typeface="Times New Roman" pitchFamily="18" charset="0"/>
                <a:cs typeface="Times New Roman" pitchFamily="18" charset="0"/>
                <a:hlinkClick r:id="rId3"/>
              </a:rPr>
              <a:t> use</a:t>
            </a:r>
            <a:r>
              <a:rPr lang="en-US" sz="2400" dirty="0">
                <a:latin typeface="Times New Roman" pitchFamily="18" charset="0"/>
                <a:cs typeface="Times New Roman" pitchFamily="18" charset="0"/>
              </a:rPr>
              <a:t> to make sure they reflect the latest ethical standards, regulatory requirements, and technological advancements. </a:t>
            </a:r>
          </a:p>
        </p:txBody>
      </p:sp>
    </p:spTree>
    <p:extLst>
      <p:ext uri="{BB962C8B-B14F-4D97-AF65-F5344CB8AC3E}">
        <p14:creationId xmlns:p14="http://schemas.microsoft.com/office/powerpoint/2010/main" val="3828081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v"/>
            </a:pPr>
            <a:r>
              <a:rPr lang="en-IN" b="1" dirty="0">
                <a:solidFill>
                  <a:srgbClr val="FF0000"/>
                </a:solidFill>
              </a:rPr>
              <a:t>Text Representation</a:t>
            </a:r>
          </a:p>
        </p:txBody>
      </p:sp>
      <p:sp>
        <p:nvSpPr>
          <p:cNvPr id="3" name="Content Placeholder 2"/>
          <p:cNvSpPr>
            <a:spLocks noGrp="1"/>
          </p:cNvSpPr>
          <p:nvPr>
            <p:ph idx="1"/>
          </p:nvPr>
        </p:nvSpPr>
        <p:spPr/>
        <p:txBody>
          <a:bodyPr/>
          <a:lstStyle/>
          <a:p>
            <a:r>
              <a:rPr lang="en-US" dirty="0" smtClean="0"/>
              <a:t>It represents input </a:t>
            </a:r>
            <a:r>
              <a:rPr lang="en-US" dirty="0"/>
              <a:t>text </a:t>
            </a:r>
            <a:r>
              <a:rPr lang="en-US" dirty="0" smtClean="0"/>
              <a:t>data </a:t>
            </a:r>
            <a:r>
              <a:rPr lang="en-US" dirty="0"/>
              <a:t>into a predictable and analyzable form</a:t>
            </a:r>
            <a:r>
              <a:rPr lang="en-US" dirty="0" smtClean="0"/>
              <a:t>.</a:t>
            </a:r>
          </a:p>
          <a:p>
            <a:r>
              <a:rPr lang="en-US" dirty="0"/>
              <a:t>There are different ways to </a:t>
            </a:r>
            <a:r>
              <a:rPr lang="en-US" dirty="0" smtClean="0"/>
              <a:t>represent </a:t>
            </a:r>
            <a:r>
              <a:rPr lang="en-US" dirty="0"/>
              <a:t>text</a:t>
            </a:r>
          </a:p>
          <a:p>
            <a:pPr marL="800100" lvl="1" indent="-342900">
              <a:lnSpc>
                <a:spcPct val="150000"/>
              </a:lnSpc>
              <a:buFont typeface="+mj-lt"/>
              <a:buAutoNum type="alphaLcPeriod"/>
            </a:pPr>
            <a:r>
              <a:rPr lang="en-IN" dirty="0">
                <a:latin typeface="Verdana" panose="020B0604030504040204" pitchFamily="34" charset="0"/>
                <a:ea typeface="Verdana" panose="020B0604030504040204" pitchFamily="34" charset="0"/>
              </a:rPr>
              <a:t>Tokenization</a:t>
            </a:r>
          </a:p>
          <a:p>
            <a:pPr marL="800100" lvl="1" indent="-342900">
              <a:lnSpc>
                <a:spcPct val="150000"/>
              </a:lnSpc>
              <a:buFont typeface="+mj-lt"/>
              <a:buAutoNum type="alphaLcPeriod"/>
            </a:pPr>
            <a:r>
              <a:rPr lang="en-IN" dirty="0">
                <a:latin typeface="Verdana" panose="020B0604030504040204" pitchFamily="34" charset="0"/>
                <a:ea typeface="Verdana" panose="020B0604030504040204" pitchFamily="34" charset="0"/>
              </a:rPr>
              <a:t>Stemming</a:t>
            </a:r>
          </a:p>
          <a:p>
            <a:pPr marL="800100" lvl="1" indent="-342900">
              <a:lnSpc>
                <a:spcPct val="150000"/>
              </a:lnSpc>
              <a:buFont typeface="+mj-lt"/>
              <a:buAutoNum type="alphaLcPeriod"/>
            </a:pPr>
            <a:r>
              <a:rPr lang="en-IN" dirty="0">
                <a:latin typeface="Verdana" panose="020B0604030504040204" pitchFamily="34" charset="0"/>
                <a:ea typeface="Verdana" panose="020B0604030504040204" pitchFamily="34" charset="0"/>
              </a:rPr>
              <a:t>Stop words</a:t>
            </a:r>
          </a:p>
          <a:p>
            <a:pPr marL="800100" lvl="1" indent="-342900">
              <a:lnSpc>
                <a:spcPct val="150000"/>
              </a:lnSpc>
              <a:buFont typeface="+mj-lt"/>
              <a:buAutoNum type="alphaLcPeriod"/>
            </a:pPr>
            <a:r>
              <a:rPr lang="en-IN" dirty="0" smtClean="0">
                <a:latin typeface="Verdana" panose="020B0604030504040204" pitchFamily="34" charset="0"/>
                <a:ea typeface="Verdana" panose="020B0604030504040204" pitchFamily="34" charset="0"/>
              </a:rPr>
              <a:t>N-gram </a:t>
            </a:r>
            <a:r>
              <a:rPr lang="en-IN" dirty="0">
                <a:latin typeface="Verdana" panose="020B0604030504040204" pitchFamily="34" charset="0"/>
                <a:ea typeface="Verdana" panose="020B0604030504040204" pitchFamily="34" charset="0"/>
              </a:rPr>
              <a:t>Modelling</a:t>
            </a:r>
          </a:p>
          <a:p>
            <a:endParaRPr lang="en-IN" dirty="0"/>
          </a:p>
        </p:txBody>
      </p:sp>
    </p:spTree>
    <p:extLst>
      <p:ext uri="{BB962C8B-B14F-4D97-AF65-F5344CB8AC3E}">
        <p14:creationId xmlns:p14="http://schemas.microsoft.com/office/powerpoint/2010/main" val="420108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q"/>
            </a:pPr>
            <a:r>
              <a:rPr lang="en-IN" sz="3600" b="1" dirty="0" smtClean="0">
                <a:solidFill>
                  <a:schemeClr val="accent1">
                    <a:lumMod val="75000"/>
                  </a:schemeClr>
                </a:solidFill>
              </a:rPr>
              <a:t>Tokenization </a:t>
            </a:r>
            <a:endParaRPr lang="en-IN" sz="3600" b="1" dirty="0">
              <a:solidFill>
                <a:schemeClr val="accent1">
                  <a:lumMod val="75000"/>
                </a:schemeClr>
              </a:solidFill>
            </a:endParaRPr>
          </a:p>
        </p:txBody>
      </p:sp>
      <p:sp>
        <p:nvSpPr>
          <p:cNvPr id="3" name="Content Placeholder 2"/>
          <p:cNvSpPr>
            <a:spLocks noGrp="1"/>
          </p:cNvSpPr>
          <p:nvPr>
            <p:ph idx="1"/>
          </p:nvPr>
        </p:nvSpPr>
        <p:spPr/>
        <p:txBody>
          <a:bodyPr/>
          <a:lstStyle/>
          <a:p>
            <a:r>
              <a:rPr lang="en-US" dirty="0"/>
              <a:t>Tokenization can separate sentences, words, characters, or </a:t>
            </a:r>
            <a:r>
              <a:rPr lang="en-US" dirty="0" err="1"/>
              <a:t>subwords</a:t>
            </a:r>
            <a:r>
              <a:rPr lang="en-US" dirty="0" smtClean="0"/>
              <a:t>.</a:t>
            </a:r>
          </a:p>
          <a:p>
            <a:pPr marL="0" indent="0">
              <a:buNone/>
            </a:pPr>
            <a:endParaRPr lang="en-US" dirty="0"/>
          </a:p>
          <a:p>
            <a:r>
              <a:rPr lang="en-US" b="1" u="sng" dirty="0"/>
              <a:t>Importance of Punctuation in Tokenization</a:t>
            </a:r>
          </a:p>
          <a:p>
            <a:pPr lvl="1"/>
            <a:r>
              <a:rPr lang="en-US" sz="2800" dirty="0"/>
              <a:t>Punctuation provides valuable information for NLP applications</a:t>
            </a:r>
          </a:p>
          <a:p>
            <a:pPr lvl="1"/>
            <a:r>
              <a:rPr lang="en-US" sz="2800" dirty="0"/>
              <a:t>Examples: commas, periods, hyphens</a:t>
            </a:r>
          </a:p>
          <a:p>
            <a:pPr lvl="1"/>
            <a:r>
              <a:rPr lang="en-US" sz="2800" dirty="0"/>
              <a:t>Punctuation can indicate sentence boundaries and separate entities</a:t>
            </a:r>
          </a:p>
          <a:p>
            <a:pPr lvl="1"/>
            <a:r>
              <a:rPr lang="en-US" sz="2800" dirty="0"/>
              <a:t>Example: "Mr. Smith went to the store."</a:t>
            </a:r>
            <a:endParaRPr lang="en-US" dirty="0"/>
          </a:p>
          <a:p>
            <a:pPr marL="0" indent="0">
              <a:buNone/>
            </a:pPr>
            <a:r>
              <a:rPr lang="en-US" dirty="0" smtClean="0"/>
              <a:t> </a:t>
            </a:r>
          </a:p>
          <a:p>
            <a:endParaRPr lang="en-US" dirty="0"/>
          </a:p>
        </p:txBody>
      </p:sp>
    </p:spTree>
    <p:extLst>
      <p:ext uri="{BB962C8B-B14F-4D97-AF65-F5344CB8AC3E}">
        <p14:creationId xmlns:p14="http://schemas.microsoft.com/office/powerpoint/2010/main" val="406196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730"/>
            <a:ext cx="10515600" cy="5677233"/>
          </a:xfrm>
        </p:spPr>
        <p:txBody>
          <a:bodyPr/>
          <a:lstStyle/>
          <a:p>
            <a:r>
              <a:rPr lang="en-US" b="1" u="sng" dirty="0"/>
              <a:t>Handling Punctuation</a:t>
            </a:r>
          </a:p>
          <a:p>
            <a:pPr lvl="1"/>
            <a:r>
              <a:rPr lang="en-US" sz="2800" dirty="0"/>
              <a:t>In many cases, punctuation should be treated as separate tokens</a:t>
            </a:r>
          </a:p>
          <a:p>
            <a:pPr lvl="1"/>
            <a:r>
              <a:rPr lang="en-US" sz="2800" dirty="0"/>
              <a:t>Examples: m.p.h., Ph.D</a:t>
            </a:r>
            <a:r>
              <a:rPr lang="en-US" sz="2800" dirty="0" smtClean="0"/>
              <a:t>., </a:t>
            </a:r>
            <a:r>
              <a:rPr lang="en-US" sz="2800" dirty="0" err="1"/>
              <a:t>cap’n</a:t>
            </a:r>
            <a:endParaRPr lang="en-US" sz="2800" dirty="0"/>
          </a:p>
          <a:p>
            <a:pPr lvl="1"/>
            <a:r>
              <a:rPr lang="en-US" sz="2800" dirty="0"/>
              <a:t>Keeping punctuation within words preserves their meaning</a:t>
            </a:r>
          </a:p>
          <a:p>
            <a:pPr lvl="1"/>
            <a:r>
              <a:rPr lang="en-US" sz="2800" dirty="0"/>
              <a:t>Example: "m.p.h." should not be tokenized as "m", ".", "p", "h"</a:t>
            </a:r>
          </a:p>
          <a:p>
            <a:pPr marL="0" indent="0">
              <a:buNone/>
            </a:pPr>
            <a:endParaRPr lang="en-IN" dirty="0"/>
          </a:p>
        </p:txBody>
      </p:sp>
      <p:sp>
        <p:nvSpPr>
          <p:cNvPr id="4" name="Rectangle 3"/>
          <p:cNvSpPr/>
          <p:nvPr/>
        </p:nvSpPr>
        <p:spPr>
          <a:xfrm>
            <a:off x="995916" y="3434064"/>
            <a:ext cx="10357884" cy="3108543"/>
          </a:xfrm>
          <a:prstGeom prst="rect">
            <a:avLst/>
          </a:prstGeom>
        </p:spPr>
        <p:txBody>
          <a:bodyPr wrap="square">
            <a:spAutoFit/>
          </a:bodyPr>
          <a:lstStyle/>
          <a:p>
            <a:pPr marL="85725" indent="-85725">
              <a:buFont typeface="Arial" panose="020B0604020202020204" pitchFamily="34" charset="0"/>
              <a:buChar char="•"/>
            </a:pPr>
            <a:r>
              <a:rPr lang="en-US" sz="2800" b="1" u="sng" dirty="0" smtClean="0"/>
              <a:t> Special </a:t>
            </a:r>
            <a:r>
              <a:rPr lang="en-US" sz="2800" b="1" u="sng" dirty="0"/>
              <a:t>Characters and Numbers</a:t>
            </a:r>
          </a:p>
          <a:p>
            <a:pPr marL="914400" lvl="1" indent="-457200">
              <a:buFont typeface="Arial" panose="020B0604020202020204" pitchFamily="34" charset="0"/>
              <a:buChar char="•"/>
            </a:pPr>
            <a:r>
              <a:rPr lang="en-US" sz="2800" dirty="0"/>
              <a:t>Special characters and numbers play crucial roles in text</a:t>
            </a:r>
          </a:p>
          <a:p>
            <a:pPr marL="914400" lvl="1" indent="-457200">
              <a:buFont typeface="Arial" panose="020B0604020202020204" pitchFamily="34" charset="0"/>
              <a:buChar char="•"/>
            </a:pPr>
            <a:r>
              <a:rPr lang="en-US" sz="2800" dirty="0"/>
              <a:t>Examples: prices ($45.55), dates (01/02/06)</a:t>
            </a:r>
          </a:p>
          <a:p>
            <a:pPr marL="914400" lvl="1" indent="-457200">
              <a:buFont typeface="Arial" panose="020B0604020202020204" pitchFamily="34" charset="0"/>
              <a:buChar char="•"/>
            </a:pPr>
            <a:r>
              <a:rPr lang="en-US" sz="2800" dirty="0"/>
              <a:t>Special characters and numbers should be preserved as single tokens</a:t>
            </a:r>
          </a:p>
          <a:p>
            <a:pPr marL="914400" lvl="1" indent="-457200">
              <a:buFont typeface="Arial" panose="020B0604020202020204" pitchFamily="34" charset="0"/>
              <a:buChar char="•"/>
            </a:pPr>
            <a:r>
              <a:rPr lang="en-US" sz="2800" dirty="0"/>
              <a:t>Example: "$45.55" should not be tokenized as "$", "45", ".", "55"</a:t>
            </a:r>
          </a:p>
        </p:txBody>
      </p:sp>
    </p:spTree>
    <p:extLst>
      <p:ext uri="{BB962C8B-B14F-4D97-AF65-F5344CB8AC3E}">
        <p14:creationId xmlns:p14="http://schemas.microsoft.com/office/powerpoint/2010/main" val="165603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 calcmode="lin" valueType="num">
                                      <p:cBhvr additive="base">
                                        <p:cTn id="2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 calcmode="lin" valueType="num">
                                      <p:cBhvr additive="base">
                                        <p:cTn id="3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 calcmode="lin" valueType="num">
                                      <p:cBhvr additive="base">
                                        <p:cTn id="3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 calcmode="lin" valueType="num">
                                      <p:cBhvr additive="base">
                                        <p:cTn id="4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anim calcmode="lin" valueType="num">
                                      <p:cBhvr additive="base">
                                        <p:cTn id="4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7079"/>
            <a:ext cx="10515600" cy="5889884"/>
          </a:xfrm>
        </p:spPr>
        <p:txBody>
          <a:bodyPr>
            <a:normAutofit/>
          </a:bodyPr>
          <a:lstStyle/>
          <a:p>
            <a:r>
              <a:rPr lang="en-US" b="1" u="sng" dirty="0"/>
              <a:t>Handling URLs and Email Addresses</a:t>
            </a:r>
          </a:p>
          <a:p>
            <a:pPr lvl="1"/>
            <a:r>
              <a:rPr lang="en-US" sz="2800" dirty="0"/>
              <a:t>URLs, hashtags, and email addresses are common in text data</a:t>
            </a:r>
          </a:p>
          <a:p>
            <a:pPr lvl="1"/>
            <a:r>
              <a:rPr lang="en-US" sz="2800" dirty="0"/>
              <a:t>Examples: </a:t>
            </a:r>
            <a:r>
              <a:rPr lang="en-US" sz="2800" dirty="0">
                <a:hlinkClick r:id="rId2"/>
              </a:rPr>
              <a:t>https://www.stanford.edu</a:t>
            </a:r>
            <a:r>
              <a:rPr lang="en-US" sz="2800" dirty="0"/>
              <a:t>, #</a:t>
            </a:r>
            <a:r>
              <a:rPr lang="en-US" sz="2800" dirty="0" err="1"/>
              <a:t>nlproc</a:t>
            </a:r>
            <a:r>
              <a:rPr lang="en-US" sz="2800" dirty="0"/>
              <a:t>, someone@cs.colorado.edu</a:t>
            </a:r>
          </a:p>
          <a:p>
            <a:pPr lvl="1"/>
            <a:r>
              <a:rPr lang="en-US" sz="2800" dirty="0"/>
              <a:t>Treating URLs and email addresses as single tokens maintains their integrity</a:t>
            </a:r>
          </a:p>
          <a:p>
            <a:pPr lvl="1"/>
            <a:r>
              <a:rPr lang="en-US" sz="2800" dirty="0"/>
              <a:t>Example: "</a:t>
            </a:r>
            <a:r>
              <a:rPr lang="en-US" sz="2800" dirty="0">
                <a:hlinkClick r:id="rId2"/>
              </a:rPr>
              <a:t>https://www.stanford.edu</a:t>
            </a:r>
            <a:r>
              <a:rPr lang="en-US" sz="2800" dirty="0"/>
              <a:t>" should not be tokenized as separate words or </a:t>
            </a:r>
            <a:r>
              <a:rPr lang="en-US" sz="2800" dirty="0" smtClean="0"/>
              <a:t>characters</a:t>
            </a:r>
            <a:endParaRPr lang="en-US" sz="2800" dirty="0"/>
          </a:p>
          <a:p>
            <a:endParaRPr lang="en-IN" dirty="0"/>
          </a:p>
        </p:txBody>
      </p:sp>
      <p:sp>
        <p:nvSpPr>
          <p:cNvPr id="4" name="Rectangle 3"/>
          <p:cNvSpPr/>
          <p:nvPr/>
        </p:nvSpPr>
        <p:spPr>
          <a:xfrm>
            <a:off x="838200" y="4051303"/>
            <a:ext cx="10368516" cy="2246769"/>
          </a:xfrm>
          <a:prstGeom prst="rect">
            <a:avLst/>
          </a:prstGeom>
        </p:spPr>
        <p:txBody>
          <a:bodyPr wrap="square">
            <a:spAutoFit/>
          </a:bodyPr>
          <a:lstStyle/>
          <a:p>
            <a:pPr marL="457200" indent="-457200">
              <a:buFont typeface="Arial" panose="020B0604020202020204" pitchFamily="34" charset="0"/>
              <a:buChar char="•"/>
            </a:pPr>
            <a:r>
              <a:rPr lang="en-US" sz="2800" b="1" u="sng" dirty="0"/>
              <a:t>Tokenization Challenges</a:t>
            </a:r>
          </a:p>
          <a:p>
            <a:pPr marL="800100" lvl="1" indent="-342900">
              <a:buFont typeface="Arial" panose="020B0604020202020204" pitchFamily="34" charset="0"/>
              <a:buChar char="•"/>
            </a:pPr>
            <a:r>
              <a:rPr lang="en-US" sz="2800" dirty="0"/>
              <a:t>Tokenizing numbers requires language-specific considerations</a:t>
            </a:r>
          </a:p>
          <a:p>
            <a:pPr marL="800100" lvl="1" indent="-342900">
              <a:buFont typeface="Arial" panose="020B0604020202020204" pitchFamily="34" charset="0"/>
              <a:buChar char="•"/>
            </a:pPr>
            <a:r>
              <a:rPr lang="en-US" sz="2800" dirty="0"/>
              <a:t>Differentiating between punctuation commas and digit grouping commas</a:t>
            </a:r>
          </a:p>
          <a:p>
            <a:pPr marL="800100" lvl="1" indent="-342900">
              <a:buFont typeface="Arial" panose="020B0604020202020204" pitchFamily="34" charset="0"/>
              <a:buChar char="•"/>
            </a:pPr>
            <a:r>
              <a:rPr lang="en-US" sz="2800" dirty="0"/>
              <a:t>Ensuring accurate representation of numbers in tokenized form</a:t>
            </a:r>
          </a:p>
        </p:txBody>
      </p:sp>
    </p:spTree>
    <p:extLst>
      <p:ext uri="{BB962C8B-B14F-4D97-AF65-F5344CB8AC3E}">
        <p14:creationId xmlns:p14="http://schemas.microsoft.com/office/powerpoint/2010/main" val="392922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 calcmode="lin" valueType="num">
                                      <p:cBhvr additive="base">
                                        <p:cTn id="2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 calcmode="lin" valueType="num">
                                      <p:cBhvr additive="base">
                                        <p:cTn id="3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 calcmode="lin" valueType="num">
                                      <p:cBhvr additive="base">
                                        <p:cTn id="3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 calcmode="lin" valueType="num">
                                      <p:cBhvr additive="base">
                                        <p:cTn id="4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8832" y="400861"/>
            <a:ext cx="10515600" cy="5532105"/>
          </a:xfrm>
        </p:spPr>
        <p:txBody>
          <a:bodyPr>
            <a:normAutofit/>
          </a:bodyPr>
          <a:lstStyle/>
          <a:p>
            <a:r>
              <a:rPr lang="en-US" b="1" u="sng" dirty="0" smtClean="0"/>
              <a:t>Adaptation </a:t>
            </a:r>
            <a:r>
              <a:rPr lang="en-US" b="1" u="sng" dirty="0"/>
              <a:t>in Tokenization</a:t>
            </a:r>
          </a:p>
          <a:p>
            <a:pPr lvl="1" algn="just"/>
            <a:r>
              <a:rPr lang="en-US" sz="2800" dirty="0"/>
              <a:t>Tokenization algorithms need to adapt based on the language and context</a:t>
            </a:r>
          </a:p>
          <a:p>
            <a:pPr lvl="1" algn="just"/>
            <a:r>
              <a:rPr lang="en-US" sz="2800" dirty="0"/>
              <a:t>Incorporating language-specific rules for number tokenization</a:t>
            </a:r>
          </a:p>
          <a:p>
            <a:pPr lvl="1" algn="just"/>
            <a:r>
              <a:rPr lang="en-US" sz="2800" dirty="0"/>
              <a:t>Ensuring consistency and accuracy in tokenization across </a:t>
            </a:r>
            <a:r>
              <a:rPr lang="en-US" sz="2800" dirty="0" smtClean="0"/>
              <a:t>languages</a:t>
            </a:r>
          </a:p>
          <a:p>
            <a:pPr lvl="1" algn="just"/>
            <a:r>
              <a:rPr lang="en-US" sz="2800" dirty="0"/>
              <a:t>Proper tokenization is essential for effective natural language processing</a:t>
            </a:r>
          </a:p>
          <a:p>
            <a:pPr lvl="1" algn="just"/>
            <a:r>
              <a:rPr lang="en-US" sz="2800" dirty="0"/>
              <a:t>Preserving punctuation, special characters, and numbers maintains the semantic meaning of text</a:t>
            </a:r>
          </a:p>
          <a:p>
            <a:pPr lvl="1" algn="just"/>
            <a:r>
              <a:rPr lang="en-US" sz="2800" dirty="0"/>
              <a:t>Understanding the context of tokenization improves NLP tasks such as parsing, sentiment analysis, and machine translation</a:t>
            </a:r>
          </a:p>
          <a:p>
            <a:pPr lvl="1"/>
            <a:endParaRPr lang="en-US" sz="2800" dirty="0"/>
          </a:p>
          <a:p>
            <a:endParaRPr lang="en-IN" dirty="0"/>
          </a:p>
        </p:txBody>
      </p:sp>
    </p:spTree>
    <p:extLst>
      <p:ext uri="{BB962C8B-B14F-4D97-AF65-F5344CB8AC3E}">
        <p14:creationId xmlns:p14="http://schemas.microsoft.com/office/powerpoint/2010/main" val="115265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3284"/>
            <a:ext cx="10515600" cy="5953679"/>
          </a:xfrm>
        </p:spPr>
        <p:txBody>
          <a:bodyPr>
            <a:normAutofit/>
          </a:bodyPr>
          <a:lstStyle/>
          <a:p>
            <a:r>
              <a:rPr lang="en-IN" b="1" u="sng" dirty="0">
                <a:solidFill>
                  <a:schemeClr val="accent1">
                    <a:lumMod val="75000"/>
                  </a:schemeClr>
                </a:solidFill>
              </a:rPr>
              <a:t>Penn Treebank Tokenization Standard</a:t>
            </a:r>
          </a:p>
          <a:p>
            <a:pPr lvl="1"/>
            <a:r>
              <a:rPr lang="en-US" sz="2800" dirty="0"/>
              <a:t>Commonly used in parsed corpora (treebanks) released by the Linguistic Data Consortium (LDC</a:t>
            </a:r>
            <a:r>
              <a:rPr lang="en-US" sz="2800" dirty="0" smtClean="0"/>
              <a:t>)</a:t>
            </a:r>
          </a:p>
          <a:p>
            <a:pPr lvl="1"/>
            <a:r>
              <a:rPr lang="en-US" sz="2800" dirty="0"/>
              <a:t>Features of Penn Treebank Tokenization</a:t>
            </a:r>
          </a:p>
          <a:p>
            <a:pPr lvl="2">
              <a:buFont typeface="Wingdings" panose="05000000000000000000" pitchFamily="2" charset="2"/>
              <a:buChar char="ü"/>
            </a:pPr>
            <a:r>
              <a:rPr lang="en-US" sz="2800" dirty="0"/>
              <a:t>Separation of </a:t>
            </a:r>
            <a:r>
              <a:rPr lang="en-US" sz="2800" dirty="0" err="1"/>
              <a:t>clitics</a:t>
            </a:r>
            <a:endParaRPr lang="en-US" sz="2800" dirty="0"/>
          </a:p>
          <a:p>
            <a:pPr lvl="2">
              <a:buFont typeface="Wingdings" panose="05000000000000000000" pitchFamily="2" charset="2"/>
              <a:buChar char="ü"/>
            </a:pPr>
            <a:r>
              <a:rPr lang="en-US" sz="2800" dirty="0"/>
              <a:t>Preservation of hyphenated words</a:t>
            </a:r>
          </a:p>
          <a:p>
            <a:pPr lvl="2">
              <a:buFont typeface="Wingdings" panose="05000000000000000000" pitchFamily="2" charset="2"/>
              <a:buChar char="ü"/>
            </a:pPr>
            <a:r>
              <a:rPr lang="en-US" sz="2800" dirty="0"/>
              <a:t>Separation of punctuation</a:t>
            </a:r>
          </a:p>
          <a:p>
            <a:pPr lvl="2">
              <a:buFont typeface="Wingdings" panose="05000000000000000000" pitchFamily="2" charset="2"/>
              <a:buChar char="ü"/>
            </a:pPr>
            <a:r>
              <a:rPr lang="en-US" sz="2800" dirty="0"/>
              <a:t>Example input and output</a:t>
            </a:r>
          </a:p>
          <a:p>
            <a:endParaRPr lang="en-IN" dirty="0"/>
          </a:p>
        </p:txBody>
      </p:sp>
      <p:sp>
        <p:nvSpPr>
          <p:cNvPr id="4" name="Rectangle 3"/>
          <p:cNvSpPr/>
          <p:nvPr/>
        </p:nvSpPr>
        <p:spPr>
          <a:xfrm>
            <a:off x="340242" y="4189527"/>
            <a:ext cx="11851758" cy="1815882"/>
          </a:xfrm>
          <a:prstGeom prst="rect">
            <a:avLst/>
          </a:prstGeom>
        </p:spPr>
        <p:txBody>
          <a:bodyPr wrap="square">
            <a:spAutoFit/>
          </a:bodyPr>
          <a:lstStyle/>
          <a:p>
            <a:r>
              <a:rPr lang="en-US" sz="2800" b="1" dirty="0"/>
              <a:t>Example Input and Output</a:t>
            </a:r>
          </a:p>
          <a:p>
            <a:r>
              <a:rPr lang="en-US" sz="2800" b="1" u="sng" dirty="0" smtClean="0">
                <a:solidFill>
                  <a:srgbClr val="FFC000"/>
                </a:solidFill>
              </a:rPr>
              <a:t>Input</a:t>
            </a:r>
            <a:r>
              <a:rPr lang="en-US" sz="2800" b="1" u="sng" dirty="0">
                <a:solidFill>
                  <a:srgbClr val="FFC000"/>
                </a:solidFill>
              </a:rPr>
              <a:t>:</a:t>
            </a:r>
            <a:r>
              <a:rPr lang="en-US" sz="2800" dirty="0">
                <a:solidFill>
                  <a:srgbClr val="FFC000"/>
                </a:solidFill>
              </a:rPr>
              <a:t> "The San Francisco-based restaurant," they said, "doesn’t charge $10".</a:t>
            </a:r>
          </a:p>
          <a:p>
            <a:r>
              <a:rPr lang="en-US" sz="2800" b="1" u="sng" dirty="0">
                <a:solidFill>
                  <a:srgbClr val="92D050"/>
                </a:solidFill>
              </a:rPr>
              <a:t>Output:</a:t>
            </a:r>
            <a:r>
              <a:rPr lang="en-US" sz="2800" dirty="0">
                <a:solidFill>
                  <a:srgbClr val="92D050"/>
                </a:solidFill>
              </a:rPr>
              <a:t> “_The_San_Francisco-based_restaurant_ ,_ “_ they_ said_ ,_ _“_ does_ </a:t>
            </a:r>
            <a:r>
              <a:rPr lang="en-US" sz="2800" dirty="0" err="1">
                <a:solidFill>
                  <a:srgbClr val="92D050"/>
                </a:solidFill>
              </a:rPr>
              <a:t>n’t_charge</a:t>
            </a:r>
            <a:r>
              <a:rPr lang="en-US" sz="2800" dirty="0">
                <a:solidFill>
                  <a:srgbClr val="92D050"/>
                </a:solidFill>
              </a:rPr>
              <a:t>_$_ 10 _“_ .</a:t>
            </a:r>
          </a:p>
        </p:txBody>
      </p:sp>
    </p:spTree>
    <p:extLst>
      <p:ext uri="{BB962C8B-B14F-4D97-AF65-F5344CB8AC3E}">
        <p14:creationId xmlns:p14="http://schemas.microsoft.com/office/powerpoint/2010/main" val="86637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anim calcmode="lin" valueType="num">
                                      <p:cBhvr additive="base">
                                        <p:cTn id="4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 calcmode="lin" valueType="num">
                                      <p:cBhvr additive="base">
                                        <p:cTn id="4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423"/>
            <a:ext cx="10515600" cy="5581540"/>
          </a:xfrm>
        </p:spPr>
        <p:txBody>
          <a:bodyPr>
            <a:normAutofit/>
          </a:bodyPr>
          <a:lstStyle/>
          <a:p>
            <a:pPr>
              <a:buFont typeface="Courier New" panose="02070309020205020404" pitchFamily="49" charset="0"/>
              <a:buChar char="o"/>
            </a:pPr>
            <a:r>
              <a:rPr lang="en-US" dirty="0" smtClean="0"/>
              <a:t> Separation </a:t>
            </a:r>
            <a:r>
              <a:rPr lang="en-US" dirty="0"/>
              <a:t>of </a:t>
            </a:r>
            <a:r>
              <a:rPr lang="en-US" dirty="0" err="1"/>
              <a:t>Clitics</a:t>
            </a:r>
            <a:endParaRPr lang="en-US" dirty="0"/>
          </a:p>
          <a:p>
            <a:pPr lvl="1"/>
            <a:r>
              <a:rPr lang="en-US" sz="2800" dirty="0" err="1"/>
              <a:t>Clitics</a:t>
            </a:r>
            <a:r>
              <a:rPr lang="en-US" sz="2800" dirty="0"/>
              <a:t> such as "doesn’t" are split into separate tokens</a:t>
            </a:r>
          </a:p>
          <a:p>
            <a:pPr lvl="1"/>
            <a:r>
              <a:rPr lang="en-US" sz="2800" dirty="0"/>
              <a:t>Example: "does" + "</a:t>
            </a:r>
            <a:r>
              <a:rPr lang="en-US" sz="2800" dirty="0" err="1"/>
              <a:t>n’t</a:t>
            </a:r>
            <a:r>
              <a:rPr lang="en-US" sz="2800" dirty="0"/>
              <a:t>"</a:t>
            </a:r>
          </a:p>
          <a:p>
            <a:pPr>
              <a:buFont typeface="Courier New" panose="02070309020205020404" pitchFamily="49" charset="0"/>
              <a:buChar char="o"/>
            </a:pPr>
            <a:r>
              <a:rPr lang="en-US" dirty="0" smtClean="0"/>
              <a:t> Preservation </a:t>
            </a:r>
            <a:r>
              <a:rPr lang="en-US" dirty="0"/>
              <a:t>of Hyphenated Words</a:t>
            </a:r>
          </a:p>
          <a:p>
            <a:pPr lvl="1"/>
            <a:r>
              <a:rPr lang="en-US" sz="2800" dirty="0"/>
              <a:t>Hyphenated words are kept together as single tokens</a:t>
            </a:r>
          </a:p>
          <a:p>
            <a:pPr lvl="1"/>
            <a:r>
              <a:rPr lang="en-US" sz="2800" dirty="0"/>
              <a:t>Example: "San Francisco-based"</a:t>
            </a:r>
          </a:p>
          <a:p>
            <a:pPr>
              <a:buFont typeface="Courier New" panose="02070309020205020404" pitchFamily="49" charset="0"/>
              <a:buChar char="o"/>
            </a:pPr>
            <a:r>
              <a:rPr lang="en-US" dirty="0" smtClean="0"/>
              <a:t> Separation </a:t>
            </a:r>
            <a:r>
              <a:rPr lang="en-US" dirty="0"/>
              <a:t>of Punctuation</a:t>
            </a:r>
          </a:p>
          <a:p>
            <a:pPr lvl="1"/>
            <a:r>
              <a:rPr lang="en-US" sz="2800" dirty="0"/>
              <a:t>All punctuation marks are separated into individual tokens</a:t>
            </a:r>
          </a:p>
          <a:p>
            <a:pPr lvl="1"/>
            <a:r>
              <a:rPr lang="en-US" sz="2800" dirty="0"/>
              <a:t>Example: "," ".", "$"</a:t>
            </a:r>
          </a:p>
          <a:p>
            <a:endParaRPr lang="en-US" dirty="0"/>
          </a:p>
          <a:p>
            <a:endParaRPr lang="en-IN" dirty="0"/>
          </a:p>
        </p:txBody>
      </p:sp>
    </p:spTree>
    <p:extLst>
      <p:ext uri="{BB962C8B-B14F-4D97-AF65-F5344CB8AC3E}">
        <p14:creationId xmlns:p14="http://schemas.microsoft.com/office/powerpoint/2010/main" val="45690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539086"/>
            <a:ext cx="11038367" cy="6170058"/>
          </a:xfrm>
        </p:spPr>
        <p:txBody>
          <a:bodyPr>
            <a:normAutofit/>
          </a:bodyPr>
          <a:lstStyle/>
          <a:p>
            <a:pPr algn="just"/>
            <a:r>
              <a:rPr lang="en-IN" b="1" dirty="0"/>
              <a:t>Byte-Pair Encoding for </a:t>
            </a:r>
            <a:r>
              <a:rPr lang="en-IN" b="1" dirty="0" smtClean="0"/>
              <a:t>Tokenization</a:t>
            </a:r>
          </a:p>
          <a:p>
            <a:pPr lvl="1" algn="just"/>
            <a:r>
              <a:rPr lang="en-US" sz="2800" dirty="0"/>
              <a:t>Introducing automatic tokenization as an alternative approach to defining tokens in text data</a:t>
            </a:r>
          </a:p>
          <a:p>
            <a:pPr lvl="1" algn="just"/>
            <a:r>
              <a:rPr lang="en-US" sz="2800" dirty="0"/>
              <a:t>Addressing the challenge of unknown words in language processing</a:t>
            </a:r>
          </a:p>
          <a:p>
            <a:pPr lvl="1" algn="just"/>
            <a:r>
              <a:rPr lang="en-US" sz="2800" dirty="0" smtClean="0"/>
              <a:t>Introducing </a:t>
            </a:r>
            <a:r>
              <a:rPr lang="en-US" sz="2800" dirty="0" err="1"/>
              <a:t>subword</a:t>
            </a:r>
            <a:r>
              <a:rPr lang="en-US" sz="2800" dirty="0"/>
              <a:t> tokenization as a solution to handle unknown words</a:t>
            </a:r>
          </a:p>
          <a:p>
            <a:pPr algn="just">
              <a:buFont typeface="Wingdings" panose="05000000000000000000" pitchFamily="2" charset="2"/>
              <a:buChar char="Ø"/>
            </a:pPr>
            <a:r>
              <a:rPr lang="en-US" u="sng" dirty="0" err="1"/>
              <a:t>Subword</a:t>
            </a:r>
            <a:r>
              <a:rPr lang="en-US" u="sng" dirty="0"/>
              <a:t> Tokenization</a:t>
            </a:r>
          </a:p>
          <a:p>
            <a:pPr lvl="1" algn="just"/>
            <a:r>
              <a:rPr lang="en-US" sz="2800" dirty="0"/>
              <a:t>Definition: </a:t>
            </a:r>
            <a:r>
              <a:rPr lang="en-US" sz="2800" dirty="0" err="1"/>
              <a:t>Subword</a:t>
            </a:r>
            <a:r>
              <a:rPr lang="en-US" sz="2800" dirty="0"/>
              <a:t> tokenization involves inducing sets of tokens smaller than words</a:t>
            </a:r>
          </a:p>
          <a:p>
            <a:pPr lvl="1" algn="just"/>
            <a:r>
              <a:rPr lang="en-US" sz="2800" dirty="0" err="1"/>
              <a:t>Subwords</a:t>
            </a:r>
            <a:r>
              <a:rPr lang="en-US" sz="2800" dirty="0"/>
              <a:t> can be arbitrary substrings or meaning-bearing units like morphemes</a:t>
            </a:r>
          </a:p>
          <a:p>
            <a:pPr lvl="1" algn="just"/>
            <a:r>
              <a:rPr lang="en-US" sz="2800" dirty="0"/>
              <a:t>Example: -</a:t>
            </a:r>
            <a:r>
              <a:rPr lang="en-US" sz="2800" dirty="0" err="1"/>
              <a:t>est</a:t>
            </a:r>
            <a:r>
              <a:rPr lang="en-US" sz="2800" dirty="0"/>
              <a:t> or -</a:t>
            </a:r>
            <a:r>
              <a:rPr lang="en-US" sz="2800" dirty="0" err="1"/>
              <a:t>er</a:t>
            </a:r>
            <a:r>
              <a:rPr lang="en-US" sz="2800" dirty="0"/>
              <a:t> are morphemes in words like "unlikeliest" and "happier"</a:t>
            </a:r>
          </a:p>
          <a:p>
            <a:pPr algn="just"/>
            <a:endParaRPr lang="en-IN" dirty="0"/>
          </a:p>
        </p:txBody>
      </p:sp>
    </p:spTree>
    <p:extLst>
      <p:ext uri="{BB962C8B-B14F-4D97-AF65-F5344CB8AC3E}">
        <p14:creationId xmlns:p14="http://schemas.microsoft.com/office/powerpoint/2010/main" val="217415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5634703"/>
          </a:xfrm>
        </p:spPr>
        <p:txBody>
          <a:bodyPr/>
          <a:lstStyle/>
          <a:p>
            <a:pPr algn="just"/>
            <a:r>
              <a:rPr lang="en-US" dirty="0" smtClean="0"/>
              <a:t>Morphemes are the smallest meaning-bearing units of a language</a:t>
            </a:r>
          </a:p>
          <a:p>
            <a:pPr algn="just"/>
            <a:r>
              <a:rPr lang="en-US" dirty="0" smtClean="0"/>
              <a:t>Example: "un-", "likely", and "-</a:t>
            </a:r>
            <a:r>
              <a:rPr lang="en-US" dirty="0" err="1" smtClean="0"/>
              <a:t>est</a:t>
            </a:r>
            <a:r>
              <a:rPr lang="en-US" dirty="0" smtClean="0"/>
              <a:t>" are morphemes in the word "unlikeliest"</a:t>
            </a:r>
          </a:p>
          <a:p>
            <a:pPr algn="just"/>
            <a:r>
              <a:rPr lang="en-US" b="1" dirty="0" smtClean="0"/>
              <a:t>Modern </a:t>
            </a:r>
            <a:r>
              <a:rPr lang="en-US" b="1" dirty="0"/>
              <a:t>Tokenization Schemes</a:t>
            </a:r>
          </a:p>
          <a:p>
            <a:pPr lvl="1" algn="just"/>
            <a:r>
              <a:rPr lang="en-US" sz="2800" dirty="0"/>
              <a:t>Most tokens are words, but some are frequently occurring morphemes or </a:t>
            </a:r>
            <a:r>
              <a:rPr lang="en-US" sz="2800" dirty="0" err="1"/>
              <a:t>subwords</a:t>
            </a:r>
            <a:endParaRPr lang="en-US" sz="2800" dirty="0"/>
          </a:p>
          <a:p>
            <a:pPr lvl="1" algn="just"/>
            <a:r>
              <a:rPr lang="en-US" sz="2800" dirty="0" err="1"/>
              <a:t>Subword</a:t>
            </a:r>
            <a:r>
              <a:rPr lang="en-US" sz="2800" dirty="0"/>
              <a:t> units help represent unseen words by composing them from known </a:t>
            </a:r>
            <a:r>
              <a:rPr lang="en-US" sz="2800" dirty="0" err="1"/>
              <a:t>subword</a:t>
            </a:r>
            <a:r>
              <a:rPr lang="en-US" sz="2800" dirty="0"/>
              <a:t> units</a:t>
            </a:r>
          </a:p>
          <a:p>
            <a:pPr lvl="1" algn="just"/>
            <a:r>
              <a:rPr lang="en-US" sz="2800" dirty="0"/>
              <a:t>Example: "lower" can be represented as "low" and "</a:t>
            </a:r>
            <a:r>
              <a:rPr lang="en-US" sz="2800" dirty="0" err="1"/>
              <a:t>er</a:t>
            </a:r>
            <a:r>
              <a:rPr lang="en-US" sz="2800" dirty="0"/>
              <a:t>"</a:t>
            </a:r>
          </a:p>
          <a:p>
            <a:pPr algn="just"/>
            <a:endParaRPr lang="en-IN" dirty="0"/>
          </a:p>
        </p:txBody>
      </p:sp>
    </p:spTree>
    <p:extLst>
      <p:ext uri="{BB962C8B-B14F-4D97-AF65-F5344CB8AC3E}">
        <p14:creationId xmlns:p14="http://schemas.microsoft.com/office/powerpoint/2010/main" val="65109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4912"/>
            <a:ext cx="10515600" cy="5422051"/>
          </a:xfrm>
        </p:spPr>
        <p:txBody>
          <a:bodyPr/>
          <a:lstStyle/>
          <a:p>
            <a:r>
              <a:rPr lang="en-US" b="1" dirty="0"/>
              <a:t>Advantages of </a:t>
            </a:r>
            <a:r>
              <a:rPr lang="en-US" b="1" dirty="0" err="1"/>
              <a:t>Subword</a:t>
            </a:r>
            <a:r>
              <a:rPr lang="en-US" b="1" dirty="0"/>
              <a:t> Tokenization</a:t>
            </a:r>
          </a:p>
          <a:p>
            <a:pPr lvl="1"/>
            <a:r>
              <a:rPr lang="en-US" sz="2800" dirty="0"/>
              <a:t>Handles unknown words effectively by breaking them down into meaningful units</a:t>
            </a:r>
          </a:p>
          <a:p>
            <a:pPr lvl="1"/>
            <a:r>
              <a:rPr lang="en-US" sz="2800" dirty="0"/>
              <a:t>Improves coverage and adaptability across different vocabularies and languages</a:t>
            </a:r>
          </a:p>
          <a:p>
            <a:pPr lvl="1"/>
            <a:r>
              <a:rPr lang="en-US" sz="2800" dirty="0"/>
              <a:t>Enhances the flexibility and robustness of tokenization </a:t>
            </a:r>
            <a:r>
              <a:rPr lang="en-US" sz="2800" dirty="0" smtClean="0"/>
              <a:t>algorithms</a:t>
            </a:r>
          </a:p>
          <a:p>
            <a:endParaRPr lang="en-US" dirty="0"/>
          </a:p>
          <a:p>
            <a:pPr marL="0" indent="0">
              <a:buNone/>
            </a:pPr>
            <a:r>
              <a:rPr lang="en-US" dirty="0" smtClean="0"/>
              <a:t>Program:</a:t>
            </a:r>
            <a:endParaRPr lang="en-US" dirty="0"/>
          </a:p>
          <a:p>
            <a:pPr marL="0" indent="0">
              <a:buNone/>
            </a:pPr>
            <a:endParaRPr lang="en-IN" dirty="0"/>
          </a:p>
        </p:txBody>
      </p:sp>
    </p:spTree>
    <p:extLst>
      <p:ext uri="{BB962C8B-B14F-4D97-AF65-F5344CB8AC3E}">
        <p14:creationId xmlns:p14="http://schemas.microsoft.com/office/powerpoint/2010/main" val="167322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283" y="35404"/>
            <a:ext cx="10515600" cy="1325563"/>
          </a:xfrm>
        </p:spPr>
        <p:txBody>
          <a:bodyPr>
            <a:normAutofit/>
          </a:bodyPr>
          <a:lstStyle/>
          <a:p>
            <a:pPr marL="571500" indent="-571500">
              <a:buFont typeface="Wingdings" panose="05000000000000000000" pitchFamily="2" charset="2"/>
              <a:buChar char="q"/>
            </a:pPr>
            <a:r>
              <a:rPr lang="en-US" sz="3600" b="1" dirty="0">
                <a:solidFill>
                  <a:schemeClr val="accent1">
                    <a:lumMod val="75000"/>
                  </a:schemeClr>
                </a:solidFill>
              </a:rPr>
              <a:t>Stemming</a:t>
            </a:r>
            <a:endParaRPr lang="en-IN" sz="3600" b="1" dirty="0">
              <a:solidFill>
                <a:schemeClr val="accent1">
                  <a:lumMod val="75000"/>
                </a:schemeClr>
              </a:solidFill>
            </a:endParaRPr>
          </a:p>
        </p:txBody>
      </p:sp>
      <p:sp>
        <p:nvSpPr>
          <p:cNvPr id="3" name="Content Placeholder 2"/>
          <p:cNvSpPr>
            <a:spLocks noGrp="1"/>
          </p:cNvSpPr>
          <p:nvPr>
            <p:ph idx="1"/>
          </p:nvPr>
        </p:nvSpPr>
        <p:spPr>
          <a:xfrm>
            <a:off x="116959" y="1360966"/>
            <a:ext cx="11908464" cy="5730949"/>
          </a:xfrm>
        </p:spPr>
        <p:txBody>
          <a:bodyPr>
            <a:normAutofit/>
          </a:bodyPr>
          <a:lstStyle/>
          <a:p>
            <a:pPr algn="just"/>
            <a:r>
              <a:rPr lang="en-US" sz="3000" dirty="0"/>
              <a:t>Stemming </a:t>
            </a:r>
            <a:r>
              <a:rPr lang="en-US" sz="3000" dirty="0" smtClean="0"/>
              <a:t>is one method of text representation in </a:t>
            </a:r>
            <a:r>
              <a:rPr lang="en-US" sz="3000" dirty="0"/>
              <a:t>which we mainly just strip </a:t>
            </a:r>
            <a:r>
              <a:rPr lang="en-US" sz="3000" dirty="0" smtClean="0"/>
              <a:t>suffixes </a:t>
            </a:r>
            <a:r>
              <a:rPr lang="en-US" sz="3000" dirty="0"/>
              <a:t>from the end of the word</a:t>
            </a:r>
            <a:r>
              <a:rPr lang="en-US" sz="3000" dirty="0" smtClean="0"/>
              <a:t>.</a:t>
            </a:r>
          </a:p>
          <a:p>
            <a:pPr algn="just"/>
            <a:r>
              <a:rPr lang="en-IN" sz="3000" dirty="0"/>
              <a:t>Porter </a:t>
            </a:r>
            <a:r>
              <a:rPr lang="en-IN" sz="3000" dirty="0" smtClean="0"/>
              <a:t>stemmer is </a:t>
            </a:r>
            <a:r>
              <a:rPr lang="en-US" sz="3000" dirty="0"/>
              <a:t>a widely used stemming </a:t>
            </a:r>
            <a:r>
              <a:rPr lang="en-US" sz="3000" dirty="0" smtClean="0"/>
              <a:t>algorithm</a:t>
            </a:r>
          </a:p>
          <a:p>
            <a:pPr marL="0" indent="0" algn="just">
              <a:buNone/>
            </a:pPr>
            <a:endParaRPr lang="en-US" dirty="0" smtClean="0"/>
          </a:p>
          <a:p>
            <a:pPr marL="0" indent="0" algn="just">
              <a:buNone/>
            </a:pPr>
            <a:r>
              <a:rPr lang="en-US" dirty="0" smtClean="0">
                <a:solidFill>
                  <a:srgbClr val="FFC000"/>
                </a:solidFill>
              </a:rPr>
              <a:t>This </a:t>
            </a:r>
            <a:r>
              <a:rPr lang="en-US" dirty="0">
                <a:solidFill>
                  <a:srgbClr val="FFC000"/>
                </a:solidFill>
              </a:rPr>
              <a:t>was not the map we found in Billy </a:t>
            </a:r>
            <a:r>
              <a:rPr lang="en-US" dirty="0" err="1">
                <a:solidFill>
                  <a:srgbClr val="FFC000"/>
                </a:solidFill>
              </a:rPr>
              <a:t>Bones’s</a:t>
            </a:r>
            <a:r>
              <a:rPr lang="en-US" dirty="0">
                <a:solidFill>
                  <a:srgbClr val="FFC000"/>
                </a:solidFill>
              </a:rPr>
              <a:t> chest, but an accurate copy, complete in all things-names and heights and soundings-with the single exception of </a:t>
            </a:r>
            <a:r>
              <a:rPr lang="en-US" dirty="0" smtClean="0">
                <a:solidFill>
                  <a:srgbClr val="FFC000"/>
                </a:solidFill>
              </a:rPr>
              <a:t>the </a:t>
            </a:r>
            <a:r>
              <a:rPr lang="en-US" dirty="0">
                <a:solidFill>
                  <a:srgbClr val="FFC000"/>
                </a:solidFill>
              </a:rPr>
              <a:t>red crosses and the written notes</a:t>
            </a:r>
            <a:r>
              <a:rPr lang="en-US" dirty="0" smtClean="0">
                <a:solidFill>
                  <a:srgbClr val="FFC000"/>
                </a:solidFill>
              </a:rPr>
              <a:t>.</a:t>
            </a:r>
          </a:p>
          <a:p>
            <a:pPr marL="0" indent="0" algn="just">
              <a:buNone/>
            </a:pPr>
            <a:endParaRPr lang="en-US" dirty="0"/>
          </a:p>
          <a:p>
            <a:pPr marL="0" indent="0" algn="just">
              <a:buNone/>
            </a:pPr>
            <a:r>
              <a:rPr lang="en-US" dirty="0" err="1" smtClean="0">
                <a:solidFill>
                  <a:srgbClr val="92D050"/>
                </a:solidFill>
              </a:rPr>
              <a:t>Thi</a:t>
            </a:r>
            <a:r>
              <a:rPr lang="en-US" dirty="0" smtClean="0">
                <a:solidFill>
                  <a:srgbClr val="92D050"/>
                </a:solidFill>
              </a:rPr>
              <a:t> </a:t>
            </a:r>
            <a:r>
              <a:rPr lang="en-US" dirty="0" err="1">
                <a:solidFill>
                  <a:srgbClr val="92D050"/>
                </a:solidFill>
              </a:rPr>
              <a:t>wa</a:t>
            </a:r>
            <a:r>
              <a:rPr lang="en-US" dirty="0">
                <a:solidFill>
                  <a:srgbClr val="92D050"/>
                </a:solidFill>
              </a:rPr>
              <a:t> not the map we found in </a:t>
            </a:r>
            <a:r>
              <a:rPr lang="en-US" dirty="0" err="1">
                <a:solidFill>
                  <a:srgbClr val="92D050"/>
                </a:solidFill>
              </a:rPr>
              <a:t>Billi</a:t>
            </a:r>
            <a:r>
              <a:rPr lang="en-US" dirty="0">
                <a:solidFill>
                  <a:srgbClr val="92D050"/>
                </a:solidFill>
              </a:rPr>
              <a:t> Bone s chest but an </a:t>
            </a:r>
            <a:r>
              <a:rPr lang="en-US" dirty="0" err="1">
                <a:solidFill>
                  <a:srgbClr val="92D050"/>
                </a:solidFill>
              </a:rPr>
              <a:t>accur</a:t>
            </a:r>
            <a:r>
              <a:rPr lang="en-US" dirty="0">
                <a:solidFill>
                  <a:srgbClr val="92D050"/>
                </a:solidFill>
              </a:rPr>
              <a:t> </a:t>
            </a:r>
            <a:r>
              <a:rPr lang="en-US" dirty="0" err="1">
                <a:solidFill>
                  <a:srgbClr val="92D050"/>
                </a:solidFill>
              </a:rPr>
              <a:t>copi</a:t>
            </a:r>
            <a:r>
              <a:rPr lang="en-US" dirty="0">
                <a:solidFill>
                  <a:srgbClr val="92D050"/>
                </a:solidFill>
              </a:rPr>
              <a:t> </a:t>
            </a:r>
            <a:r>
              <a:rPr lang="en-US" dirty="0" err="1">
                <a:solidFill>
                  <a:srgbClr val="92D050"/>
                </a:solidFill>
              </a:rPr>
              <a:t>complet</a:t>
            </a:r>
            <a:r>
              <a:rPr lang="en-US" dirty="0">
                <a:solidFill>
                  <a:srgbClr val="92D050"/>
                </a:solidFill>
              </a:rPr>
              <a:t> in all thing name and height and sound with the </a:t>
            </a:r>
            <a:r>
              <a:rPr lang="en-US" dirty="0" err="1">
                <a:solidFill>
                  <a:srgbClr val="92D050"/>
                </a:solidFill>
              </a:rPr>
              <a:t>singl</a:t>
            </a:r>
            <a:r>
              <a:rPr lang="en-US" dirty="0">
                <a:solidFill>
                  <a:srgbClr val="92D050"/>
                </a:solidFill>
              </a:rPr>
              <a:t> except of the red cross and the written note</a:t>
            </a:r>
            <a:endParaRPr lang="en-IN" dirty="0">
              <a:solidFill>
                <a:srgbClr val="92D050"/>
              </a:solidFill>
            </a:endParaRPr>
          </a:p>
        </p:txBody>
      </p:sp>
    </p:spTree>
    <p:extLst>
      <p:ext uri="{BB962C8B-B14F-4D97-AF65-F5344CB8AC3E}">
        <p14:creationId xmlns:p14="http://schemas.microsoft.com/office/powerpoint/2010/main" val="33521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344"/>
            <a:ext cx="10515600" cy="5868619"/>
          </a:xfrm>
        </p:spPr>
        <p:txBody>
          <a:bodyPr/>
          <a:lstStyle/>
          <a:p>
            <a:pPr algn="just"/>
            <a:r>
              <a:rPr lang="en-US" dirty="0"/>
              <a:t>The algorithm is based on series of rewrite rules run in series: the </a:t>
            </a:r>
            <a:r>
              <a:rPr lang="en-US" dirty="0" smtClean="0"/>
              <a:t>output </a:t>
            </a:r>
            <a:r>
              <a:rPr lang="en-US" dirty="0"/>
              <a:t>of each pass is fed as input to the next pass</a:t>
            </a:r>
            <a:r>
              <a:rPr lang="en-US" dirty="0" smtClean="0"/>
              <a:t>.</a:t>
            </a:r>
          </a:p>
          <a:p>
            <a:pPr algn="just"/>
            <a:endParaRPr lang="en-US" dirty="0"/>
          </a:p>
          <a:p>
            <a:pPr lvl="1" algn="just"/>
            <a:r>
              <a:rPr lang="en-IN" sz="2800" dirty="0"/>
              <a:t>ATIONAL → ATE (e.g., relational → relate) </a:t>
            </a:r>
            <a:endParaRPr lang="en-IN" sz="2800" dirty="0" smtClean="0"/>
          </a:p>
          <a:p>
            <a:pPr lvl="1" algn="just"/>
            <a:r>
              <a:rPr lang="en-IN" sz="2800" dirty="0" smtClean="0"/>
              <a:t>ING </a:t>
            </a:r>
            <a:r>
              <a:rPr lang="en-IN" sz="2800" dirty="0"/>
              <a:t>→ </a:t>
            </a:r>
            <a:r>
              <a:rPr lang="en-IN" sz="2800" dirty="0" smtClean="0"/>
              <a:t> </a:t>
            </a:r>
            <a:r>
              <a:rPr lang="en-IN" sz="2800" dirty="0"/>
              <a:t>if the stem contains a vowel (e.g., motoring → motor</a:t>
            </a:r>
            <a:r>
              <a:rPr lang="en-IN" sz="2800" dirty="0" smtClean="0"/>
              <a:t>)</a:t>
            </a:r>
          </a:p>
          <a:p>
            <a:pPr lvl="1" algn="just"/>
            <a:r>
              <a:rPr lang="en-IN" sz="2800" dirty="0" smtClean="0"/>
              <a:t> SSES </a:t>
            </a:r>
            <a:r>
              <a:rPr lang="en-IN" sz="2800" dirty="0"/>
              <a:t>→ SS (e.g., grasses → grass</a:t>
            </a:r>
            <a:r>
              <a:rPr lang="en-IN" sz="2800" dirty="0" smtClean="0"/>
              <a:t>)</a:t>
            </a:r>
          </a:p>
          <a:p>
            <a:pPr algn="just"/>
            <a:endParaRPr lang="en-IN" dirty="0"/>
          </a:p>
          <a:p>
            <a:pPr algn="just"/>
            <a:r>
              <a:rPr lang="en-US" b="1" dirty="0"/>
              <a:t>Errors of Commission and Omission</a:t>
            </a:r>
          </a:p>
          <a:p>
            <a:pPr lvl="1" algn="just"/>
            <a:r>
              <a:rPr lang="en-US" sz="2800" dirty="0"/>
              <a:t>Stemmers may commit errors of over-generalization (commission) and under-generalization (omission)</a:t>
            </a:r>
          </a:p>
          <a:p>
            <a:endParaRPr lang="en-IN" dirty="0"/>
          </a:p>
        </p:txBody>
      </p:sp>
    </p:spTree>
    <p:extLst>
      <p:ext uri="{BB962C8B-B14F-4D97-AF65-F5344CB8AC3E}">
        <p14:creationId xmlns:p14="http://schemas.microsoft.com/office/powerpoint/2010/main" val="2172572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0874"/>
            <a:ext cx="10515600" cy="5826089"/>
          </a:xfrm>
        </p:spPr>
        <p:txBody>
          <a:bodyPr/>
          <a:lstStyle/>
          <a:p>
            <a:r>
              <a:rPr lang="en-US" b="1" dirty="0"/>
              <a:t>Errors of Commission</a:t>
            </a:r>
          </a:p>
          <a:p>
            <a:pPr lvl="1"/>
            <a:r>
              <a:rPr lang="en-US" sz="2800" dirty="0"/>
              <a:t>Stemmers over-generalize by incorrectly reducing words to a common stem</a:t>
            </a:r>
          </a:p>
          <a:p>
            <a:pPr lvl="1"/>
            <a:r>
              <a:rPr lang="en-US" sz="2800" dirty="0"/>
              <a:t>Example: organization -&gt; organ, doing -&gt; </a:t>
            </a:r>
            <a:r>
              <a:rPr lang="en-US" sz="2800" dirty="0" smtClean="0"/>
              <a:t>doe</a:t>
            </a:r>
          </a:p>
          <a:p>
            <a:pPr marL="457200" lvl="1" indent="0">
              <a:buNone/>
            </a:pPr>
            <a:endParaRPr lang="en-US" sz="2800" dirty="0"/>
          </a:p>
          <a:p>
            <a:r>
              <a:rPr lang="en-US" b="1" dirty="0"/>
              <a:t>Errors of Omission</a:t>
            </a:r>
          </a:p>
          <a:p>
            <a:pPr lvl="1"/>
            <a:r>
              <a:rPr lang="en-US" sz="2800" dirty="0"/>
              <a:t>Stemmers under-generalize by failing to reduce words to their common stem</a:t>
            </a:r>
          </a:p>
          <a:p>
            <a:pPr lvl="1"/>
            <a:r>
              <a:rPr lang="en-US" sz="2800" dirty="0"/>
              <a:t>Example</a:t>
            </a:r>
            <a:r>
              <a:rPr lang="en-US" sz="2800" dirty="0" smtClean="0"/>
              <a:t>: </a:t>
            </a:r>
            <a:r>
              <a:rPr lang="en-US" sz="2800" dirty="0"/>
              <a:t>analyzes -&gt; analysis</a:t>
            </a:r>
          </a:p>
          <a:p>
            <a:endParaRPr lang="en-IN" dirty="0"/>
          </a:p>
        </p:txBody>
      </p:sp>
    </p:spTree>
    <p:extLst>
      <p:ext uri="{BB962C8B-B14F-4D97-AF65-F5344CB8AC3E}">
        <p14:creationId xmlns:p14="http://schemas.microsoft.com/office/powerpoint/2010/main" val="137776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856" y="826165"/>
            <a:ext cx="10515600" cy="5447044"/>
          </a:xfrm>
        </p:spPr>
        <p:txBody>
          <a:bodyPr/>
          <a:lstStyle/>
          <a:p>
            <a:pPr algn="just"/>
            <a:r>
              <a:rPr lang="en-US" b="1" dirty="0"/>
              <a:t>Impact on Language Processing</a:t>
            </a:r>
          </a:p>
          <a:p>
            <a:pPr lvl="1" algn="just"/>
            <a:r>
              <a:rPr lang="en-US" sz="2800" dirty="0"/>
              <a:t>Errors of commission can lead to incorrect interpretations or mismatches in information retrieval</a:t>
            </a:r>
          </a:p>
          <a:p>
            <a:pPr lvl="1" algn="just"/>
            <a:r>
              <a:rPr lang="en-US" sz="2800" dirty="0"/>
              <a:t>Errors of omission may result in missed opportunities for capturing semantic </a:t>
            </a:r>
            <a:r>
              <a:rPr lang="en-US" sz="2800" dirty="0" smtClean="0"/>
              <a:t>similarities</a:t>
            </a:r>
          </a:p>
          <a:p>
            <a:pPr marL="457200" lvl="1" indent="0" algn="just">
              <a:buNone/>
            </a:pPr>
            <a:endParaRPr lang="en-US" sz="2800" dirty="0"/>
          </a:p>
          <a:p>
            <a:pPr algn="just"/>
            <a:r>
              <a:rPr lang="en-US" b="1" dirty="0"/>
              <a:t>Challenges in Stemming</a:t>
            </a:r>
          </a:p>
          <a:p>
            <a:pPr lvl="1" algn="just"/>
            <a:r>
              <a:rPr lang="en-US" sz="2800" dirty="0"/>
              <a:t>Balancing between over-stemming and under-stemming errors</a:t>
            </a:r>
          </a:p>
          <a:p>
            <a:pPr lvl="1" algn="just"/>
            <a:r>
              <a:rPr lang="en-US" sz="2800" dirty="0"/>
              <a:t>Handling irregular word forms, irregular plurals, and exceptions to linguistic rules</a:t>
            </a:r>
          </a:p>
          <a:p>
            <a:pPr algn="just"/>
            <a:endParaRPr lang="en-IN" dirty="0"/>
          </a:p>
        </p:txBody>
      </p:sp>
    </p:spTree>
    <p:extLst>
      <p:ext uri="{BB962C8B-B14F-4D97-AF65-F5344CB8AC3E}">
        <p14:creationId xmlns:p14="http://schemas.microsoft.com/office/powerpoint/2010/main" val="59017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0363"/>
            <a:ext cx="10515600" cy="5666600"/>
          </a:xfrm>
        </p:spPr>
        <p:txBody>
          <a:bodyPr/>
          <a:lstStyle/>
          <a:p>
            <a:r>
              <a:rPr lang="en-US" b="1" dirty="0"/>
              <a:t>Mitigating Errors in Stemming</a:t>
            </a:r>
          </a:p>
          <a:p>
            <a:pPr lvl="1" algn="just"/>
            <a:r>
              <a:rPr lang="en-US" sz="2800" dirty="0"/>
              <a:t>Employing more sophisticated stemming algorithms that consider linguistic rules and context</a:t>
            </a:r>
          </a:p>
          <a:p>
            <a:pPr lvl="1" algn="just"/>
            <a:r>
              <a:rPr lang="en-US" sz="2800" dirty="0"/>
              <a:t>Integrating stemming with other text processing techniques such as lemmatization and part-of-speech tagging</a:t>
            </a:r>
          </a:p>
          <a:p>
            <a:pPr lvl="1" algn="just"/>
            <a:r>
              <a:rPr lang="en-US" sz="2800" dirty="0"/>
              <a:t>Conducting thorough evaluation and validation of stemming results in specific application </a:t>
            </a:r>
            <a:r>
              <a:rPr lang="en-US" sz="2800" dirty="0" smtClean="0"/>
              <a:t>contexts</a:t>
            </a:r>
          </a:p>
          <a:p>
            <a:endParaRPr lang="en-US" dirty="0"/>
          </a:p>
          <a:p>
            <a:pPr marL="0" indent="0">
              <a:buNone/>
            </a:pPr>
            <a:r>
              <a:rPr lang="en-US" dirty="0" smtClean="0"/>
              <a:t>Program </a:t>
            </a:r>
            <a:endParaRPr lang="en-US" dirty="0"/>
          </a:p>
          <a:p>
            <a:endParaRPr lang="en-IN" dirty="0"/>
          </a:p>
        </p:txBody>
      </p:sp>
    </p:spTree>
    <p:extLst>
      <p:ext uri="{BB962C8B-B14F-4D97-AF65-F5344CB8AC3E}">
        <p14:creationId xmlns:p14="http://schemas.microsoft.com/office/powerpoint/2010/main" val="4222690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q"/>
            </a:pPr>
            <a:r>
              <a:rPr lang="en-IN" sz="3600" b="1" dirty="0">
                <a:solidFill>
                  <a:schemeClr val="accent1">
                    <a:lumMod val="75000"/>
                  </a:schemeClr>
                </a:solidFill>
              </a:rPr>
              <a:t>Stop words</a:t>
            </a:r>
          </a:p>
        </p:txBody>
      </p:sp>
      <p:sp>
        <p:nvSpPr>
          <p:cNvPr id="3" name="Content Placeholder 2"/>
          <p:cNvSpPr>
            <a:spLocks noGrp="1"/>
          </p:cNvSpPr>
          <p:nvPr>
            <p:ph idx="1"/>
          </p:nvPr>
        </p:nvSpPr>
        <p:spPr/>
        <p:txBody>
          <a:bodyPr/>
          <a:lstStyle/>
          <a:p>
            <a:pPr>
              <a:lnSpc>
                <a:spcPct val="150000"/>
              </a:lnSpc>
            </a:pPr>
            <a:r>
              <a:rPr lang="en-US" b="1" dirty="0"/>
              <a:t>stopwords</a:t>
            </a:r>
            <a:r>
              <a:rPr lang="en-US" dirty="0"/>
              <a:t> are frequently filtered out to enhance text analysis and computational efficiency. </a:t>
            </a:r>
            <a:endParaRPr lang="en-US" dirty="0" smtClean="0"/>
          </a:p>
          <a:p>
            <a:pPr>
              <a:lnSpc>
                <a:spcPct val="150000"/>
              </a:lnSpc>
            </a:pPr>
            <a:r>
              <a:rPr lang="en-US" dirty="0" smtClean="0"/>
              <a:t>Eliminating </a:t>
            </a:r>
            <a:r>
              <a:rPr lang="en-US" dirty="0"/>
              <a:t>stopwords can improve the accuracy and relevance of NLP tasks by drawing attention to the more important words, or content words. </a:t>
            </a:r>
            <a:endParaRPr lang="en-IN" dirty="0"/>
          </a:p>
        </p:txBody>
      </p:sp>
    </p:spTree>
    <p:extLst>
      <p:ext uri="{BB962C8B-B14F-4D97-AF65-F5344CB8AC3E}">
        <p14:creationId xmlns:p14="http://schemas.microsoft.com/office/powerpoint/2010/main" val="1330850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28" y="-127590"/>
            <a:ext cx="12181371" cy="7017487"/>
          </a:xfrm>
        </p:spPr>
        <p:txBody>
          <a:bodyPr>
            <a:normAutofit/>
          </a:bodyPr>
          <a:lstStyle/>
          <a:p>
            <a:pPr algn="just" fontAlgn="base">
              <a:lnSpc>
                <a:spcPct val="150000"/>
              </a:lnSpc>
            </a:pPr>
            <a:r>
              <a:rPr lang="en-US" b="1" dirty="0"/>
              <a:t>Common Stopwords: </a:t>
            </a:r>
            <a:r>
              <a:rPr lang="en-US" dirty="0"/>
              <a:t>These are the most frequently occurring words in a language and are often removed during text preprocessing. Examples include “the,” “is,” “in,” “for,” “where,” “when,” “to,” “at,” etc.</a:t>
            </a:r>
          </a:p>
          <a:p>
            <a:pPr algn="just" fontAlgn="base">
              <a:lnSpc>
                <a:spcPct val="150000"/>
              </a:lnSpc>
            </a:pPr>
            <a:r>
              <a:rPr lang="en-US" b="1" dirty="0"/>
              <a:t>Custom Stopwords: </a:t>
            </a:r>
            <a:r>
              <a:rPr lang="en-US" dirty="0"/>
              <a:t>Depending on the specific task or domain, additional words may be considered as stopwords. These could be domain-specific terms that don’t contribute much to the overall meaning. For example, in a medical context, words like “patient” or “treatment” might be considered as custom stopwords.</a:t>
            </a:r>
          </a:p>
          <a:p>
            <a:pPr algn="just" fontAlgn="base">
              <a:lnSpc>
                <a:spcPct val="150000"/>
              </a:lnSpc>
            </a:pPr>
            <a:r>
              <a:rPr lang="en-US" b="1" dirty="0"/>
              <a:t>Numerical Stopwords: </a:t>
            </a:r>
            <a:r>
              <a:rPr lang="en-US" dirty="0"/>
              <a:t>Numbers and numeric characters may be treated as stopwords in certain cases, especially when the analysis is focused on the meaning of the text rather than specific numerical values.</a:t>
            </a:r>
          </a:p>
          <a:p>
            <a:endParaRPr lang="en-IN" dirty="0"/>
          </a:p>
        </p:txBody>
      </p:sp>
    </p:spTree>
    <p:extLst>
      <p:ext uri="{BB962C8B-B14F-4D97-AF65-F5344CB8AC3E}">
        <p14:creationId xmlns:p14="http://schemas.microsoft.com/office/powerpoint/2010/main" val="183431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lstStyle/>
          <a:p>
            <a:pPr algn="just" fontAlgn="base">
              <a:lnSpc>
                <a:spcPct val="150000"/>
              </a:lnSpc>
            </a:pPr>
            <a:r>
              <a:rPr lang="en-US" b="1" dirty="0"/>
              <a:t>Single-Character Stopwords: </a:t>
            </a:r>
            <a:r>
              <a:rPr lang="en-US" dirty="0"/>
              <a:t>Single characters, such as “a,” “I,” “s,” or “x,” may be considered stopwords, particularly in cases where they don’t convey much meaning on their own.</a:t>
            </a:r>
          </a:p>
          <a:p>
            <a:pPr algn="just" fontAlgn="base">
              <a:lnSpc>
                <a:spcPct val="150000"/>
              </a:lnSpc>
            </a:pPr>
            <a:r>
              <a:rPr lang="en-US" b="1" dirty="0"/>
              <a:t>Contextual Stopwords: </a:t>
            </a:r>
            <a:r>
              <a:rPr lang="en-US" dirty="0"/>
              <a:t>Words that are stopwords in one context but meaningful in another may be considered as contextual stopwords. For instance, the word “will” might be a </a:t>
            </a:r>
            <a:r>
              <a:rPr lang="en-US" dirty="0" err="1"/>
              <a:t>stopword</a:t>
            </a:r>
            <a:r>
              <a:rPr lang="en-US" dirty="0"/>
              <a:t> in the context of general language processing but could be important in predicting future events</a:t>
            </a:r>
          </a:p>
          <a:p>
            <a:endParaRPr lang="en-IN" dirty="0"/>
          </a:p>
        </p:txBody>
      </p:sp>
    </p:spTree>
    <p:extLst>
      <p:ext uri="{BB962C8B-B14F-4D97-AF65-F5344CB8AC3E}">
        <p14:creationId xmlns:p14="http://schemas.microsoft.com/office/powerpoint/2010/main" val="383277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0363"/>
            <a:ext cx="10515600" cy="5666600"/>
          </a:xfrm>
        </p:spPr>
        <p:txBody>
          <a:bodyPr>
            <a:normAutofit/>
          </a:bodyPr>
          <a:lstStyle/>
          <a:p>
            <a:pPr lvl="1">
              <a:lnSpc>
                <a:spcPct val="150000"/>
              </a:lnSpc>
              <a:buFont typeface="Wingdings" panose="05000000000000000000" pitchFamily="2" charset="2"/>
              <a:buChar char="q"/>
            </a:pPr>
            <a:r>
              <a:rPr lang="en-IN" sz="3600" b="1" dirty="0">
                <a:solidFill>
                  <a:schemeClr val="accent1">
                    <a:lumMod val="75000"/>
                  </a:schemeClr>
                </a:solidFill>
                <a:latin typeface="+mj-lt"/>
                <a:ea typeface="+mj-ea"/>
                <a:cs typeface="+mj-cs"/>
              </a:rPr>
              <a:t>N-gram Modelling</a:t>
            </a:r>
          </a:p>
          <a:p>
            <a:pPr marL="457200" lvl="1" indent="0">
              <a:lnSpc>
                <a:spcPct val="150000"/>
              </a:lnSpc>
              <a:buNone/>
            </a:pPr>
            <a:r>
              <a:rPr lang="en-IN" dirty="0"/>
              <a:t>It </a:t>
            </a:r>
            <a:r>
              <a:rPr lang="en-US" dirty="0"/>
              <a:t>is the way of determining the probability of any sequence of words</a:t>
            </a:r>
            <a:endParaRPr lang="en-IN" sz="4400" dirty="0">
              <a:latin typeface="Verdana" panose="020B0604030504040204" pitchFamily="34" charset="0"/>
              <a:ea typeface="Verdana" panose="020B0604030504040204" pitchFamily="34" charset="0"/>
              <a:cs typeface="+mj-cs"/>
            </a:endParaRPr>
          </a:p>
        </p:txBody>
      </p:sp>
      <p:pic>
        <p:nvPicPr>
          <p:cNvPr id="4" name="Picture 3"/>
          <p:cNvPicPr>
            <a:picLocks noChangeAspect="1"/>
          </p:cNvPicPr>
          <p:nvPr/>
        </p:nvPicPr>
        <p:blipFill>
          <a:blip r:embed="rId2"/>
          <a:stretch>
            <a:fillRect/>
          </a:stretch>
        </p:blipFill>
        <p:spPr>
          <a:xfrm>
            <a:off x="2551814" y="2750644"/>
            <a:ext cx="6815470" cy="843159"/>
          </a:xfrm>
          <a:prstGeom prst="rect">
            <a:avLst/>
          </a:prstGeom>
        </p:spPr>
      </p:pic>
      <p:pic>
        <p:nvPicPr>
          <p:cNvPr id="5" name="Picture 4"/>
          <p:cNvPicPr>
            <a:picLocks noChangeAspect="1"/>
          </p:cNvPicPr>
          <p:nvPr/>
        </p:nvPicPr>
        <p:blipFill>
          <a:blip r:embed="rId3"/>
          <a:stretch>
            <a:fillRect/>
          </a:stretch>
        </p:blipFill>
        <p:spPr>
          <a:xfrm>
            <a:off x="2192095" y="4078232"/>
            <a:ext cx="8020462" cy="1227414"/>
          </a:xfrm>
          <a:prstGeom prst="rect">
            <a:avLst/>
          </a:prstGeom>
        </p:spPr>
      </p:pic>
    </p:spTree>
    <p:extLst>
      <p:ext uri="{BB962C8B-B14F-4D97-AF65-F5344CB8AC3E}">
        <p14:creationId xmlns:p14="http://schemas.microsoft.com/office/powerpoint/2010/main" val="290037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48556" y="1180101"/>
            <a:ext cx="7950609" cy="1337710"/>
          </a:xfrm>
          <a:prstGeom prst="rect">
            <a:avLst/>
          </a:prstGeom>
        </p:spPr>
      </p:pic>
      <p:pic>
        <p:nvPicPr>
          <p:cNvPr id="5" name="Picture 4"/>
          <p:cNvPicPr>
            <a:picLocks noChangeAspect="1"/>
          </p:cNvPicPr>
          <p:nvPr/>
        </p:nvPicPr>
        <p:blipFill>
          <a:blip r:embed="rId3"/>
          <a:stretch>
            <a:fillRect/>
          </a:stretch>
        </p:blipFill>
        <p:spPr>
          <a:xfrm>
            <a:off x="1748556" y="2769757"/>
            <a:ext cx="7969660" cy="1174811"/>
          </a:xfrm>
          <a:prstGeom prst="rect">
            <a:avLst/>
          </a:prstGeom>
        </p:spPr>
      </p:pic>
      <p:pic>
        <p:nvPicPr>
          <p:cNvPr id="6" name="Picture 5"/>
          <p:cNvPicPr>
            <a:picLocks noChangeAspect="1"/>
          </p:cNvPicPr>
          <p:nvPr/>
        </p:nvPicPr>
        <p:blipFill>
          <a:blip r:embed="rId4"/>
          <a:stretch>
            <a:fillRect/>
          </a:stretch>
        </p:blipFill>
        <p:spPr>
          <a:xfrm>
            <a:off x="1940841" y="4215494"/>
            <a:ext cx="7417181" cy="920032"/>
          </a:xfrm>
          <a:prstGeom prst="rect">
            <a:avLst/>
          </a:prstGeom>
        </p:spPr>
      </p:pic>
      <p:pic>
        <p:nvPicPr>
          <p:cNvPr id="7" name="Picture 6"/>
          <p:cNvPicPr>
            <a:picLocks noChangeAspect="1"/>
          </p:cNvPicPr>
          <p:nvPr/>
        </p:nvPicPr>
        <p:blipFill>
          <a:blip r:embed="rId5"/>
          <a:stretch>
            <a:fillRect/>
          </a:stretch>
        </p:blipFill>
        <p:spPr>
          <a:xfrm>
            <a:off x="1940841" y="5273860"/>
            <a:ext cx="7220321" cy="807963"/>
          </a:xfrm>
          <a:prstGeom prst="rect">
            <a:avLst/>
          </a:prstGeom>
        </p:spPr>
      </p:pic>
    </p:spTree>
    <p:extLst>
      <p:ext uri="{BB962C8B-B14F-4D97-AF65-F5344CB8AC3E}">
        <p14:creationId xmlns:p14="http://schemas.microsoft.com/office/powerpoint/2010/main" val="45163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10724" y="646382"/>
            <a:ext cx="10467792" cy="1724677"/>
          </a:xfrm>
          <a:prstGeom prst="rect">
            <a:avLst/>
          </a:prstGeom>
        </p:spPr>
      </p:pic>
      <p:pic>
        <p:nvPicPr>
          <p:cNvPr id="5" name="Picture 4"/>
          <p:cNvPicPr>
            <a:picLocks noChangeAspect="1"/>
          </p:cNvPicPr>
          <p:nvPr/>
        </p:nvPicPr>
        <p:blipFill>
          <a:blip r:embed="rId3"/>
          <a:stretch>
            <a:fillRect/>
          </a:stretch>
        </p:blipFill>
        <p:spPr>
          <a:xfrm>
            <a:off x="1197463" y="2784527"/>
            <a:ext cx="10094314" cy="1468496"/>
          </a:xfrm>
          <a:prstGeom prst="rect">
            <a:avLst/>
          </a:prstGeom>
        </p:spPr>
      </p:pic>
      <p:pic>
        <p:nvPicPr>
          <p:cNvPr id="6" name="Picture 5"/>
          <p:cNvPicPr>
            <a:picLocks noChangeAspect="1"/>
          </p:cNvPicPr>
          <p:nvPr/>
        </p:nvPicPr>
        <p:blipFill>
          <a:blip r:embed="rId4"/>
          <a:stretch>
            <a:fillRect/>
          </a:stretch>
        </p:blipFill>
        <p:spPr>
          <a:xfrm>
            <a:off x="1197463" y="4253023"/>
            <a:ext cx="10094314" cy="791250"/>
          </a:xfrm>
          <a:prstGeom prst="rect">
            <a:avLst/>
          </a:prstGeom>
        </p:spPr>
      </p:pic>
    </p:spTree>
    <p:extLst>
      <p:ext uri="{BB962C8B-B14F-4D97-AF65-F5344CB8AC3E}">
        <p14:creationId xmlns:p14="http://schemas.microsoft.com/office/powerpoint/2010/main" val="221999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20374" y="402390"/>
            <a:ext cx="10752156" cy="1064898"/>
          </a:xfrm>
          <a:prstGeom prst="rect">
            <a:avLst/>
          </a:prstGeom>
        </p:spPr>
      </p:pic>
      <p:pic>
        <p:nvPicPr>
          <p:cNvPr id="5" name="Picture 4"/>
          <p:cNvPicPr>
            <a:picLocks noChangeAspect="1"/>
          </p:cNvPicPr>
          <p:nvPr/>
        </p:nvPicPr>
        <p:blipFill>
          <a:blip r:embed="rId3"/>
          <a:stretch>
            <a:fillRect/>
          </a:stretch>
        </p:blipFill>
        <p:spPr>
          <a:xfrm>
            <a:off x="745635" y="1604976"/>
            <a:ext cx="10752156" cy="1085055"/>
          </a:xfrm>
          <a:prstGeom prst="rect">
            <a:avLst/>
          </a:prstGeom>
        </p:spPr>
      </p:pic>
      <p:pic>
        <p:nvPicPr>
          <p:cNvPr id="6" name="Picture 5"/>
          <p:cNvPicPr>
            <a:picLocks noChangeAspect="1"/>
          </p:cNvPicPr>
          <p:nvPr/>
        </p:nvPicPr>
        <p:blipFill>
          <a:blip r:embed="rId4"/>
          <a:stretch>
            <a:fillRect/>
          </a:stretch>
        </p:blipFill>
        <p:spPr>
          <a:xfrm>
            <a:off x="745635" y="3067380"/>
            <a:ext cx="10752156" cy="1557777"/>
          </a:xfrm>
          <a:prstGeom prst="rect">
            <a:avLst/>
          </a:prstGeom>
        </p:spPr>
      </p:pic>
      <p:pic>
        <p:nvPicPr>
          <p:cNvPr id="7" name="Picture 6"/>
          <p:cNvPicPr>
            <a:picLocks noChangeAspect="1"/>
          </p:cNvPicPr>
          <p:nvPr/>
        </p:nvPicPr>
        <p:blipFill>
          <a:blip r:embed="rId5"/>
          <a:stretch>
            <a:fillRect/>
          </a:stretch>
        </p:blipFill>
        <p:spPr>
          <a:xfrm>
            <a:off x="745634" y="5002506"/>
            <a:ext cx="10726895" cy="1164378"/>
          </a:xfrm>
          <a:prstGeom prst="rect">
            <a:avLst/>
          </a:prstGeom>
        </p:spPr>
      </p:pic>
    </p:spTree>
    <p:extLst>
      <p:ext uri="{BB962C8B-B14F-4D97-AF65-F5344CB8AC3E}">
        <p14:creationId xmlns:p14="http://schemas.microsoft.com/office/powerpoint/2010/main" val="178130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80968" y="550436"/>
            <a:ext cx="10102465" cy="1086977"/>
          </a:xfrm>
          <a:prstGeom prst="rect">
            <a:avLst/>
          </a:prstGeom>
        </p:spPr>
      </p:pic>
      <p:pic>
        <p:nvPicPr>
          <p:cNvPr id="5" name="Picture 4"/>
          <p:cNvPicPr>
            <a:picLocks noChangeAspect="1"/>
          </p:cNvPicPr>
          <p:nvPr/>
        </p:nvPicPr>
        <p:blipFill>
          <a:blip r:embed="rId3"/>
          <a:stretch>
            <a:fillRect/>
          </a:stretch>
        </p:blipFill>
        <p:spPr>
          <a:xfrm>
            <a:off x="2299183" y="2039371"/>
            <a:ext cx="7748584" cy="1129131"/>
          </a:xfrm>
          <a:prstGeom prst="rect">
            <a:avLst/>
          </a:prstGeom>
        </p:spPr>
      </p:pic>
      <p:pic>
        <p:nvPicPr>
          <p:cNvPr id="6" name="Picture 5"/>
          <p:cNvPicPr>
            <a:picLocks noChangeAspect="1"/>
          </p:cNvPicPr>
          <p:nvPr/>
        </p:nvPicPr>
        <p:blipFill>
          <a:blip r:embed="rId4"/>
          <a:stretch>
            <a:fillRect/>
          </a:stretch>
        </p:blipFill>
        <p:spPr>
          <a:xfrm>
            <a:off x="880968" y="3372638"/>
            <a:ext cx="10198158" cy="1560869"/>
          </a:xfrm>
          <a:prstGeom prst="rect">
            <a:avLst/>
          </a:prstGeom>
        </p:spPr>
      </p:pic>
      <p:pic>
        <p:nvPicPr>
          <p:cNvPr id="7" name="Picture 6"/>
          <p:cNvPicPr>
            <a:picLocks noChangeAspect="1"/>
          </p:cNvPicPr>
          <p:nvPr/>
        </p:nvPicPr>
        <p:blipFill>
          <a:blip r:embed="rId5"/>
          <a:stretch>
            <a:fillRect/>
          </a:stretch>
        </p:blipFill>
        <p:spPr>
          <a:xfrm>
            <a:off x="971273" y="5137643"/>
            <a:ext cx="10107853" cy="1303911"/>
          </a:xfrm>
          <a:prstGeom prst="rect">
            <a:avLst/>
          </a:prstGeom>
        </p:spPr>
      </p:pic>
    </p:spTree>
    <p:extLst>
      <p:ext uri="{BB962C8B-B14F-4D97-AF65-F5344CB8AC3E}">
        <p14:creationId xmlns:p14="http://schemas.microsoft.com/office/powerpoint/2010/main" val="183532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48899" y="448247"/>
            <a:ext cx="10672487" cy="1136004"/>
          </a:xfrm>
          <a:prstGeom prst="rect">
            <a:avLst/>
          </a:prstGeom>
        </p:spPr>
      </p:pic>
      <p:pic>
        <p:nvPicPr>
          <p:cNvPr id="5" name="Picture 4"/>
          <p:cNvPicPr>
            <a:picLocks noChangeAspect="1"/>
          </p:cNvPicPr>
          <p:nvPr/>
        </p:nvPicPr>
        <p:blipFill>
          <a:blip r:embed="rId3"/>
          <a:stretch>
            <a:fillRect/>
          </a:stretch>
        </p:blipFill>
        <p:spPr>
          <a:xfrm>
            <a:off x="948899" y="1912218"/>
            <a:ext cx="10672487" cy="969205"/>
          </a:xfrm>
          <a:prstGeom prst="rect">
            <a:avLst/>
          </a:prstGeom>
        </p:spPr>
      </p:pic>
      <p:pic>
        <p:nvPicPr>
          <p:cNvPr id="6" name="Picture 5"/>
          <p:cNvPicPr>
            <a:picLocks noChangeAspect="1"/>
          </p:cNvPicPr>
          <p:nvPr/>
        </p:nvPicPr>
        <p:blipFill>
          <a:blip r:embed="rId4"/>
          <a:stretch>
            <a:fillRect/>
          </a:stretch>
        </p:blipFill>
        <p:spPr>
          <a:xfrm>
            <a:off x="948898" y="3358246"/>
            <a:ext cx="10672487" cy="1011735"/>
          </a:xfrm>
          <a:prstGeom prst="rect">
            <a:avLst/>
          </a:prstGeom>
        </p:spPr>
      </p:pic>
      <p:pic>
        <p:nvPicPr>
          <p:cNvPr id="7" name="Picture 6"/>
          <p:cNvPicPr>
            <a:picLocks noChangeAspect="1"/>
          </p:cNvPicPr>
          <p:nvPr/>
        </p:nvPicPr>
        <p:blipFill>
          <a:blip r:embed="rId5"/>
          <a:stretch>
            <a:fillRect/>
          </a:stretch>
        </p:blipFill>
        <p:spPr>
          <a:xfrm>
            <a:off x="948898" y="4655418"/>
            <a:ext cx="10672487" cy="2064732"/>
          </a:xfrm>
          <a:prstGeom prst="rect">
            <a:avLst/>
          </a:prstGeom>
        </p:spPr>
      </p:pic>
    </p:spTree>
    <p:extLst>
      <p:ext uri="{BB962C8B-B14F-4D97-AF65-F5344CB8AC3E}">
        <p14:creationId xmlns:p14="http://schemas.microsoft.com/office/powerpoint/2010/main" val="170364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62987" y="605959"/>
            <a:ext cx="8761228" cy="1244106"/>
          </a:xfrm>
          <a:prstGeom prst="rect">
            <a:avLst/>
          </a:prstGeom>
        </p:spPr>
      </p:pic>
      <p:pic>
        <p:nvPicPr>
          <p:cNvPr id="5" name="Picture 4"/>
          <p:cNvPicPr>
            <a:picLocks noChangeAspect="1"/>
          </p:cNvPicPr>
          <p:nvPr/>
        </p:nvPicPr>
        <p:blipFill>
          <a:blip r:embed="rId3"/>
          <a:stretch>
            <a:fillRect/>
          </a:stretch>
        </p:blipFill>
        <p:spPr>
          <a:xfrm>
            <a:off x="1562987" y="2393543"/>
            <a:ext cx="8899450" cy="1955173"/>
          </a:xfrm>
          <a:prstGeom prst="rect">
            <a:avLst/>
          </a:prstGeom>
        </p:spPr>
      </p:pic>
      <p:pic>
        <p:nvPicPr>
          <p:cNvPr id="6" name="Picture 5"/>
          <p:cNvPicPr>
            <a:picLocks noChangeAspect="1"/>
          </p:cNvPicPr>
          <p:nvPr/>
        </p:nvPicPr>
        <p:blipFill>
          <a:blip r:embed="rId4"/>
          <a:stretch>
            <a:fillRect/>
          </a:stretch>
        </p:blipFill>
        <p:spPr>
          <a:xfrm>
            <a:off x="1562987" y="4892194"/>
            <a:ext cx="8899450" cy="987611"/>
          </a:xfrm>
          <a:prstGeom prst="rect">
            <a:avLst/>
          </a:prstGeom>
        </p:spPr>
      </p:pic>
    </p:spTree>
    <p:extLst>
      <p:ext uri="{BB962C8B-B14F-4D97-AF65-F5344CB8AC3E}">
        <p14:creationId xmlns:p14="http://schemas.microsoft.com/office/powerpoint/2010/main" val="185746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8316" y="539257"/>
            <a:ext cx="9792586" cy="1930499"/>
          </a:xfrm>
          <a:prstGeom prst="rect">
            <a:avLst/>
          </a:prstGeom>
        </p:spPr>
      </p:pic>
      <p:pic>
        <p:nvPicPr>
          <p:cNvPr id="5" name="Picture 4"/>
          <p:cNvPicPr>
            <a:picLocks noChangeAspect="1"/>
          </p:cNvPicPr>
          <p:nvPr/>
        </p:nvPicPr>
        <p:blipFill>
          <a:blip r:embed="rId3"/>
          <a:stretch>
            <a:fillRect/>
          </a:stretch>
        </p:blipFill>
        <p:spPr>
          <a:xfrm>
            <a:off x="3083708" y="2728772"/>
            <a:ext cx="6896454" cy="1726269"/>
          </a:xfrm>
          <a:prstGeom prst="rect">
            <a:avLst/>
          </a:prstGeom>
        </p:spPr>
      </p:pic>
      <p:sp>
        <p:nvSpPr>
          <p:cNvPr id="6" name="TextBox 5"/>
          <p:cNvSpPr txBox="1"/>
          <p:nvPr/>
        </p:nvSpPr>
        <p:spPr>
          <a:xfrm>
            <a:off x="1148316" y="3106111"/>
            <a:ext cx="1268296" cy="369332"/>
          </a:xfrm>
          <a:prstGeom prst="rect">
            <a:avLst/>
          </a:prstGeom>
          <a:noFill/>
        </p:spPr>
        <p:txBody>
          <a:bodyPr wrap="none" rtlCol="0">
            <a:spAutoFit/>
          </a:bodyPr>
          <a:lstStyle/>
          <a:p>
            <a:r>
              <a:rPr lang="en-IN" b="1" dirty="0" smtClean="0"/>
              <a:t>EXAMPLE : </a:t>
            </a:r>
            <a:endParaRPr lang="en-IN" b="1" dirty="0"/>
          </a:p>
        </p:txBody>
      </p:sp>
      <p:pic>
        <p:nvPicPr>
          <p:cNvPr id="7" name="Picture 6"/>
          <p:cNvPicPr>
            <a:picLocks noChangeAspect="1"/>
          </p:cNvPicPr>
          <p:nvPr/>
        </p:nvPicPr>
        <p:blipFill>
          <a:blip r:embed="rId4"/>
          <a:stretch>
            <a:fillRect/>
          </a:stretch>
        </p:blipFill>
        <p:spPr>
          <a:xfrm>
            <a:off x="1337062" y="4455041"/>
            <a:ext cx="9720798" cy="1941924"/>
          </a:xfrm>
          <a:prstGeom prst="rect">
            <a:avLst/>
          </a:prstGeom>
        </p:spPr>
      </p:pic>
    </p:spTree>
    <p:extLst>
      <p:ext uri="{BB962C8B-B14F-4D97-AF65-F5344CB8AC3E}">
        <p14:creationId xmlns:p14="http://schemas.microsoft.com/office/powerpoint/2010/main" val="1843466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42124" y="704257"/>
            <a:ext cx="10553960" cy="4675817"/>
          </a:xfrm>
          <a:prstGeom prst="rect">
            <a:avLst/>
          </a:prstGeom>
        </p:spPr>
      </p:pic>
    </p:spTree>
    <p:extLst>
      <p:ext uri="{BB962C8B-B14F-4D97-AF65-F5344CB8AC3E}">
        <p14:creationId xmlns:p14="http://schemas.microsoft.com/office/powerpoint/2010/main" val="3176839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7672" y="538174"/>
            <a:ext cx="10312086" cy="1567073"/>
          </a:xfrm>
          <a:prstGeom prst="rect">
            <a:avLst/>
          </a:prstGeom>
        </p:spPr>
      </p:pic>
      <p:pic>
        <p:nvPicPr>
          <p:cNvPr id="5" name="Picture 4"/>
          <p:cNvPicPr>
            <a:picLocks noChangeAspect="1"/>
          </p:cNvPicPr>
          <p:nvPr/>
        </p:nvPicPr>
        <p:blipFill>
          <a:blip r:embed="rId3"/>
          <a:stretch>
            <a:fillRect/>
          </a:stretch>
        </p:blipFill>
        <p:spPr>
          <a:xfrm>
            <a:off x="777672" y="2551463"/>
            <a:ext cx="10312086" cy="3615421"/>
          </a:xfrm>
          <a:prstGeom prst="rect">
            <a:avLst/>
          </a:prstGeom>
        </p:spPr>
      </p:pic>
    </p:spTree>
    <p:extLst>
      <p:ext uri="{BB962C8B-B14F-4D97-AF65-F5344CB8AC3E}">
        <p14:creationId xmlns:p14="http://schemas.microsoft.com/office/powerpoint/2010/main" val="13625102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82075" y="256483"/>
            <a:ext cx="10154520" cy="1551052"/>
          </a:xfrm>
          <a:prstGeom prst="rect">
            <a:avLst/>
          </a:prstGeom>
        </p:spPr>
      </p:pic>
      <p:pic>
        <p:nvPicPr>
          <p:cNvPr id="6" name="Picture 5"/>
          <p:cNvPicPr>
            <a:picLocks noChangeAspect="1"/>
          </p:cNvPicPr>
          <p:nvPr/>
        </p:nvPicPr>
        <p:blipFill>
          <a:blip r:embed="rId3"/>
          <a:stretch>
            <a:fillRect/>
          </a:stretch>
        </p:blipFill>
        <p:spPr>
          <a:xfrm>
            <a:off x="882074" y="2359516"/>
            <a:ext cx="10058827" cy="1351247"/>
          </a:xfrm>
          <a:prstGeom prst="rect">
            <a:avLst/>
          </a:prstGeom>
        </p:spPr>
      </p:pic>
      <p:pic>
        <p:nvPicPr>
          <p:cNvPr id="7" name="Picture 6"/>
          <p:cNvPicPr>
            <a:picLocks noChangeAspect="1"/>
          </p:cNvPicPr>
          <p:nvPr/>
        </p:nvPicPr>
        <p:blipFill>
          <a:blip r:embed="rId4"/>
          <a:stretch>
            <a:fillRect/>
          </a:stretch>
        </p:blipFill>
        <p:spPr>
          <a:xfrm>
            <a:off x="2906307" y="3965032"/>
            <a:ext cx="5355190" cy="2457033"/>
          </a:xfrm>
          <a:prstGeom prst="rect">
            <a:avLst/>
          </a:prstGeom>
        </p:spPr>
      </p:pic>
    </p:spTree>
    <p:extLst>
      <p:ext uri="{BB962C8B-B14F-4D97-AF65-F5344CB8AC3E}">
        <p14:creationId xmlns:p14="http://schemas.microsoft.com/office/powerpoint/2010/main" val="33354466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10602" y="737601"/>
            <a:ext cx="9702710" cy="2048129"/>
          </a:xfrm>
          <a:prstGeom prst="rect">
            <a:avLst/>
          </a:prstGeom>
        </p:spPr>
      </p:pic>
    </p:spTree>
    <p:extLst>
      <p:ext uri="{BB962C8B-B14F-4D97-AF65-F5344CB8AC3E}">
        <p14:creationId xmlns:p14="http://schemas.microsoft.com/office/powerpoint/2010/main" val="17839590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gram Numerical</a:t>
            </a: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Suppose we have a small corpus:</a:t>
            </a:r>
          </a:p>
          <a:p>
            <a:r>
              <a:rPr lang="en-US" dirty="0">
                <a:latin typeface="Times New Roman" pitchFamily="18" charset="0"/>
                <a:cs typeface="Times New Roman" pitchFamily="18" charset="0"/>
              </a:rPr>
              <a:t>"I love AI"</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 love machine learning"</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 love deep </a:t>
            </a:r>
            <a:r>
              <a:rPr lang="en-US" dirty="0" smtClean="0">
                <a:latin typeface="Times New Roman" pitchFamily="18" charset="0"/>
                <a:cs typeface="Times New Roman" pitchFamily="18" charset="0"/>
              </a:rPr>
              <a:t>learning“</a:t>
            </a:r>
          </a:p>
          <a:p>
            <a:r>
              <a:rPr lang="en-US" b="1" dirty="0" smtClean="0">
                <a:latin typeface="Times New Roman" pitchFamily="18" charset="0"/>
                <a:cs typeface="Times New Roman" pitchFamily="18" charset="0"/>
              </a:rPr>
              <a:t>Calculate Probability :</a:t>
            </a:r>
          </a:p>
          <a:p>
            <a:endParaRPr lang="en-US" b="1" dirty="0">
              <a:latin typeface="Times New Roman" pitchFamily="18" charset="0"/>
              <a:cs typeface="Times New Roman" pitchFamily="18" charset="0"/>
            </a:endParaRPr>
          </a:p>
          <a:p>
            <a:endParaRPr lang="en-IN"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7590" y="4616219"/>
            <a:ext cx="3308458" cy="955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66250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167" y="267749"/>
            <a:ext cx="11521440" cy="6470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47444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What is a large language model?</a:t>
            </a:r>
            <a:endParaRPr lang="en-IN" b="1" u="sng" dirty="0"/>
          </a:p>
        </p:txBody>
      </p:sp>
      <p:sp>
        <p:nvSpPr>
          <p:cNvPr id="3" name="Content Placeholder 2"/>
          <p:cNvSpPr>
            <a:spLocks noGrp="1"/>
          </p:cNvSpPr>
          <p:nvPr>
            <p:ph idx="1"/>
          </p:nvPr>
        </p:nvSpPr>
        <p:spPr/>
        <p:txBody>
          <a:bodyPr>
            <a:normAutofit/>
          </a:bodyPr>
          <a:lstStyle/>
          <a:p>
            <a:pPr algn="just"/>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language </a:t>
            </a:r>
            <a:r>
              <a:rPr lang="en-US" dirty="0" smtClean="0">
                <a:latin typeface="Times New Roman" pitchFamily="18" charset="0"/>
                <a:cs typeface="Times New Roman" pitchFamily="18" charset="0"/>
              </a:rPr>
              <a:t>model is </a:t>
            </a:r>
            <a:r>
              <a:rPr lang="en-US" dirty="0">
                <a:latin typeface="Times New Roman" pitchFamily="18" charset="0"/>
                <a:cs typeface="Times New Roman" pitchFamily="18" charset="0"/>
              </a:rPr>
              <a:t>simply a computational system that can predict the next word from previous words. That is, given a context or prefix of words, a language model assigns a probability distribution over the possible next words</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Traditional n-gram models, such as bigram and trigram models, estimate the probability of a word based on a fixed and limited context of one or two preceding words. In contrast, large language models (LLMs) employ advanced architectures that enable them to capture long-range dependencies, allowing word prediction based on contexts extending to thousands or even tens of thousands of tokens.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8392929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9477" y="291783"/>
            <a:ext cx="7644081" cy="3630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12763" y="4249673"/>
            <a:ext cx="11075963" cy="1384995"/>
          </a:xfrm>
          <a:prstGeom prst="rect">
            <a:avLst/>
          </a:prstGeom>
        </p:spPr>
        <p:txBody>
          <a:bodyPr wrap="square">
            <a:spAutoFit/>
          </a:bodyPr>
          <a:lstStyle/>
          <a:p>
            <a:pPr algn="just"/>
            <a:r>
              <a:rPr lang="en-US" sz="2800" dirty="0">
                <a:latin typeface="Times New Roman" pitchFamily="18" charset="0"/>
                <a:cs typeface="Times New Roman" pitchFamily="18" charset="0"/>
              </a:rPr>
              <a:t>The fundamental intuition of language models is that a model that can predict text (assigning a distribution over following words) can also be used to generate text by sampling from the distribution.</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29771916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381" y="735355"/>
            <a:ext cx="8101477" cy="4591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5755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8357" y="475176"/>
            <a:ext cx="11019692" cy="1384995"/>
          </a:xfrm>
          <a:prstGeom prst="rect">
            <a:avLst/>
          </a:prstGeom>
        </p:spPr>
        <p:txBody>
          <a:bodyPr wrap="square">
            <a:spAutoFit/>
          </a:bodyPr>
          <a:lstStyle/>
          <a:p>
            <a:pPr marL="457200" indent="-457200" algn="just">
              <a:buFont typeface="Arial" pitchFamily="34" charset="0"/>
              <a:buChar char="•"/>
            </a:pPr>
            <a:r>
              <a:rPr lang="en-US" sz="2800" dirty="0">
                <a:latin typeface="Times New Roman" pitchFamily="18" charset="0"/>
                <a:cs typeface="Times New Roman" pitchFamily="18" charset="0"/>
              </a:rPr>
              <a:t>This kind of setting in which we iteratively predict and generate words left-to right from earlier words is often called causal or autoregressive language </a:t>
            </a:r>
            <a:r>
              <a:rPr lang="en-US" sz="2800" dirty="0" smtClean="0">
                <a:latin typeface="Times New Roman" pitchFamily="18" charset="0"/>
                <a:cs typeface="Times New Roman" pitchFamily="18" charset="0"/>
              </a:rPr>
              <a:t>models</a:t>
            </a:r>
            <a:r>
              <a:rPr lang="en-US" sz="2800" dirty="0">
                <a:latin typeface="Times New Roman" pitchFamily="18" charset="0"/>
                <a:cs typeface="Times New Roman" pitchFamily="18" charset="0"/>
              </a:rPr>
              <a:t>. </a:t>
            </a:r>
            <a:endParaRPr lang="en-IN" sz="2800" dirty="0">
              <a:latin typeface="Times New Roman" pitchFamily="18" charset="0"/>
              <a:cs typeface="Times New Roman" pitchFamily="18" charset="0"/>
            </a:endParaRPr>
          </a:p>
        </p:txBody>
      </p:sp>
      <p:sp>
        <p:nvSpPr>
          <p:cNvPr id="5" name="Rectangle 4"/>
          <p:cNvSpPr/>
          <p:nvPr/>
        </p:nvSpPr>
        <p:spPr>
          <a:xfrm>
            <a:off x="1199053" y="2273664"/>
            <a:ext cx="6357574" cy="523220"/>
          </a:xfrm>
          <a:prstGeom prst="rect">
            <a:avLst/>
          </a:prstGeom>
        </p:spPr>
        <p:txBody>
          <a:bodyPr wrap="none">
            <a:spAutoFit/>
          </a:bodyPr>
          <a:lstStyle/>
          <a:p>
            <a:r>
              <a:rPr lang="en-US" sz="2800" b="1" u="sng" dirty="0">
                <a:solidFill>
                  <a:srgbClr val="FF0000"/>
                </a:solidFill>
                <a:latin typeface="Times New Roman" pitchFamily="18" charset="0"/>
                <a:cs typeface="Times New Roman" pitchFamily="18" charset="0"/>
              </a:rPr>
              <a:t>Three architectures for language models</a:t>
            </a:r>
            <a:endParaRPr lang="en-IN" sz="2800" b="1" u="sng" dirty="0">
              <a:solidFill>
                <a:srgbClr val="FF0000"/>
              </a:solidFill>
              <a:latin typeface="Times New Roman" pitchFamily="18" charset="0"/>
              <a:cs typeface="Times New Roman" pitchFamily="18" charset="0"/>
            </a:endParaRPr>
          </a:p>
        </p:txBody>
      </p:sp>
      <p:sp>
        <p:nvSpPr>
          <p:cNvPr id="6" name="Rectangle 5"/>
          <p:cNvSpPr/>
          <p:nvPr/>
        </p:nvSpPr>
        <p:spPr>
          <a:xfrm>
            <a:off x="1199052" y="3102710"/>
            <a:ext cx="10322387" cy="1815882"/>
          </a:xfrm>
          <a:prstGeom prst="rect">
            <a:avLst/>
          </a:prstGeom>
        </p:spPr>
        <p:txBody>
          <a:bodyPr wrap="square">
            <a:spAutoFit/>
          </a:bodyPr>
          <a:lstStyle/>
          <a:p>
            <a:r>
              <a:rPr lang="en-US" sz="2800" dirty="0">
                <a:latin typeface="Times New Roman" pitchFamily="18" charset="0"/>
                <a:cs typeface="Times New Roman" pitchFamily="18" charset="0"/>
              </a:rPr>
              <a:t>The three architectures are </a:t>
            </a:r>
            <a:r>
              <a:rPr lang="en-US" sz="2800" dirty="0" smtClean="0">
                <a:latin typeface="Times New Roman" pitchFamily="18" charset="0"/>
                <a:cs typeface="Times New Roman" pitchFamily="18" charset="0"/>
              </a:rPr>
              <a:t>,</a:t>
            </a:r>
          </a:p>
          <a:p>
            <a:pPr marL="457200" indent="-457200">
              <a:buFont typeface="Arial" pitchFamily="34" charset="0"/>
              <a:buChar char="•"/>
            </a:pPr>
            <a:r>
              <a:rPr lang="en-US" sz="2800" dirty="0" smtClean="0">
                <a:latin typeface="Times New Roman" pitchFamily="18" charset="0"/>
                <a:cs typeface="Times New Roman" pitchFamily="18" charset="0"/>
              </a:rPr>
              <a:t>Encoder</a:t>
            </a:r>
          </a:p>
          <a:p>
            <a:pPr marL="457200" indent="-457200">
              <a:buFont typeface="Arial" pitchFamily="34" charset="0"/>
              <a:buChar char="•"/>
            </a:pPr>
            <a:r>
              <a:rPr lang="en-US" sz="2800" dirty="0" smtClean="0">
                <a:latin typeface="Times New Roman" pitchFamily="18" charset="0"/>
                <a:cs typeface="Times New Roman" pitchFamily="18" charset="0"/>
              </a:rPr>
              <a:t>Decoder</a:t>
            </a:r>
          </a:p>
          <a:p>
            <a:pPr marL="457200" indent="-457200">
              <a:buFont typeface="Arial" pitchFamily="34" charset="0"/>
              <a:buChar char="•"/>
            </a:pPr>
            <a:r>
              <a:rPr lang="en-US" sz="2800" dirty="0" smtClean="0">
                <a:latin typeface="Times New Roman" pitchFamily="18" charset="0"/>
                <a:cs typeface="Times New Roman" pitchFamily="18" charset="0"/>
              </a:rPr>
              <a:t>encoder-decoder</a:t>
            </a:r>
            <a:r>
              <a:rPr lang="en-US" sz="2800" dirty="0">
                <a:latin typeface="Times New Roman" pitchFamily="18" charset="0"/>
                <a:cs typeface="Times New Roman" pitchFamily="18" charset="0"/>
              </a:rPr>
              <a:t>.</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105175688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1189" y="402660"/>
            <a:ext cx="1920719" cy="523220"/>
          </a:xfrm>
          <a:prstGeom prst="rect">
            <a:avLst/>
          </a:prstGeom>
        </p:spPr>
        <p:txBody>
          <a:bodyPr wrap="none">
            <a:spAutoFit/>
          </a:bodyPr>
          <a:lstStyle/>
          <a:p>
            <a:pPr marL="457200" indent="-457200">
              <a:buFont typeface="Wingdings" pitchFamily="2" charset="2"/>
              <a:buChar char="q"/>
            </a:pPr>
            <a:r>
              <a:rPr lang="en-IN" sz="2800" b="1" u="sng" dirty="0">
                <a:solidFill>
                  <a:srgbClr val="FF0000"/>
                </a:solidFill>
                <a:latin typeface="Times New Roman" pitchFamily="18" charset="0"/>
                <a:cs typeface="Times New Roman" pitchFamily="18" charset="0"/>
              </a:rPr>
              <a:t>Decoder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078" y="1444966"/>
            <a:ext cx="3857673" cy="411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256628" y="1295458"/>
            <a:ext cx="6096000" cy="4457952"/>
          </a:xfrm>
          <a:prstGeom prst="rect">
            <a:avLst/>
          </a:prstGeom>
        </p:spPr>
        <p:txBody>
          <a:bodyPr>
            <a:spAutoFit/>
          </a:bodyPr>
          <a:lstStyle/>
          <a:p>
            <a:pPr marL="342900" indent="-342900" algn="just">
              <a:lnSpc>
                <a:spcPct val="150000"/>
              </a:lnSpc>
              <a:buFont typeface="Arial" pitchFamily="34" charset="0"/>
              <a:buChar char="•"/>
            </a:pPr>
            <a:r>
              <a:rPr lang="en-US" sz="2400" dirty="0">
                <a:latin typeface="Times New Roman" pitchFamily="18" charset="0"/>
                <a:cs typeface="Times New Roman" pitchFamily="18" charset="0"/>
              </a:rPr>
              <a:t>The decoder is the architecture we’ve introduced above. It takes as input a series of tokens, and iteratively generates an output token one at a time. The decoder is the architecture used to create large language models like </a:t>
            </a:r>
            <a:r>
              <a:rPr lang="en-US" sz="2400" dirty="0" smtClean="0">
                <a:latin typeface="Times New Roman" pitchFamily="18" charset="0"/>
                <a:cs typeface="Times New Roman" pitchFamily="18" charset="0"/>
              </a:rPr>
              <a:t>GPT.</a:t>
            </a:r>
          </a:p>
          <a:p>
            <a:pPr marL="342900" indent="-342900" algn="just">
              <a:lnSpc>
                <a:spcPct val="150000"/>
              </a:lnSpc>
              <a:buFont typeface="Arial" pitchFamily="34" charset="0"/>
              <a:buChar char="•"/>
            </a:pPr>
            <a:r>
              <a:rPr lang="en-US" sz="2400" dirty="0">
                <a:latin typeface="Times New Roman" pitchFamily="18" charset="0"/>
                <a:cs typeface="Times New Roman" pitchFamily="18" charset="0"/>
              </a:rPr>
              <a:t>The information flow in decoders goes left-to-right, meaning that the model </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54662485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67278" y="360457"/>
            <a:ext cx="1941557" cy="523220"/>
          </a:xfrm>
          <a:prstGeom prst="rect">
            <a:avLst/>
          </a:prstGeom>
        </p:spPr>
        <p:txBody>
          <a:bodyPr wrap="none">
            <a:spAutoFit/>
          </a:bodyPr>
          <a:lstStyle/>
          <a:p>
            <a:pPr marL="457200" indent="-457200">
              <a:buFont typeface="Wingdings" pitchFamily="2" charset="2"/>
              <a:buChar char="q"/>
            </a:pPr>
            <a:r>
              <a:rPr lang="en-IN" sz="2800" b="1" u="sng" dirty="0">
                <a:solidFill>
                  <a:srgbClr val="FF0000"/>
                </a:solidFill>
                <a:latin typeface="Times New Roman" pitchFamily="18" charset="0"/>
                <a:cs typeface="Times New Roman" pitchFamily="18" charset="0"/>
              </a:rPr>
              <a:t>Encoder</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132" y="1322899"/>
            <a:ext cx="4031026" cy="4008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284764" y="1155955"/>
            <a:ext cx="6096000" cy="4093428"/>
          </a:xfrm>
          <a:prstGeom prst="rect">
            <a:avLst/>
          </a:prstGeom>
        </p:spPr>
        <p:txBody>
          <a:bodyPr>
            <a:spAutoFit/>
          </a:bodyPr>
          <a:lstStyle/>
          <a:p>
            <a:pPr marL="285750" indent="-285750" algn="just">
              <a:buFont typeface="Arial" pitchFamily="34" charset="0"/>
              <a:buChar char="•"/>
            </a:pPr>
            <a:r>
              <a:rPr lang="en-US" sz="2000" dirty="0">
                <a:latin typeface="Times New Roman" pitchFamily="18" charset="0"/>
                <a:cs typeface="Times New Roman" pitchFamily="18" charset="0"/>
              </a:rPr>
              <a:t>Encoder architectures take a sequence of tokens as input and produce contextual </a:t>
            </a:r>
            <a:r>
              <a:rPr lang="en-US" sz="2000" dirty="0" err="1" smtClean="0">
                <a:latin typeface="Times New Roman" pitchFamily="18" charset="0"/>
                <a:cs typeface="Times New Roman" pitchFamily="18" charset="0"/>
              </a:rPr>
              <a:t>embeddings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for each token. </a:t>
            </a:r>
            <a:endParaRPr lang="en-US" sz="2000" dirty="0" smtClean="0">
              <a:latin typeface="Times New Roman" pitchFamily="18" charset="0"/>
              <a:cs typeface="Times New Roman" pitchFamily="18" charset="0"/>
            </a:endParaRPr>
          </a:p>
          <a:p>
            <a:pPr marL="285750" indent="-285750" algn="just">
              <a:buFont typeface="Arial" pitchFamily="34" charset="0"/>
              <a:buChar char="•"/>
            </a:pPr>
            <a:r>
              <a:rPr lang="en-US" sz="2000" dirty="0" smtClean="0">
                <a:latin typeface="Times New Roman" pitchFamily="18" charset="0"/>
                <a:cs typeface="Times New Roman" pitchFamily="18" charset="0"/>
              </a:rPr>
              <a:t>These </a:t>
            </a:r>
            <a:r>
              <a:rPr lang="en-US" sz="2000" dirty="0">
                <a:latin typeface="Times New Roman" pitchFamily="18" charset="0"/>
                <a:cs typeface="Times New Roman" pitchFamily="18" charset="0"/>
              </a:rPr>
              <a:t>models are typically trained using a masked language modeling objective, wherein selected tokens are masked and the model learns to predict them by leveraging bidirectional contextual information. Representative models include BERT and </a:t>
            </a:r>
            <a:r>
              <a:rPr lang="en-US" sz="2000" dirty="0" err="1" smtClean="0">
                <a:latin typeface="Times New Roman" pitchFamily="18" charset="0"/>
                <a:cs typeface="Times New Roman" pitchFamily="18" charset="0"/>
              </a:rPr>
              <a:t>RoBERT</a:t>
            </a:r>
            <a:r>
              <a:rPr lang="en-US" sz="2000" dirty="0" smtClean="0">
                <a:latin typeface="Times New Roman" pitchFamily="18" charset="0"/>
                <a:cs typeface="Times New Roman" pitchFamily="18" charset="0"/>
              </a:rPr>
              <a:t>. </a:t>
            </a:r>
          </a:p>
          <a:p>
            <a:pPr marL="285750" indent="-285750" algn="just">
              <a:buFont typeface="Arial" pitchFamily="34" charset="0"/>
              <a:buChar char="•"/>
            </a:pPr>
            <a:r>
              <a:rPr lang="en-US" sz="2000" dirty="0" smtClean="0">
                <a:latin typeface="Times New Roman" pitchFamily="18" charset="0"/>
                <a:cs typeface="Times New Roman" pitchFamily="18" charset="0"/>
              </a:rPr>
              <a:t>Encoder </a:t>
            </a:r>
            <a:r>
              <a:rPr lang="en-US" sz="2000" dirty="0">
                <a:latin typeface="Times New Roman" pitchFamily="18" charset="0"/>
                <a:cs typeface="Times New Roman" pitchFamily="18" charset="0"/>
              </a:rPr>
              <a:t>models are not inherently generative; rather, they are widely applied to discriminative tasks such as text classification, where they are fine-tuned on labeled datasets to predict target outputs such as sentiment, topic, or other categories.</a:t>
            </a:r>
          </a:p>
        </p:txBody>
      </p:sp>
    </p:spTree>
    <p:extLst>
      <p:ext uri="{BB962C8B-B14F-4D97-AF65-F5344CB8AC3E}">
        <p14:creationId xmlns:p14="http://schemas.microsoft.com/office/powerpoint/2010/main" val="265793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56491" y="756530"/>
            <a:ext cx="11272912" cy="830997"/>
          </a:xfrm>
          <a:prstGeom prst="rect">
            <a:avLst/>
          </a:prstGeom>
        </p:spPr>
        <p:txBody>
          <a:bodyPr wrap="square">
            <a:spAutoFit/>
          </a:bodyPr>
          <a:lstStyle/>
          <a:p>
            <a:r>
              <a:rPr lang="en-US" sz="2400" dirty="0"/>
              <a:t>A </a:t>
            </a:r>
            <a:r>
              <a:rPr lang="en-US" sz="2400" b="1" dirty="0"/>
              <a:t>contextual embedding</a:t>
            </a:r>
            <a:r>
              <a:rPr lang="en-US" sz="2400" dirty="0"/>
              <a:t> means that the </a:t>
            </a:r>
            <a:r>
              <a:rPr lang="en-US" sz="2400" i="1" dirty="0"/>
              <a:t>same word gets different vector representations depending on its context</a:t>
            </a:r>
            <a:r>
              <a:rPr lang="en-US" sz="2400" dirty="0"/>
              <a: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366" y="2301777"/>
            <a:ext cx="5348662" cy="3029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06687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93673" y="460168"/>
            <a:ext cx="6927272" cy="5509200"/>
          </a:xfrm>
          <a:prstGeom prst="rect">
            <a:avLst/>
          </a:prstGeom>
        </p:spPr>
        <p:txBody>
          <a:bodyPr wrap="square">
            <a:spAutoFit/>
          </a:bodyPr>
          <a:lstStyle/>
          <a:p>
            <a:pPr marL="285750" indent="-285750" algn="just">
              <a:buFont typeface="Arial" pitchFamily="34" charset="0"/>
              <a:buChar char="•"/>
            </a:pPr>
            <a:r>
              <a:rPr lang="en-US" sz="2200" dirty="0">
                <a:latin typeface="Times New Roman" pitchFamily="18" charset="0"/>
                <a:cs typeface="Times New Roman" pitchFamily="18" charset="0"/>
              </a:rPr>
              <a:t>The encoder-decoder takes as input a sequence of tokens and outputs a series of tokens. </a:t>
            </a:r>
            <a:endParaRPr lang="en-US" sz="2200" dirty="0" smtClean="0">
              <a:latin typeface="Times New Roman" pitchFamily="18" charset="0"/>
              <a:cs typeface="Times New Roman" pitchFamily="18" charset="0"/>
            </a:endParaRPr>
          </a:p>
          <a:p>
            <a:pPr marL="285750" indent="-285750" algn="just">
              <a:buFont typeface="Arial" pitchFamily="34" charset="0"/>
              <a:buChar char="•"/>
            </a:pPr>
            <a:r>
              <a:rPr lang="en-US" sz="2200" dirty="0" smtClean="0">
                <a:latin typeface="Times New Roman" pitchFamily="18" charset="0"/>
                <a:cs typeface="Times New Roman" pitchFamily="18" charset="0"/>
              </a:rPr>
              <a:t>What </a:t>
            </a:r>
            <a:r>
              <a:rPr lang="en-US" sz="2200" dirty="0">
                <a:latin typeface="Times New Roman" pitchFamily="18" charset="0"/>
                <a:cs typeface="Times New Roman" pitchFamily="18" charset="0"/>
              </a:rPr>
              <a:t>makes it different than the decoder-only models, is that an encoder decoder has a much looser relationship between the input tokens and the output tokens, and they are used to map between different kinds of tokens. </a:t>
            </a:r>
            <a:endParaRPr lang="en-US" sz="2200" dirty="0" smtClean="0">
              <a:latin typeface="Times New Roman" pitchFamily="18" charset="0"/>
              <a:cs typeface="Times New Roman" pitchFamily="18" charset="0"/>
            </a:endParaRPr>
          </a:p>
          <a:p>
            <a:pPr marL="285750" indent="-285750" algn="just">
              <a:buFont typeface="Arial" pitchFamily="34" charset="0"/>
              <a:buChar char="•"/>
            </a:pPr>
            <a:r>
              <a:rPr lang="en-US" sz="2200" dirty="0" smtClean="0">
                <a:latin typeface="Times New Roman" pitchFamily="18" charset="0"/>
                <a:cs typeface="Times New Roman" pitchFamily="18" charset="0"/>
              </a:rPr>
              <a:t>That </a:t>
            </a:r>
            <a:r>
              <a:rPr lang="en-US" sz="2200" dirty="0">
                <a:latin typeface="Times New Roman" pitchFamily="18" charset="0"/>
                <a:cs typeface="Times New Roman" pitchFamily="18" charset="0"/>
              </a:rPr>
              <a:t>is, in an encoder-decoder, the output tokens might be from a very different token-set or be a much longer or shorter sequence than the input token sequence. </a:t>
            </a:r>
            <a:endParaRPr lang="en-US" sz="2200" dirty="0" smtClean="0">
              <a:latin typeface="Times New Roman" pitchFamily="18" charset="0"/>
              <a:cs typeface="Times New Roman" pitchFamily="18" charset="0"/>
            </a:endParaRPr>
          </a:p>
          <a:p>
            <a:pPr marL="285750" indent="-285750" algn="just">
              <a:buFont typeface="Arial" pitchFamily="34" charset="0"/>
              <a:buChar char="•"/>
            </a:pPr>
            <a:r>
              <a:rPr lang="en-US" sz="2200" dirty="0" smtClean="0">
                <a:latin typeface="Times New Roman" pitchFamily="18" charset="0"/>
                <a:cs typeface="Times New Roman" pitchFamily="18" charset="0"/>
              </a:rPr>
              <a:t>For </a:t>
            </a:r>
            <a:r>
              <a:rPr lang="en-US" sz="2200" dirty="0">
                <a:latin typeface="Times New Roman" pitchFamily="18" charset="0"/>
                <a:cs typeface="Times New Roman" pitchFamily="18" charset="0"/>
              </a:rPr>
              <a:t>example encoder-decoder architectures are used for machine translation, where the input </a:t>
            </a:r>
            <a:r>
              <a:rPr lang="en-US" sz="2200" dirty="0" smtClean="0">
                <a:latin typeface="Times New Roman" pitchFamily="18" charset="0"/>
                <a:cs typeface="Times New Roman" pitchFamily="18" charset="0"/>
              </a:rPr>
              <a:t>tokens </a:t>
            </a:r>
            <a:r>
              <a:rPr lang="en-US" sz="2200" dirty="0">
                <a:latin typeface="Times New Roman" pitchFamily="18" charset="0"/>
                <a:cs typeface="Times New Roman" pitchFamily="18" charset="0"/>
              </a:rPr>
              <a:t>are in one language and the output tokens (probably more or less of them) are in another language. </a:t>
            </a:r>
            <a:endParaRPr lang="en-US" sz="2200" dirty="0" smtClean="0">
              <a:latin typeface="Times New Roman" pitchFamily="18" charset="0"/>
              <a:cs typeface="Times New Roman" pitchFamily="18" charset="0"/>
            </a:endParaRPr>
          </a:p>
          <a:p>
            <a:pPr marL="285750" indent="-285750" algn="just">
              <a:buFont typeface="Arial" pitchFamily="34" charset="0"/>
              <a:buChar char="•"/>
            </a:pPr>
            <a:r>
              <a:rPr lang="en-US" sz="2200" dirty="0" smtClean="0">
                <a:latin typeface="Times New Roman" pitchFamily="18" charset="0"/>
                <a:cs typeface="Times New Roman" pitchFamily="18" charset="0"/>
              </a:rPr>
              <a:t>Encoder-decoder </a:t>
            </a:r>
            <a:r>
              <a:rPr lang="en-US" sz="2200" dirty="0">
                <a:latin typeface="Times New Roman" pitchFamily="18" charset="0"/>
                <a:cs typeface="Times New Roman" pitchFamily="18" charset="0"/>
              </a:rPr>
              <a:t>architectures are also used for speech </a:t>
            </a:r>
            <a:r>
              <a:rPr lang="en-US" sz="2200" dirty="0" smtClean="0">
                <a:latin typeface="Times New Roman" pitchFamily="18" charset="0"/>
                <a:cs typeface="Times New Roman" pitchFamily="18" charset="0"/>
              </a:rPr>
              <a:t>recognition</a:t>
            </a:r>
            <a:r>
              <a:rPr lang="en-US" sz="2200" dirty="0">
                <a:latin typeface="Times New Roman" pitchFamily="18" charset="0"/>
                <a:cs typeface="Times New Roman" pitchFamily="18" charset="0"/>
              </a:rPr>
              <a:t>, where the input is tokens representing speech, and the output is tokens </a:t>
            </a:r>
            <a:r>
              <a:rPr lang="en-US" sz="2200" dirty="0" smtClean="0">
                <a:latin typeface="Times New Roman" pitchFamily="18" charset="0"/>
                <a:cs typeface="Times New Roman" pitchFamily="18" charset="0"/>
              </a:rPr>
              <a:t>representing </a:t>
            </a:r>
            <a:r>
              <a:rPr lang="en-US" sz="2200" dirty="0">
                <a:latin typeface="Times New Roman" pitchFamily="18" charset="0"/>
                <a:cs typeface="Times New Roman" pitchFamily="18" charset="0"/>
              </a:rPr>
              <a:t>text. </a:t>
            </a:r>
            <a:endParaRPr lang="en-IN"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21" y="1251240"/>
            <a:ext cx="3905792" cy="3750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670856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9545" y="350743"/>
            <a:ext cx="10850880" cy="5573129"/>
          </a:xfrm>
          <a:prstGeom prst="rect">
            <a:avLst/>
          </a:prstGeom>
        </p:spPr>
        <p:txBody>
          <a:bodyPr wrap="square">
            <a:spAutoFit/>
          </a:bodyPr>
          <a:lstStyle/>
          <a:p>
            <a:pPr marL="457200" indent="-457200" algn="just">
              <a:lnSpc>
                <a:spcPct val="150000"/>
              </a:lnSpc>
              <a:buFont typeface="Arial" pitchFamily="34" charset="0"/>
              <a:buChar char="•"/>
            </a:pPr>
            <a:r>
              <a:rPr lang="en-US" sz="2400" dirty="0">
                <a:latin typeface="Times New Roman" pitchFamily="18" charset="0"/>
                <a:cs typeface="Times New Roman" pitchFamily="18" charset="0"/>
              </a:rPr>
              <a:t>These three architectures can be built out of many kinds of neural networks. The most widely used network type today is the </a:t>
            </a:r>
            <a:r>
              <a:rPr lang="en-US" sz="2400" b="1" u="sng" dirty="0" smtClean="0">
                <a:solidFill>
                  <a:srgbClr val="FF0000"/>
                </a:solidFill>
                <a:latin typeface="Times New Roman" pitchFamily="18" charset="0"/>
                <a:cs typeface="Times New Roman" pitchFamily="18" charset="0"/>
              </a:rPr>
              <a:t>transformer.</a:t>
            </a:r>
          </a:p>
          <a:p>
            <a:pPr marL="457200" indent="-457200" algn="just">
              <a:lnSpc>
                <a:spcPct val="150000"/>
              </a:lnSpc>
              <a:buFont typeface="Arial" pitchFamily="34" charset="0"/>
              <a:buChar char="•"/>
            </a:pPr>
            <a:r>
              <a:rPr lang="en-US" sz="2400" dirty="0">
                <a:latin typeface="Times New Roman" pitchFamily="18" charset="0"/>
                <a:cs typeface="Times New Roman" pitchFamily="18" charset="0"/>
              </a:rPr>
              <a:t>Transformer is a neural network architecture that has fundamentally changed the approach to Artificial Intelligence. </a:t>
            </a:r>
          </a:p>
          <a:p>
            <a:pPr marL="457200" indent="-457200" algn="just">
              <a:lnSpc>
                <a:spcPct val="150000"/>
              </a:lnSpc>
              <a:buFont typeface="Arial" pitchFamily="34" charset="0"/>
              <a:buChar char="•"/>
            </a:pPr>
            <a:r>
              <a:rPr lang="en-US" sz="2400" dirty="0">
                <a:latin typeface="Times New Roman" pitchFamily="18" charset="0"/>
                <a:cs typeface="Times New Roman" pitchFamily="18" charset="0"/>
              </a:rPr>
              <a:t>Beyond text, Transformer is also applied in </a:t>
            </a:r>
            <a:r>
              <a:rPr lang="en-US" sz="2400" dirty="0">
                <a:latin typeface="Times New Roman" pitchFamily="18" charset="0"/>
                <a:cs typeface="Times New Roman" pitchFamily="18" charset="0"/>
                <a:hlinkClick r:id="rId2" tooltip="Hugging Face"/>
              </a:rPr>
              <a:t>audio generation</a:t>
            </a:r>
            <a:r>
              <a:rPr lang="en-US" sz="2400" dirty="0">
                <a:latin typeface="Times New Roman" pitchFamily="18" charset="0"/>
                <a:cs typeface="Times New Roman" pitchFamily="18" charset="0"/>
              </a:rPr>
              <a:t>, </a:t>
            </a:r>
            <a:r>
              <a:rPr lang="en-US" sz="2400" dirty="0">
                <a:latin typeface="Times New Roman" pitchFamily="18" charset="0"/>
                <a:cs typeface="Times New Roman" pitchFamily="18" charset="0"/>
                <a:hlinkClick r:id="rId3" tooltip="Hugging Face"/>
              </a:rPr>
              <a:t>image recognition</a:t>
            </a:r>
            <a:r>
              <a:rPr lang="en-US" sz="2400" dirty="0">
                <a:latin typeface="Times New Roman" pitchFamily="18" charset="0"/>
                <a:cs typeface="Times New Roman" pitchFamily="18" charset="0"/>
              </a:rPr>
              <a:t>, </a:t>
            </a:r>
            <a:r>
              <a:rPr lang="en-US" sz="2400" dirty="0">
                <a:latin typeface="Times New Roman" pitchFamily="18" charset="0"/>
                <a:cs typeface="Times New Roman" pitchFamily="18" charset="0"/>
                <a:hlinkClick r:id="rId4" tooltip="eLife"/>
              </a:rPr>
              <a:t>protein structure prediction</a:t>
            </a:r>
            <a:r>
              <a:rPr lang="en-US" sz="2400" dirty="0">
                <a:latin typeface="Times New Roman" pitchFamily="18" charset="0"/>
                <a:cs typeface="Times New Roman" pitchFamily="18" charset="0"/>
              </a:rPr>
              <a:t>, and even </a:t>
            </a:r>
            <a:r>
              <a:rPr lang="en-US" sz="2400" dirty="0">
                <a:latin typeface="Times New Roman" pitchFamily="18" charset="0"/>
                <a:cs typeface="Times New Roman" pitchFamily="18" charset="0"/>
                <a:hlinkClick r:id="rId5" tooltip="Deep Learning AI"/>
              </a:rPr>
              <a:t>game playing</a:t>
            </a:r>
            <a:r>
              <a:rPr lang="en-US" sz="2400" dirty="0">
                <a:latin typeface="Times New Roman" pitchFamily="18" charset="0"/>
                <a:cs typeface="Times New Roman" pitchFamily="18" charset="0"/>
              </a:rPr>
              <a:t>, demonstrating its versatility across numerous domains.</a:t>
            </a:r>
          </a:p>
          <a:p>
            <a:pPr marL="457200" indent="-457200" algn="just">
              <a:lnSpc>
                <a:spcPct val="150000"/>
              </a:lnSpc>
              <a:buFont typeface="Arial" pitchFamily="34" charset="0"/>
              <a:buChar char="•"/>
            </a:pPr>
            <a:r>
              <a:rPr lang="en-US" sz="2400" dirty="0">
                <a:latin typeface="Times New Roman" pitchFamily="18" charset="0"/>
                <a:cs typeface="Times New Roman" pitchFamily="18" charset="0"/>
              </a:rPr>
              <a:t>The core innovation and power of Transformers lie in their use of self-attention mechanism, which allows them to process entire sequences and capture long-range dependencies more effectively than previous architectures.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7979455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7997" y="430795"/>
            <a:ext cx="4727513" cy="584775"/>
          </a:xfrm>
          <a:prstGeom prst="rect">
            <a:avLst/>
          </a:prstGeom>
        </p:spPr>
        <p:txBody>
          <a:bodyPr wrap="none">
            <a:spAutoFit/>
          </a:bodyPr>
          <a:lstStyle/>
          <a:p>
            <a:r>
              <a:rPr lang="en-IN" sz="3200" b="1" u="sng" dirty="0">
                <a:solidFill>
                  <a:srgbClr val="FF0000"/>
                </a:solidFill>
                <a:latin typeface="Times New Roman" pitchFamily="18" charset="0"/>
                <a:cs typeface="Times New Roman" pitchFamily="18" charset="0"/>
              </a:rPr>
              <a:t>Transformer Architecture</a:t>
            </a:r>
          </a:p>
        </p:txBody>
      </p:sp>
      <p:sp>
        <p:nvSpPr>
          <p:cNvPr id="5" name="Rectangle 4"/>
          <p:cNvSpPr/>
          <p:nvPr/>
        </p:nvSpPr>
        <p:spPr>
          <a:xfrm>
            <a:off x="887045" y="1296239"/>
            <a:ext cx="10991557" cy="6370975"/>
          </a:xfrm>
          <a:prstGeom prst="rect">
            <a:avLst/>
          </a:prstGeom>
        </p:spPr>
        <p:txBody>
          <a:bodyPr wrap="square">
            <a:spAutoFit/>
          </a:bodyPr>
          <a:lstStyle/>
          <a:p>
            <a:pPr marL="342900" indent="-342900" algn="just">
              <a:buFont typeface="+mj-lt"/>
              <a:buAutoNum type="arabicPeriod"/>
            </a:pPr>
            <a:r>
              <a:rPr lang="en-US" sz="2400" b="1" u="sng" dirty="0">
                <a:latin typeface="Times New Roman" pitchFamily="18" charset="0"/>
                <a:cs typeface="Times New Roman" pitchFamily="18" charset="0"/>
              </a:rPr>
              <a:t>Embedding</a:t>
            </a:r>
            <a:r>
              <a:rPr lang="en-US" sz="2400" u="sng" dirty="0">
                <a:latin typeface="Times New Roman" pitchFamily="18" charset="0"/>
                <a:cs typeface="Times New Roman" pitchFamily="18" charset="0"/>
              </a:rPr>
              <a:t>:</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marL="342900" indent="-342900" algn="just">
              <a:buFont typeface="+mj-lt"/>
              <a:buAutoNum type="arabicPeriod"/>
            </a:pPr>
            <a:endParaRPr lang="en-US" sz="2400" dirty="0">
              <a:latin typeface="Times New Roman" pitchFamily="18" charset="0"/>
              <a:cs typeface="Times New Roman" pitchFamily="18" charset="0"/>
            </a:endParaRPr>
          </a:p>
          <a:p>
            <a:pPr marL="342900" indent="-342900" algn="just">
              <a:buFont typeface="Arial" panose="020B0604020202020204" pitchFamily="34" charset="0"/>
              <a:buChar char="•"/>
            </a:pPr>
            <a:r>
              <a:rPr lang="en-US" sz="2400" dirty="0" smtClean="0">
                <a:latin typeface="Times New Roman" pitchFamily="18" charset="0"/>
                <a:cs typeface="Times New Roman" pitchFamily="18" charset="0"/>
              </a:rPr>
              <a:t>Text </a:t>
            </a:r>
            <a:r>
              <a:rPr lang="en-US" sz="2400" dirty="0">
                <a:latin typeface="Times New Roman" pitchFamily="18" charset="0"/>
                <a:cs typeface="Times New Roman" pitchFamily="18" charset="0"/>
              </a:rPr>
              <a:t>input is divided into smaller units called tokens, which can be words or </a:t>
            </a:r>
            <a:r>
              <a:rPr lang="en-US" sz="2400" dirty="0" err="1">
                <a:latin typeface="Times New Roman" pitchFamily="18" charset="0"/>
                <a:cs typeface="Times New Roman" pitchFamily="18" charset="0"/>
              </a:rPr>
              <a:t>subwords</a:t>
            </a:r>
            <a:r>
              <a:rPr lang="en-US" sz="2400" dirty="0">
                <a:latin typeface="Times New Roman" pitchFamily="18" charset="0"/>
                <a:cs typeface="Times New Roman" pitchFamily="18" charset="0"/>
              </a:rPr>
              <a:t>. These tokens are converted into numerical vectors called </a:t>
            </a:r>
            <a:r>
              <a:rPr lang="en-US" sz="2400" dirty="0" err="1" smtClean="0">
                <a:latin typeface="Times New Roman" pitchFamily="18" charset="0"/>
                <a:cs typeface="Times New Roman" pitchFamily="18" charset="0"/>
              </a:rPr>
              <a:t>embeddings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which capture the semantic meaning of words</a:t>
            </a:r>
            <a:r>
              <a:rPr lang="en-US" sz="2400" dirty="0" smtClean="0">
                <a:latin typeface="Times New Roman" pitchFamily="18" charset="0"/>
                <a:cs typeface="Times New Roman" pitchFamily="18" charset="0"/>
              </a:rPr>
              <a:t>.</a:t>
            </a:r>
          </a:p>
          <a:p>
            <a:pPr marL="342900" lvl="0" indent="-342900" algn="just">
              <a:buFont typeface="Arial" panose="020B0604020202020204" pitchFamily="34" charset="0"/>
              <a:buChar char="•"/>
            </a:pPr>
            <a:r>
              <a:rPr lang="en-US" altLang="en-US" sz="2400" dirty="0">
                <a:latin typeface="Times New Roman" pitchFamily="18" charset="0"/>
                <a:cs typeface="Times New Roman" pitchFamily="18" charset="0"/>
              </a:rPr>
              <a:t>Let's say you want to generate text using a Transformer model. You add the prompt like this one: “</a:t>
            </a:r>
            <a:r>
              <a:rPr lang="en-US" altLang="en-US" sz="2400"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Data visualization empowers users to</a:t>
            </a:r>
            <a:r>
              <a:rPr lang="en-US" altLang="en-US" sz="2400" dirty="0">
                <a:latin typeface="Times New Roman" pitchFamily="18" charset="0"/>
                <a:cs typeface="Times New Roman" pitchFamily="18" charset="0"/>
              </a:rPr>
              <a:t>”. This input needs to be converted into a format that the model can understand and process. That is where embedding comes in: it transforms the text into a numerical representation that the model can work with. To convert a prompt into embedding, we need to </a:t>
            </a:r>
            <a:endParaRPr lang="en-US" altLang="en-US" sz="2400" dirty="0" smtClean="0">
              <a:latin typeface="Times New Roman" pitchFamily="18" charset="0"/>
              <a:cs typeface="Times New Roman" pitchFamily="18" charset="0"/>
            </a:endParaRPr>
          </a:p>
          <a:p>
            <a:pPr marL="342900" lvl="0" indent="-342900" algn="just">
              <a:buFont typeface="Arial" panose="020B0604020202020204" pitchFamily="34" charset="0"/>
              <a:buChar char="•"/>
            </a:pPr>
            <a:r>
              <a:rPr lang="en-US" altLang="en-US" sz="2400" dirty="0" smtClean="0">
                <a:latin typeface="Times New Roman" pitchFamily="18" charset="0"/>
                <a:cs typeface="Times New Roman" pitchFamily="18" charset="0"/>
              </a:rPr>
              <a:t>1</a:t>
            </a:r>
            <a:r>
              <a:rPr lang="en-US" altLang="en-US" sz="2400" dirty="0">
                <a:latin typeface="Times New Roman" pitchFamily="18" charset="0"/>
                <a:cs typeface="Times New Roman" pitchFamily="18" charset="0"/>
              </a:rPr>
              <a:t>) tokenize the input, </a:t>
            </a:r>
            <a:endParaRPr lang="en-US" altLang="en-US" sz="2400" dirty="0" smtClean="0">
              <a:latin typeface="Times New Roman" pitchFamily="18" charset="0"/>
              <a:cs typeface="Times New Roman" pitchFamily="18" charset="0"/>
            </a:endParaRPr>
          </a:p>
          <a:p>
            <a:pPr marL="342900" lvl="0" indent="-342900" algn="just">
              <a:buFont typeface="Arial" panose="020B0604020202020204" pitchFamily="34" charset="0"/>
              <a:buChar char="•"/>
            </a:pPr>
            <a:r>
              <a:rPr lang="en-US" altLang="en-US" sz="2400" dirty="0" smtClean="0">
                <a:latin typeface="Times New Roman" pitchFamily="18" charset="0"/>
                <a:cs typeface="Times New Roman" pitchFamily="18" charset="0"/>
              </a:rPr>
              <a:t>2</a:t>
            </a:r>
            <a:r>
              <a:rPr lang="en-US" altLang="en-US" sz="2400" dirty="0">
                <a:latin typeface="Times New Roman" pitchFamily="18" charset="0"/>
                <a:cs typeface="Times New Roman" pitchFamily="18" charset="0"/>
              </a:rPr>
              <a:t>) obtain token </a:t>
            </a:r>
            <a:r>
              <a:rPr lang="en-US" altLang="en-US" sz="2400" dirty="0" err="1">
                <a:latin typeface="Times New Roman" pitchFamily="18" charset="0"/>
                <a:cs typeface="Times New Roman" pitchFamily="18" charset="0"/>
              </a:rPr>
              <a:t>embeddings</a:t>
            </a:r>
            <a:r>
              <a:rPr lang="en-US" altLang="en-US" sz="2400" dirty="0">
                <a:latin typeface="Times New Roman" pitchFamily="18" charset="0"/>
                <a:cs typeface="Times New Roman" pitchFamily="18" charset="0"/>
              </a:rPr>
              <a:t>, </a:t>
            </a:r>
            <a:endParaRPr lang="en-US" altLang="en-US" sz="2400" dirty="0" smtClean="0">
              <a:latin typeface="Times New Roman" pitchFamily="18" charset="0"/>
              <a:cs typeface="Times New Roman" pitchFamily="18" charset="0"/>
            </a:endParaRPr>
          </a:p>
          <a:p>
            <a:pPr marL="342900" lvl="0" indent="-342900" algn="just">
              <a:buFont typeface="Arial" panose="020B0604020202020204" pitchFamily="34" charset="0"/>
              <a:buChar char="•"/>
            </a:pPr>
            <a:r>
              <a:rPr lang="en-US" altLang="en-US" sz="2400" dirty="0" smtClean="0">
                <a:latin typeface="Times New Roman" pitchFamily="18" charset="0"/>
                <a:cs typeface="Times New Roman" pitchFamily="18" charset="0"/>
              </a:rPr>
              <a:t>3</a:t>
            </a:r>
            <a:r>
              <a:rPr lang="en-US" altLang="en-US" sz="2400" dirty="0">
                <a:latin typeface="Times New Roman" pitchFamily="18" charset="0"/>
                <a:cs typeface="Times New Roman" pitchFamily="18" charset="0"/>
              </a:rPr>
              <a:t>) add positional information, and finally </a:t>
            </a:r>
            <a:endParaRPr lang="en-US" altLang="en-US" sz="2400" dirty="0" smtClean="0">
              <a:latin typeface="Times New Roman" pitchFamily="18" charset="0"/>
              <a:cs typeface="Times New Roman" pitchFamily="18" charset="0"/>
            </a:endParaRPr>
          </a:p>
          <a:p>
            <a:pPr marL="342900" lvl="0" indent="-342900" algn="just">
              <a:buFont typeface="Arial" panose="020B0604020202020204" pitchFamily="34" charset="0"/>
              <a:buChar char="•"/>
            </a:pPr>
            <a:r>
              <a:rPr lang="en-US" altLang="en-US" sz="2400" dirty="0" smtClean="0">
                <a:latin typeface="Times New Roman" pitchFamily="18" charset="0"/>
                <a:cs typeface="Times New Roman" pitchFamily="18" charset="0"/>
              </a:rPr>
              <a:t>4</a:t>
            </a:r>
            <a:r>
              <a:rPr lang="en-US" altLang="en-US" sz="2400" dirty="0">
                <a:latin typeface="Times New Roman" pitchFamily="18" charset="0"/>
                <a:cs typeface="Times New Roman" pitchFamily="18" charset="0"/>
              </a:rPr>
              <a:t>) add up token and position encodings to get the final embedding. Let’s see how each of these steps is done. </a:t>
            </a:r>
          </a:p>
          <a:p>
            <a:pPr marL="342900" indent="-342900" algn="just">
              <a:buFont typeface="+mj-lt"/>
              <a:buAutoNum type="arabicPeriod"/>
            </a:pPr>
            <a:endParaRPr lang="en-US" sz="2400" dirty="0" smtClean="0">
              <a:latin typeface="Times New Roman" pitchFamily="18" charset="0"/>
              <a:cs typeface="Times New Roman" pitchFamily="18" charset="0"/>
            </a:endParaRPr>
          </a:p>
          <a:p>
            <a:pPr marL="342900" indent="-342900" algn="just">
              <a:buFont typeface="+mj-lt"/>
              <a:buAutoNum type="arabicPeriod"/>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6171307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7200" y="826062"/>
            <a:ext cx="10718800" cy="5737298"/>
          </a:xfrm>
          <a:prstGeom prst="rect">
            <a:avLst/>
          </a:prstGeom>
        </p:spPr>
      </p:pic>
    </p:spTree>
    <p:extLst>
      <p:ext uri="{BB962C8B-B14F-4D97-AF65-F5344CB8AC3E}">
        <p14:creationId xmlns:p14="http://schemas.microsoft.com/office/powerpoint/2010/main" val="7506505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b="1" u="sng" dirty="0">
                <a:solidFill>
                  <a:schemeClr val="accent6">
                    <a:lumMod val="75000"/>
                  </a:schemeClr>
                </a:solidFill>
                <a:effectLst>
                  <a:outerShdw blurRad="38100" dist="38100" dir="2700000" algn="tl">
                    <a:srgbClr val="000000">
                      <a:alpha val="43137"/>
                    </a:srgbClr>
                  </a:outerShdw>
                </a:effectLst>
              </a:rPr>
              <a:t>Step 1: Tokenization</a:t>
            </a:r>
            <a:r>
              <a:rPr lang="en-IN" dirty="0">
                <a:solidFill>
                  <a:schemeClr val="accent6">
                    <a:lumMod val="75000"/>
                  </a:schemeClr>
                </a:solidFill>
              </a:rPr>
              <a:t/>
            </a:r>
            <a:br>
              <a:rPr lang="en-IN" dirty="0">
                <a:solidFill>
                  <a:schemeClr val="accent6">
                    <a:lumMod val="75000"/>
                  </a:schemeClr>
                </a:solidFill>
              </a:rPr>
            </a:br>
            <a:endParaRPr lang="en-IN" dirty="0">
              <a:solidFill>
                <a:schemeClr val="accent6">
                  <a:lumMod val="75000"/>
                </a:schemeClr>
              </a:solidFill>
            </a:endParaRPr>
          </a:p>
        </p:txBody>
      </p:sp>
      <p:sp>
        <p:nvSpPr>
          <p:cNvPr id="5" name="Rectangle 4"/>
          <p:cNvSpPr/>
          <p:nvPr/>
        </p:nvSpPr>
        <p:spPr>
          <a:xfrm>
            <a:off x="838200" y="1164719"/>
            <a:ext cx="10601960" cy="3416320"/>
          </a:xfrm>
          <a:prstGeom prst="rect">
            <a:avLst/>
          </a:prstGeom>
        </p:spPr>
        <p:txBody>
          <a:bodyPr wrap="square">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400" dirty="0">
                <a:latin typeface="Times New Roman" pitchFamily="18" charset="0"/>
                <a:cs typeface="Times New Roman" pitchFamily="18" charset="0"/>
              </a:rPr>
              <a:t>Tokenization is the process of breaking down the input text into smaller, more manageable pieces called tokens. </a:t>
            </a:r>
            <a:endParaRPr lang="en-US" altLang="en-US" sz="2400" dirty="0" smtClean="0">
              <a:latin typeface="Times New Roman" pitchFamily="18" charset="0"/>
              <a:cs typeface="Times New Roman"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smtClean="0">
                <a:latin typeface="Times New Roman" pitchFamily="18" charset="0"/>
                <a:cs typeface="Times New Roman" pitchFamily="18" charset="0"/>
              </a:rPr>
              <a:t>These </a:t>
            </a:r>
            <a:r>
              <a:rPr lang="en-US" altLang="en-US" sz="2400" dirty="0">
                <a:latin typeface="Times New Roman" pitchFamily="18" charset="0"/>
                <a:cs typeface="Times New Roman" pitchFamily="18" charset="0"/>
              </a:rPr>
              <a:t>tokens can be a word or a </a:t>
            </a:r>
            <a:r>
              <a:rPr lang="en-US" altLang="en-US" sz="2400" dirty="0" err="1">
                <a:latin typeface="Times New Roman" pitchFamily="18" charset="0"/>
                <a:cs typeface="Times New Roman" pitchFamily="18" charset="0"/>
              </a:rPr>
              <a:t>subword</a:t>
            </a:r>
            <a:r>
              <a:rPr lang="en-US" altLang="en-US" sz="2400" dirty="0">
                <a:latin typeface="Times New Roman" pitchFamily="18" charset="0"/>
                <a:cs typeface="Times New Roman" pitchFamily="18" charset="0"/>
              </a:rPr>
              <a:t>. </a:t>
            </a:r>
            <a:endParaRPr lang="en-US" altLang="en-US" sz="2400" dirty="0" smtClean="0">
              <a:latin typeface="Times New Roman" pitchFamily="18" charset="0"/>
              <a:cs typeface="Times New Roman"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smtClean="0">
                <a:latin typeface="Times New Roman" pitchFamily="18" charset="0"/>
                <a:cs typeface="Times New Roman" pitchFamily="18" charset="0"/>
              </a:rPr>
              <a:t>The </a:t>
            </a:r>
            <a:r>
              <a:rPr lang="en-US" altLang="en-US" sz="2400" dirty="0">
                <a:latin typeface="Times New Roman" pitchFamily="18" charset="0"/>
                <a:cs typeface="Times New Roman" pitchFamily="18" charset="0"/>
              </a:rPr>
              <a:t>words "Data" and "visualization" correspond to unique tokens, while the word "empowers" is split into two tokens. </a:t>
            </a:r>
            <a:endParaRPr lang="en-US" altLang="en-US" sz="2400" dirty="0" smtClean="0">
              <a:latin typeface="Times New Roman" pitchFamily="18" charset="0"/>
              <a:cs typeface="Times New Roman"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dirty="0" smtClean="0">
                <a:latin typeface="Times New Roman" pitchFamily="18" charset="0"/>
                <a:cs typeface="Times New Roman" pitchFamily="18" charset="0"/>
              </a:rPr>
              <a:t>The </a:t>
            </a:r>
            <a:r>
              <a:rPr lang="en-US" altLang="en-US" sz="2400" dirty="0">
                <a:latin typeface="Times New Roman" pitchFamily="18" charset="0"/>
                <a:cs typeface="Times New Roman" pitchFamily="18" charset="0"/>
              </a:rPr>
              <a:t>full vocabulary of tokens is decided before training the model: GPT-2's vocabulary has 50,257 unique tokens</a:t>
            </a:r>
            <a:r>
              <a:rPr lang="en-US" altLang="en-US" sz="2400" dirty="0" smtClean="0">
                <a:latin typeface="Times New Roman" pitchFamily="18" charset="0"/>
                <a:cs typeface="Times New Roman" pitchFamily="18" charset="0"/>
              </a:rPr>
              <a:t>.</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smtClean="0">
                <a:latin typeface="Times New Roman" pitchFamily="18" charset="0"/>
                <a:cs typeface="Times New Roman" pitchFamily="18" charset="0"/>
              </a:rPr>
              <a:t>Now </a:t>
            </a:r>
            <a:r>
              <a:rPr lang="en-US" altLang="en-US" sz="2400" dirty="0">
                <a:latin typeface="Times New Roman" pitchFamily="18" charset="0"/>
                <a:cs typeface="Times New Roman" pitchFamily="18" charset="0"/>
              </a:rPr>
              <a:t>that we split our input text into tokens with distinct IDs, we can obtain their vector representation from </a:t>
            </a:r>
            <a:r>
              <a:rPr lang="en-US" altLang="en-US" sz="2400" dirty="0" err="1">
                <a:latin typeface="Times New Roman" pitchFamily="18" charset="0"/>
                <a:cs typeface="Times New Roman" pitchFamily="18" charset="0"/>
              </a:rPr>
              <a:t>embeddings</a:t>
            </a:r>
            <a:r>
              <a:rPr lang="en-US" altLang="en-US" sz="2400" dirty="0">
                <a:latin typeface="Times New Roman" pitchFamily="18" charset="0"/>
                <a:cs typeface="Times New Roman" pitchFamily="18" charset="0"/>
              </a:rPr>
              <a:t>. </a:t>
            </a:r>
          </a:p>
        </p:txBody>
      </p:sp>
      <p:pic>
        <p:nvPicPr>
          <p:cNvPr id="6" name="Picture 5"/>
          <p:cNvPicPr>
            <a:picLocks noChangeAspect="1"/>
          </p:cNvPicPr>
          <p:nvPr/>
        </p:nvPicPr>
        <p:blipFill>
          <a:blip r:embed="rId2"/>
          <a:stretch>
            <a:fillRect/>
          </a:stretch>
        </p:blipFill>
        <p:spPr>
          <a:xfrm>
            <a:off x="2764692" y="4961511"/>
            <a:ext cx="6267548" cy="1418969"/>
          </a:xfrm>
          <a:prstGeom prst="rect">
            <a:avLst/>
          </a:prstGeom>
        </p:spPr>
      </p:pic>
    </p:spTree>
    <p:extLst>
      <p:ext uri="{BB962C8B-B14F-4D97-AF65-F5344CB8AC3E}">
        <p14:creationId xmlns:p14="http://schemas.microsoft.com/office/powerpoint/2010/main" val="414685834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0524" y="430014"/>
            <a:ext cx="3233899" cy="461665"/>
          </a:xfrm>
          <a:prstGeom prst="rect">
            <a:avLst/>
          </a:prstGeom>
        </p:spPr>
        <p:txBody>
          <a:bodyPr wrap="none">
            <a:spAutoFit/>
          </a:bodyPr>
          <a:lstStyle/>
          <a:p>
            <a:r>
              <a:rPr lang="en-IN" sz="2400" b="1" u="sng" dirty="0">
                <a:solidFill>
                  <a:schemeClr val="accent6">
                    <a:lumMod val="75000"/>
                  </a:schemeClr>
                </a:solidFill>
                <a:effectLst>
                  <a:outerShdw blurRad="38100" dist="38100" dir="2700000" algn="tl">
                    <a:srgbClr val="000000">
                      <a:alpha val="43137"/>
                    </a:srgbClr>
                  </a:outerShdw>
                </a:effectLst>
                <a:latin typeface="+mj-lt"/>
                <a:ea typeface="+mj-ea"/>
                <a:cs typeface="+mj-cs"/>
              </a:rPr>
              <a:t>Step 2. Token Embedding</a:t>
            </a:r>
          </a:p>
        </p:txBody>
      </p:sp>
      <p:sp>
        <p:nvSpPr>
          <p:cNvPr id="6" name="Rectangle 5"/>
          <p:cNvSpPr/>
          <p:nvPr/>
        </p:nvSpPr>
        <p:spPr>
          <a:xfrm>
            <a:off x="600524" y="1100574"/>
            <a:ext cx="2134815" cy="369332"/>
          </a:xfrm>
          <a:prstGeom prst="rect">
            <a:avLst/>
          </a:prstGeom>
        </p:spPr>
        <p:txBody>
          <a:bodyPr wrap="none">
            <a:spAutoFit/>
          </a:bodyPr>
          <a:lstStyle/>
          <a:p>
            <a:r>
              <a:rPr lang="en-IN" dirty="0"/>
              <a:t>Token → ID Mapping</a:t>
            </a:r>
          </a:p>
        </p:txBody>
      </p:sp>
      <p:pic>
        <p:nvPicPr>
          <p:cNvPr id="7" name="Picture 6"/>
          <p:cNvPicPr>
            <a:picLocks noChangeAspect="1"/>
          </p:cNvPicPr>
          <p:nvPr/>
        </p:nvPicPr>
        <p:blipFill>
          <a:blip r:embed="rId2"/>
          <a:stretch>
            <a:fillRect/>
          </a:stretch>
        </p:blipFill>
        <p:spPr>
          <a:xfrm>
            <a:off x="600524" y="1678800"/>
            <a:ext cx="9986196" cy="3380879"/>
          </a:xfrm>
          <a:prstGeom prst="rect">
            <a:avLst/>
          </a:prstGeom>
        </p:spPr>
      </p:pic>
      <p:sp>
        <p:nvSpPr>
          <p:cNvPr id="8" name="Rectangle 7"/>
          <p:cNvSpPr/>
          <p:nvPr/>
        </p:nvSpPr>
        <p:spPr>
          <a:xfrm>
            <a:off x="884160" y="5268573"/>
            <a:ext cx="5900526" cy="369332"/>
          </a:xfrm>
          <a:prstGeom prst="rect">
            <a:avLst/>
          </a:prstGeom>
        </p:spPr>
        <p:txBody>
          <a:bodyPr wrap="none">
            <a:spAutoFit/>
          </a:bodyPr>
          <a:lstStyle/>
          <a:p>
            <a:r>
              <a:rPr lang="en-US" dirty="0"/>
              <a:t>These numbers have </a:t>
            </a:r>
            <a:r>
              <a:rPr lang="en-US" b="1" dirty="0"/>
              <a:t>no meaning yet</a:t>
            </a:r>
            <a:r>
              <a:rPr lang="en-US" dirty="0"/>
              <a:t> — they are just indices.</a:t>
            </a:r>
            <a:endParaRPr lang="en-IN" dirty="0"/>
          </a:p>
        </p:txBody>
      </p:sp>
      <p:sp>
        <p:nvSpPr>
          <p:cNvPr id="9" name="Rectangle 8"/>
          <p:cNvSpPr/>
          <p:nvPr/>
        </p:nvSpPr>
        <p:spPr>
          <a:xfrm>
            <a:off x="884160" y="5733534"/>
            <a:ext cx="2968248" cy="369332"/>
          </a:xfrm>
          <a:prstGeom prst="rect">
            <a:avLst/>
          </a:prstGeom>
        </p:spPr>
        <p:txBody>
          <a:bodyPr wrap="none">
            <a:spAutoFit/>
          </a:bodyPr>
          <a:lstStyle/>
          <a:p>
            <a:r>
              <a:rPr lang="en-US" dirty="0"/>
              <a:t>Each ID is mapped to a </a:t>
            </a:r>
            <a:r>
              <a:rPr lang="en-US" b="1" dirty="0"/>
              <a:t>vector</a:t>
            </a:r>
            <a:endParaRPr lang="en-IN" dirty="0"/>
          </a:p>
        </p:txBody>
      </p:sp>
      <p:pic>
        <p:nvPicPr>
          <p:cNvPr id="10" name="Picture 9"/>
          <p:cNvPicPr>
            <a:picLocks noChangeAspect="1"/>
          </p:cNvPicPr>
          <p:nvPr/>
        </p:nvPicPr>
        <p:blipFill>
          <a:blip r:embed="rId3"/>
          <a:stretch>
            <a:fillRect/>
          </a:stretch>
        </p:blipFill>
        <p:spPr>
          <a:xfrm>
            <a:off x="4712266" y="5729652"/>
            <a:ext cx="4047794" cy="813387"/>
          </a:xfrm>
          <a:prstGeom prst="rect">
            <a:avLst/>
          </a:prstGeom>
        </p:spPr>
      </p:pic>
      <p:cxnSp>
        <p:nvCxnSpPr>
          <p:cNvPr id="12" name="Straight Arrow Connector 11"/>
          <p:cNvCxnSpPr/>
          <p:nvPr/>
        </p:nvCxnSpPr>
        <p:spPr>
          <a:xfrm flipV="1">
            <a:off x="3627120" y="6207760"/>
            <a:ext cx="955040" cy="30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3" name="Picture 12"/>
          <p:cNvPicPr>
            <a:picLocks noChangeAspect="1"/>
          </p:cNvPicPr>
          <p:nvPr/>
        </p:nvPicPr>
        <p:blipFill>
          <a:blip r:embed="rId4"/>
          <a:stretch>
            <a:fillRect/>
          </a:stretch>
        </p:blipFill>
        <p:spPr>
          <a:xfrm>
            <a:off x="9111551" y="5761675"/>
            <a:ext cx="2482978" cy="749339"/>
          </a:xfrm>
          <a:prstGeom prst="rect">
            <a:avLst/>
          </a:prstGeom>
        </p:spPr>
      </p:pic>
    </p:spTree>
    <p:extLst>
      <p:ext uri="{BB962C8B-B14F-4D97-AF65-F5344CB8AC3E}">
        <p14:creationId xmlns:p14="http://schemas.microsoft.com/office/powerpoint/2010/main" val="162823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9663" y="369054"/>
            <a:ext cx="10526916" cy="880369"/>
          </a:xfrm>
          <a:prstGeom prst="rect">
            <a:avLst/>
          </a:prstGeom>
        </p:spPr>
        <p:txBody>
          <a:bodyPr wrap="square">
            <a:spAutoFit/>
          </a:bodyPr>
          <a:lstStyle/>
          <a:p>
            <a:pPr>
              <a:lnSpc>
                <a:spcPct val="150000"/>
              </a:lnSpc>
            </a:pPr>
            <a:r>
              <a:rPr lang="en-IN" b="1" u="sng" dirty="0">
                <a:effectLst>
                  <a:outerShdw blurRad="38100" dist="38100" dir="2700000" algn="tl">
                    <a:srgbClr val="000000">
                      <a:alpha val="43137"/>
                    </a:srgbClr>
                  </a:outerShdw>
                </a:effectLst>
              </a:rPr>
              <a:t>Embedding </a:t>
            </a:r>
            <a:r>
              <a:rPr lang="en-IN" b="1" u="sng" dirty="0" smtClean="0">
                <a:effectLst>
                  <a:outerShdw blurRad="38100" dist="38100" dir="2700000" algn="tl">
                    <a:srgbClr val="000000">
                      <a:alpha val="43137"/>
                    </a:srgbClr>
                  </a:outerShdw>
                </a:effectLst>
              </a:rPr>
              <a:t>Matrix -  </a:t>
            </a:r>
            <a:r>
              <a:rPr lang="en-US" dirty="0"/>
              <a:t>represents a word in a high-dimensional embedding space, where each value corresponds to a learned latent feature contributing to the semantic representation of the word.”</a:t>
            </a:r>
            <a:endParaRPr lang="en-IN" dirty="0"/>
          </a:p>
        </p:txBody>
      </p:sp>
      <p:pic>
        <p:nvPicPr>
          <p:cNvPr id="6" name="Picture 5"/>
          <p:cNvPicPr>
            <a:picLocks noChangeAspect="1"/>
          </p:cNvPicPr>
          <p:nvPr/>
        </p:nvPicPr>
        <p:blipFill>
          <a:blip r:embed="rId2"/>
          <a:stretch>
            <a:fillRect/>
          </a:stretch>
        </p:blipFill>
        <p:spPr>
          <a:xfrm>
            <a:off x="2330326" y="1469306"/>
            <a:ext cx="6773033" cy="4051244"/>
          </a:xfrm>
          <a:prstGeom prst="rect">
            <a:avLst/>
          </a:prstGeom>
        </p:spPr>
      </p:pic>
      <p:sp>
        <p:nvSpPr>
          <p:cNvPr id="7" name="Rectangle 6"/>
          <p:cNvSpPr/>
          <p:nvPr/>
        </p:nvSpPr>
        <p:spPr>
          <a:xfrm>
            <a:off x="2330326" y="5740434"/>
            <a:ext cx="2835841" cy="369332"/>
          </a:xfrm>
          <a:prstGeom prst="rect">
            <a:avLst/>
          </a:prstGeom>
        </p:spPr>
        <p:txBody>
          <a:bodyPr wrap="none">
            <a:spAutoFit/>
          </a:bodyPr>
          <a:lstStyle/>
          <a:p>
            <a:r>
              <a:rPr lang="en-US" dirty="0"/>
              <a:t>Each </a:t>
            </a:r>
            <a:r>
              <a:rPr lang="en-US" b="1" dirty="0"/>
              <a:t>row = one word vector</a:t>
            </a:r>
            <a:endParaRPr lang="en-IN" dirty="0"/>
          </a:p>
        </p:txBody>
      </p:sp>
    </p:spTree>
    <p:extLst>
      <p:ext uri="{BB962C8B-B14F-4D97-AF65-F5344CB8AC3E}">
        <p14:creationId xmlns:p14="http://schemas.microsoft.com/office/powerpoint/2010/main" val="36804337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59335" y="419854"/>
            <a:ext cx="3647986"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How is this matrix created</a:t>
            </a:r>
            <a:endParaRPr lang="en-I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Rectangle 4"/>
          <p:cNvSpPr/>
          <p:nvPr/>
        </p:nvSpPr>
        <p:spPr>
          <a:xfrm>
            <a:off x="659335" y="1070094"/>
            <a:ext cx="3023328" cy="369332"/>
          </a:xfrm>
          <a:prstGeom prst="rect">
            <a:avLst/>
          </a:prstGeom>
        </p:spPr>
        <p:txBody>
          <a:bodyPr wrap="none">
            <a:spAutoFit/>
          </a:bodyPr>
          <a:lstStyle/>
          <a:p>
            <a:r>
              <a:rPr lang="en-IN" dirty="0" smtClean="0"/>
              <a:t>Initially: All </a:t>
            </a:r>
            <a:r>
              <a:rPr lang="en-IN" dirty="0"/>
              <a:t>values are </a:t>
            </a:r>
            <a:r>
              <a:rPr lang="en-IN" b="1" dirty="0"/>
              <a:t>random</a:t>
            </a:r>
            <a:endParaRPr lang="en-IN" dirty="0"/>
          </a:p>
        </p:txBody>
      </p:sp>
      <p:pic>
        <p:nvPicPr>
          <p:cNvPr id="6" name="Picture 5"/>
          <p:cNvPicPr>
            <a:picLocks noChangeAspect="1"/>
          </p:cNvPicPr>
          <p:nvPr/>
        </p:nvPicPr>
        <p:blipFill>
          <a:blip r:embed="rId2"/>
          <a:stretch>
            <a:fillRect/>
          </a:stretch>
        </p:blipFill>
        <p:spPr>
          <a:xfrm>
            <a:off x="3019368" y="1628001"/>
            <a:ext cx="4204392" cy="1268753"/>
          </a:xfrm>
          <a:prstGeom prst="rect">
            <a:avLst/>
          </a:prstGeom>
        </p:spPr>
      </p:pic>
      <p:sp>
        <p:nvSpPr>
          <p:cNvPr id="7" name="Rectangle 6"/>
          <p:cNvSpPr/>
          <p:nvPr/>
        </p:nvSpPr>
        <p:spPr>
          <a:xfrm>
            <a:off x="853458" y="3122414"/>
            <a:ext cx="1698285" cy="523220"/>
          </a:xfrm>
          <a:prstGeom prst="rect">
            <a:avLst/>
          </a:prstGeom>
        </p:spPr>
        <p:txBody>
          <a:bodyPr wrap="none">
            <a:spAutoFit/>
          </a:bodyPr>
          <a:lstStyle/>
          <a:p>
            <a:pPr marL="285750" indent="-285750">
              <a:buFont typeface="Arial" panose="020B0604020202020204" pitchFamily="34" charset="0"/>
              <a:buChar char="•"/>
            </a:pPr>
            <a:r>
              <a:rPr lang="en-IN" sz="2800" b="1" i="1" u="sng" dirty="0" smtClean="0">
                <a:effectLst>
                  <a:outerShdw blurRad="38100" dist="38100" dir="2700000" algn="tl">
                    <a:srgbClr val="000000">
                      <a:alpha val="43137"/>
                    </a:srgbClr>
                  </a:outerShdw>
                </a:effectLst>
              </a:rPr>
              <a:t>Training</a:t>
            </a:r>
            <a:endParaRPr lang="en-IN" sz="2800" b="1" i="1" u="sng" dirty="0">
              <a:effectLst>
                <a:outerShdw blurRad="38100" dist="38100" dir="2700000" algn="tl">
                  <a:srgbClr val="000000">
                    <a:alpha val="43137"/>
                  </a:srgbClr>
                </a:outerShdw>
              </a:effectLst>
            </a:endParaRPr>
          </a:p>
        </p:txBody>
      </p:sp>
      <p:pic>
        <p:nvPicPr>
          <p:cNvPr id="8" name="Picture 7"/>
          <p:cNvPicPr>
            <a:picLocks noChangeAspect="1"/>
          </p:cNvPicPr>
          <p:nvPr/>
        </p:nvPicPr>
        <p:blipFill>
          <a:blip r:embed="rId3"/>
          <a:stretch>
            <a:fillRect/>
          </a:stretch>
        </p:blipFill>
        <p:spPr>
          <a:xfrm>
            <a:off x="853458" y="3958562"/>
            <a:ext cx="7813022" cy="1974877"/>
          </a:xfrm>
          <a:prstGeom prst="rect">
            <a:avLst/>
          </a:prstGeom>
        </p:spPr>
      </p:pic>
    </p:spTree>
    <p:extLst>
      <p:ext uri="{BB962C8B-B14F-4D97-AF65-F5344CB8AC3E}">
        <p14:creationId xmlns:p14="http://schemas.microsoft.com/office/powerpoint/2010/main" val="330745052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4475" y="470654"/>
            <a:ext cx="2168863" cy="523220"/>
          </a:xfrm>
          <a:prstGeom prst="rect">
            <a:avLst/>
          </a:prstGeom>
        </p:spPr>
        <p:txBody>
          <a:bodyPr wrap="none">
            <a:spAutoFit/>
          </a:bodyPr>
          <a:lstStyle/>
          <a:p>
            <a:r>
              <a:rPr lang="en-IN" sz="2800" b="1" i="1" u="sng" dirty="0">
                <a:effectLst>
                  <a:outerShdw blurRad="38100" dist="38100" dir="2700000" algn="tl">
                    <a:srgbClr val="000000">
                      <a:alpha val="43137"/>
                    </a:srgbClr>
                  </a:outerShdw>
                </a:effectLst>
              </a:rPr>
              <a:t>Loss Function</a:t>
            </a:r>
          </a:p>
        </p:txBody>
      </p:sp>
      <p:pic>
        <p:nvPicPr>
          <p:cNvPr id="5" name="Picture 4"/>
          <p:cNvPicPr>
            <a:picLocks noChangeAspect="1"/>
          </p:cNvPicPr>
          <p:nvPr/>
        </p:nvPicPr>
        <p:blipFill>
          <a:blip r:embed="rId2"/>
          <a:stretch>
            <a:fillRect/>
          </a:stretch>
        </p:blipFill>
        <p:spPr>
          <a:xfrm>
            <a:off x="2029160" y="1510010"/>
            <a:ext cx="7171182" cy="1121430"/>
          </a:xfrm>
          <a:prstGeom prst="rect">
            <a:avLst/>
          </a:prstGeom>
        </p:spPr>
      </p:pic>
      <p:pic>
        <p:nvPicPr>
          <p:cNvPr id="6" name="Picture 5"/>
          <p:cNvPicPr>
            <a:picLocks noChangeAspect="1"/>
          </p:cNvPicPr>
          <p:nvPr/>
        </p:nvPicPr>
        <p:blipFill>
          <a:blip r:embed="rId3"/>
          <a:stretch>
            <a:fillRect/>
          </a:stretch>
        </p:blipFill>
        <p:spPr>
          <a:xfrm>
            <a:off x="2029160" y="3583262"/>
            <a:ext cx="7618222" cy="2583858"/>
          </a:xfrm>
          <a:prstGeom prst="rect">
            <a:avLst/>
          </a:prstGeom>
        </p:spPr>
      </p:pic>
    </p:spTree>
    <p:extLst>
      <p:ext uri="{BB962C8B-B14F-4D97-AF65-F5344CB8AC3E}">
        <p14:creationId xmlns:p14="http://schemas.microsoft.com/office/powerpoint/2010/main" val="391984247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u="sng" dirty="0" smtClean="0">
                <a:latin typeface="Times New Roman" pitchFamily="18" charset="0"/>
                <a:ea typeface="+mn-ea"/>
                <a:cs typeface="Times New Roman" pitchFamily="18" charset="0"/>
              </a:rPr>
              <a:t>2. Transformer </a:t>
            </a:r>
            <a:r>
              <a:rPr lang="en-IN" sz="2400" b="1" u="sng" dirty="0">
                <a:latin typeface="Times New Roman" pitchFamily="18" charset="0"/>
                <a:ea typeface="+mn-ea"/>
                <a:cs typeface="Times New Roman" pitchFamily="18" charset="0"/>
              </a:rPr>
              <a:t>Block</a:t>
            </a:r>
            <a:br>
              <a:rPr lang="en-IN" sz="2400" b="1" u="sng" dirty="0">
                <a:latin typeface="Times New Roman" pitchFamily="18" charset="0"/>
                <a:ea typeface="+mn-ea"/>
                <a:cs typeface="Times New Roman" pitchFamily="18" charset="0"/>
              </a:rPr>
            </a:br>
            <a:endParaRPr lang="en-IN" sz="2400" b="1" u="sng" dirty="0">
              <a:latin typeface="Times New Roman" pitchFamily="18" charset="0"/>
              <a:ea typeface="+mn-ea"/>
              <a:cs typeface="Times New Roman" pitchFamily="18" charset="0"/>
            </a:endParaRPr>
          </a:p>
        </p:txBody>
      </p:sp>
      <p:sp>
        <p:nvSpPr>
          <p:cNvPr id="4" name="Rectangle 3"/>
          <p:cNvSpPr/>
          <p:nvPr/>
        </p:nvSpPr>
        <p:spPr>
          <a:xfrm>
            <a:off x="1076960" y="1473815"/>
            <a:ext cx="10454640" cy="830997"/>
          </a:xfrm>
          <a:prstGeom prst="rect">
            <a:avLst/>
          </a:prstGeom>
        </p:spPr>
        <p:txBody>
          <a:bodyPr wrap="square">
            <a:spAutoFit/>
          </a:bodyPr>
          <a:lstStyle/>
          <a:p>
            <a:pPr marL="342900" indent="-342900" algn="just">
              <a:buFont typeface="Arial" panose="020B0604020202020204" pitchFamily="34" charset="0"/>
              <a:buChar char="•"/>
            </a:pPr>
            <a:r>
              <a:rPr lang="en-US" sz="2400" dirty="0">
                <a:latin typeface="Times New Roman" pitchFamily="18" charset="0"/>
                <a:cs typeface="Times New Roman" pitchFamily="18" charset="0"/>
              </a:rPr>
              <a:t>The core of the Transformer's processing lies in the Transformer block, which comprises multi-head self-attention and a Multi-Layer Perceptron layer.</a:t>
            </a:r>
            <a:endParaRPr lang="en-IN" sz="2400" dirty="0">
              <a:latin typeface="Times New Roman" pitchFamily="18" charset="0"/>
              <a:cs typeface="Times New Roman" pitchFamily="18" charset="0"/>
            </a:endParaRPr>
          </a:p>
        </p:txBody>
      </p:sp>
      <p:sp>
        <p:nvSpPr>
          <p:cNvPr id="5" name="Rectangle 4"/>
          <p:cNvSpPr/>
          <p:nvPr/>
        </p:nvSpPr>
        <p:spPr>
          <a:xfrm>
            <a:off x="1378624" y="2726174"/>
            <a:ext cx="3934090" cy="461665"/>
          </a:xfrm>
          <a:prstGeom prst="rect">
            <a:avLst/>
          </a:prstGeom>
        </p:spPr>
        <p:txBody>
          <a:bodyPr wrap="none">
            <a:spAutoFit/>
          </a:bodyPr>
          <a:lstStyle/>
          <a:p>
            <a:pPr marL="285750" indent="-285750">
              <a:buFont typeface="Wingdings" panose="05000000000000000000" pitchFamily="2" charset="2"/>
              <a:buChar char="q"/>
            </a:pPr>
            <a:r>
              <a:rPr lang="en-IN" sz="2400" b="1" u="sng" dirty="0">
                <a:solidFill>
                  <a:srgbClr val="37415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Multi-Head Self-Attention</a:t>
            </a:r>
            <a:endParaRPr lang="en-IN" sz="2400" b="1" i="0" u="sng" dirty="0">
              <a:solidFill>
                <a:srgbClr val="37415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p:cNvSpPr/>
          <p:nvPr/>
        </p:nvSpPr>
        <p:spPr>
          <a:xfrm>
            <a:off x="1688927" y="3424535"/>
            <a:ext cx="2169505" cy="369332"/>
          </a:xfrm>
          <a:prstGeom prst="rect">
            <a:avLst/>
          </a:prstGeom>
        </p:spPr>
        <p:txBody>
          <a:bodyPr wrap="none">
            <a:spAutoFit/>
          </a:bodyPr>
          <a:lstStyle/>
          <a:p>
            <a:r>
              <a:rPr lang="en-IN" dirty="0"/>
              <a:t>Input Representation</a:t>
            </a:r>
          </a:p>
        </p:txBody>
      </p:sp>
      <p:pic>
        <p:nvPicPr>
          <p:cNvPr id="7" name="Picture 6"/>
          <p:cNvPicPr>
            <a:picLocks noChangeAspect="1"/>
          </p:cNvPicPr>
          <p:nvPr/>
        </p:nvPicPr>
        <p:blipFill>
          <a:blip r:embed="rId2"/>
          <a:stretch>
            <a:fillRect/>
          </a:stretch>
        </p:blipFill>
        <p:spPr>
          <a:xfrm>
            <a:off x="3086640" y="4190331"/>
            <a:ext cx="5915120" cy="2079931"/>
          </a:xfrm>
          <a:prstGeom prst="rect">
            <a:avLst/>
          </a:prstGeom>
        </p:spPr>
      </p:pic>
    </p:spTree>
    <p:extLst>
      <p:ext uri="{BB962C8B-B14F-4D97-AF65-F5344CB8AC3E}">
        <p14:creationId xmlns:p14="http://schemas.microsoft.com/office/powerpoint/2010/main" val="41478491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7983" y="226814"/>
            <a:ext cx="5610767" cy="523220"/>
          </a:xfrm>
          <a:prstGeom prst="rect">
            <a:avLst/>
          </a:prstGeom>
        </p:spPr>
        <p:txBody>
          <a:bodyPr wrap="none">
            <a:spAutoFit/>
          </a:bodyPr>
          <a:lstStyle/>
          <a:p>
            <a:r>
              <a:rPr lang="en-US" sz="2800" u="sng" dirty="0">
                <a:latin typeface="Times New Roman" panose="02020603050405020304" pitchFamily="18" charset="0"/>
                <a:cs typeface="Times New Roman" panose="02020603050405020304" pitchFamily="18" charset="0"/>
              </a:rPr>
              <a:t>Linear Projections (Creating Q, K, V)</a:t>
            </a:r>
            <a:endParaRPr lang="en-IN" sz="2800" u="sng"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24018" y="994302"/>
            <a:ext cx="11019342" cy="5587165"/>
          </a:xfrm>
          <a:prstGeom prst="rect">
            <a:avLst/>
          </a:prstGeom>
        </p:spPr>
      </p:pic>
    </p:spTree>
    <p:extLst>
      <p:ext uri="{BB962C8B-B14F-4D97-AF65-F5344CB8AC3E}">
        <p14:creationId xmlns:p14="http://schemas.microsoft.com/office/powerpoint/2010/main" val="94757424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17113" y="657189"/>
            <a:ext cx="10236967" cy="1943771"/>
          </a:xfrm>
          <a:prstGeom prst="rect">
            <a:avLst/>
          </a:prstGeom>
        </p:spPr>
      </p:pic>
      <p:pic>
        <p:nvPicPr>
          <p:cNvPr id="5" name="Picture 4"/>
          <p:cNvPicPr>
            <a:picLocks noChangeAspect="1"/>
          </p:cNvPicPr>
          <p:nvPr/>
        </p:nvPicPr>
        <p:blipFill>
          <a:blip r:embed="rId3"/>
          <a:stretch>
            <a:fillRect/>
          </a:stretch>
        </p:blipFill>
        <p:spPr>
          <a:xfrm>
            <a:off x="3142512" y="2771754"/>
            <a:ext cx="5586167" cy="1129686"/>
          </a:xfrm>
          <a:prstGeom prst="rect">
            <a:avLst/>
          </a:prstGeom>
        </p:spPr>
      </p:pic>
      <p:sp>
        <p:nvSpPr>
          <p:cNvPr id="6" name="Rectangle 5"/>
          <p:cNvSpPr/>
          <p:nvPr/>
        </p:nvSpPr>
        <p:spPr>
          <a:xfrm>
            <a:off x="1259840" y="3901440"/>
            <a:ext cx="10535920" cy="707886"/>
          </a:xfrm>
          <a:prstGeom prst="rect">
            <a:avLst/>
          </a:prstGeom>
        </p:spPr>
        <p:txBody>
          <a:bodyPr wrap="square">
            <a:spAutoFit/>
          </a:bodyPr>
          <a:lstStyle/>
          <a:p>
            <a:r>
              <a:rPr lang="en-US" sz="2000" i="1" dirty="0"/>
              <a:t>“A head is an individual attention unit in a Transformer that captures a specific type of relationship between tokens.”</a:t>
            </a:r>
            <a:endParaRPr lang="en-IN" sz="2000" dirty="0"/>
          </a:p>
        </p:txBody>
      </p:sp>
      <p:pic>
        <p:nvPicPr>
          <p:cNvPr id="7" name="Picture 6"/>
          <p:cNvPicPr>
            <a:picLocks noChangeAspect="1"/>
          </p:cNvPicPr>
          <p:nvPr/>
        </p:nvPicPr>
        <p:blipFill>
          <a:blip r:embed="rId4"/>
          <a:stretch>
            <a:fillRect/>
          </a:stretch>
        </p:blipFill>
        <p:spPr>
          <a:xfrm>
            <a:off x="1259840" y="4955512"/>
            <a:ext cx="2863997" cy="1092256"/>
          </a:xfrm>
          <a:prstGeom prst="rect">
            <a:avLst/>
          </a:prstGeom>
        </p:spPr>
      </p:pic>
      <p:sp>
        <p:nvSpPr>
          <p:cNvPr id="8" name="Rectangle 7"/>
          <p:cNvSpPr/>
          <p:nvPr/>
        </p:nvSpPr>
        <p:spPr>
          <a:xfrm>
            <a:off x="5569253" y="5132308"/>
            <a:ext cx="4914294" cy="369332"/>
          </a:xfrm>
          <a:prstGeom prst="rect">
            <a:avLst/>
          </a:prstGeom>
        </p:spPr>
        <p:txBody>
          <a:bodyPr wrap="none">
            <a:spAutoFit/>
          </a:bodyPr>
          <a:lstStyle/>
          <a:p>
            <a:r>
              <a:rPr lang="en-US" dirty="0"/>
              <a:t>Each head looks at the sentence in a </a:t>
            </a:r>
            <a:r>
              <a:rPr lang="en-US" b="1" dirty="0"/>
              <a:t>different way</a:t>
            </a:r>
            <a:endParaRPr lang="en-IN" dirty="0"/>
          </a:p>
        </p:txBody>
      </p:sp>
      <p:pic>
        <p:nvPicPr>
          <p:cNvPr id="9" name="Picture 8"/>
          <p:cNvPicPr>
            <a:picLocks noChangeAspect="1"/>
          </p:cNvPicPr>
          <p:nvPr/>
        </p:nvPicPr>
        <p:blipFill>
          <a:blip r:embed="rId5"/>
          <a:stretch>
            <a:fillRect/>
          </a:stretch>
        </p:blipFill>
        <p:spPr>
          <a:xfrm>
            <a:off x="4883368" y="6047767"/>
            <a:ext cx="2543591" cy="665705"/>
          </a:xfrm>
          <a:prstGeom prst="rect">
            <a:avLst/>
          </a:prstGeom>
        </p:spPr>
      </p:pic>
    </p:spTree>
    <p:extLst>
      <p:ext uri="{BB962C8B-B14F-4D97-AF65-F5344CB8AC3E}">
        <p14:creationId xmlns:p14="http://schemas.microsoft.com/office/powerpoint/2010/main" val="41185304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7329" y="409694"/>
            <a:ext cx="3658053" cy="461665"/>
          </a:xfrm>
          <a:prstGeom prst="rect">
            <a:avLst/>
          </a:prstGeom>
        </p:spPr>
        <p:txBody>
          <a:bodyPr wrap="none">
            <a:spAutoFit/>
          </a:bodyPr>
          <a:lstStyle/>
          <a:p>
            <a:r>
              <a:rPr lang="en-IN" sz="2400" b="1" u="sng" dirty="0">
                <a:effectLst>
                  <a:outerShdw blurRad="38100" dist="38100" dir="2700000" algn="tl">
                    <a:srgbClr val="000000">
                      <a:alpha val="43137"/>
                    </a:srgbClr>
                  </a:outerShdw>
                </a:effectLst>
              </a:rPr>
              <a:t>Attention Score Calculation</a:t>
            </a:r>
          </a:p>
        </p:txBody>
      </p:sp>
      <p:pic>
        <p:nvPicPr>
          <p:cNvPr id="5" name="Picture 4"/>
          <p:cNvPicPr>
            <a:picLocks noChangeAspect="1"/>
          </p:cNvPicPr>
          <p:nvPr/>
        </p:nvPicPr>
        <p:blipFill>
          <a:blip r:embed="rId2"/>
          <a:stretch>
            <a:fillRect/>
          </a:stretch>
        </p:blipFill>
        <p:spPr>
          <a:xfrm>
            <a:off x="1777263" y="1137266"/>
            <a:ext cx="8092397" cy="1524654"/>
          </a:xfrm>
          <a:prstGeom prst="rect">
            <a:avLst/>
          </a:prstGeom>
        </p:spPr>
      </p:pic>
      <p:sp>
        <p:nvSpPr>
          <p:cNvPr id="6" name="Rectangle 5"/>
          <p:cNvSpPr/>
          <p:nvPr/>
        </p:nvSpPr>
        <p:spPr>
          <a:xfrm>
            <a:off x="1026160" y="2927827"/>
            <a:ext cx="9712960" cy="646331"/>
          </a:xfrm>
          <a:prstGeom prst="rect">
            <a:avLst/>
          </a:prstGeom>
        </p:spPr>
        <p:txBody>
          <a:bodyPr wrap="square">
            <a:spAutoFit/>
          </a:bodyPr>
          <a:lstStyle/>
          <a:p>
            <a:r>
              <a:rPr lang="en-US" dirty="0"/>
              <a:t>Each element:</a:t>
            </a:r>
          </a:p>
          <a:p>
            <a:r>
              <a:rPr lang="en-US" dirty="0"/>
              <a:t>How much one token attends to another</a:t>
            </a:r>
          </a:p>
        </p:txBody>
      </p:sp>
      <p:sp>
        <p:nvSpPr>
          <p:cNvPr id="7" name="Rectangle 6"/>
          <p:cNvSpPr/>
          <p:nvPr/>
        </p:nvSpPr>
        <p:spPr>
          <a:xfrm>
            <a:off x="943701" y="3914894"/>
            <a:ext cx="1070934" cy="461665"/>
          </a:xfrm>
          <a:prstGeom prst="rect">
            <a:avLst/>
          </a:prstGeom>
        </p:spPr>
        <p:txBody>
          <a:bodyPr wrap="none">
            <a:spAutoFit/>
          </a:bodyPr>
          <a:lstStyle/>
          <a:p>
            <a:r>
              <a:rPr lang="en-IN" sz="2400" b="1" u="sng" dirty="0">
                <a:effectLst>
                  <a:outerShdw blurRad="38100" dist="38100" dir="2700000" algn="tl">
                    <a:srgbClr val="000000">
                      <a:alpha val="43137"/>
                    </a:srgbClr>
                  </a:outerShdw>
                </a:effectLst>
              </a:rPr>
              <a:t>Scaling</a:t>
            </a:r>
          </a:p>
        </p:txBody>
      </p:sp>
      <p:pic>
        <p:nvPicPr>
          <p:cNvPr id="8" name="Picture 7"/>
          <p:cNvPicPr>
            <a:picLocks noChangeAspect="1"/>
          </p:cNvPicPr>
          <p:nvPr/>
        </p:nvPicPr>
        <p:blipFill>
          <a:blip r:embed="rId3"/>
          <a:stretch>
            <a:fillRect/>
          </a:stretch>
        </p:blipFill>
        <p:spPr>
          <a:xfrm>
            <a:off x="2014635" y="4690778"/>
            <a:ext cx="6809832" cy="1364582"/>
          </a:xfrm>
          <a:prstGeom prst="rect">
            <a:avLst/>
          </a:prstGeom>
        </p:spPr>
      </p:pic>
      <p:sp>
        <p:nvSpPr>
          <p:cNvPr id="9" name="Rectangle 8"/>
          <p:cNvSpPr/>
          <p:nvPr/>
        </p:nvSpPr>
        <p:spPr>
          <a:xfrm>
            <a:off x="2269135" y="4007227"/>
            <a:ext cx="2614370" cy="369332"/>
          </a:xfrm>
          <a:prstGeom prst="rect">
            <a:avLst/>
          </a:prstGeom>
        </p:spPr>
        <p:txBody>
          <a:bodyPr wrap="none">
            <a:spAutoFit/>
          </a:bodyPr>
          <a:lstStyle/>
          <a:p>
            <a:r>
              <a:rPr lang="en-IN" dirty="0"/>
              <a:t>Prevents very large values</a:t>
            </a:r>
          </a:p>
        </p:txBody>
      </p:sp>
    </p:spTree>
    <p:extLst>
      <p:ext uri="{BB962C8B-B14F-4D97-AF65-F5344CB8AC3E}">
        <p14:creationId xmlns:p14="http://schemas.microsoft.com/office/powerpoint/2010/main" val="31086107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51000" y="389374"/>
            <a:ext cx="3823867" cy="461665"/>
          </a:xfrm>
          <a:prstGeom prst="rect">
            <a:avLst/>
          </a:prstGeom>
        </p:spPr>
        <p:txBody>
          <a:bodyPr wrap="none">
            <a:spAutoFit/>
          </a:bodyPr>
          <a:lstStyle/>
          <a:p>
            <a:r>
              <a:rPr lang="en-IN" sz="2400" b="1" u="sng" dirty="0" err="1">
                <a:effectLst>
                  <a:outerShdw blurRad="38100" dist="38100" dir="2700000" algn="tl">
                    <a:srgbClr val="000000">
                      <a:alpha val="43137"/>
                    </a:srgbClr>
                  </a:outerShdw>
                </a:effectLst>
              </a:rPr>
              <a:t>Softmax</a:t>
            </a:r>
            <a:r>
              <a:rPr lang="en-IN" sz="2400" b="1" u="sng" dirty="0">
                <a:effectLst>
                  <a:outerShdw blurRad="38100" dist="38100" dir="2700000" algn="tl">
                    <a:srgbClr val="000000">
                      <a:alpha val="43137"/>
                    </a:srgbClr>
                  </a:outerShdw>
                </a:effectLst>
              </a:rPr>
              <a:t> (Attention Weights)</a:t>
            </a:r>
          </a:p>
        </p:txBody>
      </p:sp>
      <p:sp>
        <p:nvSpPr>
          <p:cNvPr id="5" name="Rectangle 4"/>
          <p:cNvSpPr/>
          <p:nvPr/>
        </p:nvSpPr>
        <p:spPr>
          <a:xfrm>
            <a:off x="665627" y="3650734"/>
            <a:ext cx="5187126" cy="461665"/>
          </a:xfrm>
          <a:prstGeom prst="rect">
            <a:avLst/>
          </a:prstGeom>
        </p:spPr>
        <p:txBody>
          <a:bodyPr wrap="none">
            <a:spAutoFit/>
          </a:bodyPr>
          <a:lstStyle/>
          <a:p>
            <a:r>
              <a:rPr lang="en-US" sz="2400" b="1" u="sng" dirty="0">
                <a:effectLst>
                  <a:outerShdw blurRad="38100" dist="38100" dir="2700000" algn="tl">
                    <a:srgbClr val="000000">
                      <a:alpha val="43137"/>
                    </a:srgbClr>
                  </a:outerShdw>
                </a:effectLst>
              </a:rPr>
              <a:t>Weighted Sum (Final Attention Output)</a:t>
            </a:r>
            <a:endParaRPr lang="en-IN" sz="2400" b="1" u="sng" dirty="0">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2"/>
          <a:stretch>
            <a:fillRect/>
          </a:stretch>
        </p:blipFill>
        <p:spPr>
          <a:xfrm>
            <a:off x="4251272" y="1536049"/>
            <a:ext cx="3145208" cy="938724"/>
          </a:xfrm>
          <a:prstGeom prst="rect">
            <a:avLst/>
          </a:prstGeom>
        </p:spPr>
      </p:pic>
      <p:pic>
        <p:nvPicPr>
          <p:cNvPr id="7" name="Picture 6"/>
          <p:cNvPicPr>
            <a:picLocks noChangeAspect="1"/>
          </p:cNvPicPr>
          <p:nvPr/>
        </p:nvPicPr>
        <p:blipFill>
          <a:blip r:embed="rId3"/>
          <a:stretch>
            <a:fillRect/>
          </a:stretch>
        </p:blipFill>
        <p:spPr>
          <a:xfrm>
            <a:off x="4519184" y="4936033"/>
            <a:ext cx="2674096" cy="814963"/>
          </a:xfrm>
          <a:prstGeom prst="rect">
            <a:avLst/>
          </a:prstGeom>
        </p:spPr>
      </p:pic>
    </p:spTree>
    <p:extLst>
      <p:ext uri="{BB962C8B-B14F-4D97-AF65-F5344CB8AC3E}">
        <p14:creationId xmlns:p14="http://schemas.microsoft.com/office/powerpoint/2010/main" val="316109306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5930" y="440174"/>
            <a:ext cx="3637406" cy="461665"/>
          </a:xfrm>
          <a:prstGeom prst="rect">
            <a:avLst/>
          </a:prstGeom>
        </p:spPr>
        <p:txBody>
          <a:bodyPr wrap="none">
            <a:spAutoFit/>
          </a:bodyPr>
          <a:lstStyle/>
          <a:p>
            <a:r>
              <a:rPr lang="en-IN" sz="2400" b="1" u="sng" dirty="0">
                <a:effectLst>
                  <a:outerShdw blurRad="38100" dist="38100" dir="2700000" algn="tl">
                    <a:srgbClr val="000000">
                      <a:alpha val="43137"/>
                    </a:srgbClr>
                  </a:outerShdw>
                </a:effectLst>
              </a:rPr>
              <a:t>Concatenation of All Heads</a:t>
            </a:r>
          </a:p>
        </p:txBody>
      </p:sp>
      <p:pic>
        <p:nvPicPr>
          <p:cNvPr id="5" name="Picture 4"/>
          <p:cNvPicPr>
            <a:picLocks noChangeAspect="1"/>
          </p:cNvPicPr>
          <p:nvPr/>
        </p:nvPicPr>
        <p:blipFill>
          <a:blip r:embed="rId2"/>
          <a:stretch>
            <a:fillRect/>
          </a:stretch>
        </p:blipFill>
        <p:spPr>
          <a:xfrm>
            <a:off x="3574343" y="1137908"/>
            <a:ext cx="5389535" cy="883932"/>
          </a:xfrm>
          <a:prstGeom prst="rect">
            <a:avLst/>
          </a:prstGeom>
        </p:spPr>
      </p:pic>
      <p:sp>
        <p:nvSpPr>
          <p:cNvPr id="6" name="Rectangle 5"/>
          <p:cNvSpPr/>
          <p:nvPr/>
        </p:nvSpPr>
        <p:spPr>
          <a:xfrm>
            <a:off x="701040" y="2706916"/>
            <a:ext cx="10739120" cy="1200329"/>
          </a:xfrm>
          <a:prstGeom prst="rect">
            <a:avLst/>
          </a:prstGeom>
        </p:spPr>
        <p:txBody>
          <a:bodyPr wrap="square">
            <a:spAutoFit/>
          </a:bodyPr>
          <a:lstStyle/>
          <a:p>
            <a:pPr algn="just"/>
            <a:r>
              <a:rPr lang="en-US" sz="2400" i="1" dirty="0">
                <a:solidFill>
                  <a:srgbClr val="FF0000"/>
                </a:solidFill>
              </a:rPr>
              <a:t>Multi-head self-attention computes attention in parallel across multiple heads, where each head learns distinct relationships between tokens using query, key, and value projections, and the results are concatenated and linearly transformed.”</a:t>
            </a:r>
            <a:endParaRPr lang="en-US" sz="2400" dirty="0">
              <a:solidFill>
                <a:srgbClr val="FF0000"/>
              </a:solidFill>
            </a:endParaRPr>
          </a:p>
        </p:txBody>
      </p:sp>
    </p:spTree>
    <p:extLst>
      <p:ext uri="{BB962C8B-B14F-4D97-AF65-F5344CB8AC3E}">
        <p14:creationId xmlns:p14="http://schemas.microsoft.com/office/powerpoint/2010/main" val="10781974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2203</Words>
  <Application>Microsoft Office PowerPoint</Application>
  <PresentationFormat>Custom</PresentationFormat>
  <Paragraphs>265</Paragraphs>
  <Slides>64</Slides>
  <Notes>0</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Office Theme</vt:lpstr>
      <vt:lpstr>Chapter 4</vt:lpstr>
      <vt:lpstr>PowerPoint Presentation</vt:lpstr>
      <vt:lpstr>What are some ethical considerations of using Generative AI?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Text Representation</vt:lpstr>
      <vt:lpstr>Tokenization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Stemming</vt:lpstr>
      <vt:lpstr>PowerPoint Presentation</vt:lpstr>
      <vt:lpstr>PowerPoint Presentation</vt:lpstr>
      <vt:lpstr>PowerPoint Presentation</vt:lpstr>
      <vt:lpstr>PowerPoint Presentation</vt:lpstr>
      <vt:lpstr>Stop words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 gram Numerical</vt:lpstr>
      <vt:lpstr>PowerPoint Presentation</vt:lpstr>
      <vt:lpstr>What is a large language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1: Tokenization </vt:lpstr>
      <vt:lpstr>PowerPoint Presentation</vt:lpstr>
      <vt:lpstr>PowerPoint Presentation</vt:lpstr>
      <vt:lpstr>PowerPoint Presentation</vt:lpstr>
      <vt:lpstr>PowerPoint Presentation</vt:lpstr>
      <vt:lpstr>2. Transformer Block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Tejashree Phatak</dc:creator>
  <cp:lastModifiedBy>Admin</cp:lastModifiedBy>
  <cp:revision>9</cp:revision>
  <dcterms:created xsi:type="dcterms:W3CDTF">2025-11-29T06:52:07Z</dcterms:created>
  <dcterms:modified xsi:type="dcterms:W3CDTF">2026-04-17T06:53:38Z</dcterms:modified>
</cp:coreProperties>
</file>